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80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349" r:id="rId13"/>
    <p:sldId id="282" r:id="rId14"/>
    <p:sldId id="269" r:id="rId15"/>
    <p:sldId id="270" r:id="rId16"/>
    <p:sldId id="350" r:id="rId17"/>
    <p:sldId id="348" r:id="rId18"/>
    <p:sldId id="271" r:id="rId19"/>
    <p:sldId id="272" r:id="rId20"/>
    <p:sldId id="273" r:id="rId21"/>
    <p:sldId id="274" r:id="rId22"/>
    <p:sldId id="275" r:id="rId2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0-22T00:02:40.515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10729 9512 0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70174-E451-487C-B693-260E1D314929}" type="datetimeFigureOut">
              <a:rPr lang="es-PE" smtClean="0"/>
              <a:t>30/10/2025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42BA2-DD00-4A33-A804-B337331A898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2291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1124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8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Datos</a:t>
            </a:r>
            <a:r>
              <a:rPr spc="-35" dirty="0"/>
              <a:t> </a:t>
            </a:r>
            <a:r>
              <a:rPr dirty="0"/>
              <a:t>elaborados</a:t>
            </a:r>
            <a:r>
              <a:rPr spc="-10" dirty="0"/>
              <a:t> </a:t>
            </a:r>
            <a:r>
              <a:rPr dirty="0"/>
              <a:t>por</a:t>
            </a:r>
            <a:r>
              <a:rPr spc="-30" dirty="0"/>
              <a:t> </a:t>
            </a:r>
            <a:r>
              <a:rPr dirty="0"/>
              <a:t>BCP</a:t>
            </a:r>
            <a:r>
              <a:rPr spc="-40" dirty="0"/>
              <a:t> </a:t>
            </a:r>
            <a:r>
              <a:rPr dirty="0"/>
              <a:t>únicamente</a:t>
            </a:r>
            <a:r>
              <a:rPr spc="-25" dirty="0"/>
              <a:t> </a:t>
            </a:r>
            <a:r>
              <a:rPr dirty="0"/>
              <a:t>para</a:t>
            </a:r>
            <a:r>
              <a:rPr spc="-30" dirty="0"/>
              <a:t> </a:t>
            </a:r>
            <a:r>
              <a:rPr dirty="0"/>
              <a:t>fines</a:t>
            </a:r>
            <a:r>
              <a:rPr spc="-10" dirty="0"/>
              <a:t> </a:t>
            </a:r>
            <a:r>
              <a:rPr dirty="0"/>
              <a:t>del</a:t>
            </a:r>
            <a:r>
              <a:rPr spc="-30" dirty="0"/>
              <a:t> </a:t>
            </a:r>
            <a:r>
              <a:rPr spc="-10" dirty="0"/>
              <a:t>negocio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8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Datos</a:t>
            </a:r>
            <a:r>
              <a:rPr spc="-35" dirty="0"/>
              <a:t> </a:t>
            </a:r>
            <a:r>
              <a:rPr dirty="0"/>
              <a:t>elaborados</a:t>
            </a:r>
            <a:r>
              <a:rPr spc="-10" dirty="0"/>
              <a:t> </a:t>
            </a:r>
            <a:r>
              <a:rPr dirty="0"/>
              <a:t>por</a:t>
            </a:r>
            <a:r>
              <a:rPr spc="-30" dirty="0"/>
              <a:t> </a:t>
            </a:r>
            <a:r>
              <a:rPr dirty="0"/>
              <a:t>BCP</a:t>
            </a:r>
            <a:r>
              <a:rPr spc="-40" dirty="0"/>
              <a:t> </a:t>
            </a:r>
            <a:r>
              <a:rPr dirty="0"/>
              <a:t>únicamente</a:t>
            </a:r>
            <a:r>
              <a:rPr spc="-25" dirty="0"/>
              <a:t> </a:t>
            </a:r>
            <a:r>
              <a:rPr dirty="0"/>
              <a:t>para</a:t>
            </a:r>
            <a:r>
              <a:rPr spc="-30" dirty="0"/>
              <a:t> </a:t>
            </a:r>
            <a:r>
              <a:rPr dirty="0"/>
              <a:t>fines</a:t>
            </a:r>
            <a:r>
              <a:rPr spc="-10" dirty="0"/>
              <a:t> </a:t>
            </a:r>
            <a:r>
              <a:rPr dirty="0"/>
              <a:t>del</a:t>
            </a:r>
            <a:r>
              <a:rPr spc="-30" dirty="0"/>
              <a:t> </a:t>
            </a:r>
            <a:r>
              <a:rPr spc="-10" dirty="0"/>
              <a:t>negocio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8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Datos</a:t>
            </a:r>
            <a:r>
              <a:rPr spc="-35" dirty="0"/>
              <a:t> </a:t>
            </a:r>
            <a:r>
              <a:rPr dirty="0"/>
              <a:t>elaborados</a:t>
            </a:r>
            <a:r>
              <a:rPr spc="-10" dirty="0"/>
              <a:t> </a:t>
            </a:r>
            <a:r>
              <a:rPr dirty="0"/>
              <a:t>por</a:t>
            </a:r>
            <a:r>
              <a:rPr spc="-30" dirty="0"/>
              <a:t> </a:t>
            </a:r>
            <a:r>
              <a:rPr dirty="0"/>
              <a:t>BCP</a:t>
            </a:r>
            <a:r>
              <a:rPr spc="-40" dirty="0"/>
              <a:t> </a:t>
            </a:r>
            <a:r>
              <a:rPr dirty="0"/>
              <a:t>únicamente</a:t>
            </a:r>
            <a:r>
              <a:rPr spc="-25" dirty="0"/>
              <a:t> </a:t>
            </a:r>
            <a:r>
              <a:rPr dirty="0"/>
              <a:t>para</a:t>
            </a:r>
            <a:r>
              <a:rPr spc="-30" dirty="0"/>
              <a:t> </a:t>
            </a:r>
            <a:r>
              <a:rPr dirty="0"/>
              <a:t>fines</a:t>
            </a:r>
            <a:r>
              <a:rPr spc="-10" dirty="0"/>
              <a:t> </a:t>
            </a:r>
            <a:r>
              <a:rPr dirty="0"/>
              <a:t>del</a:t>
            </a:r>
            <a:r>
              <a:rPr spc="-30" dirty="0"/>
              <a:t> </a:t>
            </a:r>
            <a:r>
              <a:rPr spc="-10" dirty="0"/>
              <a:t>negocio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8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Datos</a:t>
            </a:r>
            <a:r>
              <a:rPr spc="-35" dirty="0"/>
              <a:t> </a:t>
            </a:r>
            <a:r>
              <a:rPr dirty="0"/>
              <a:t>elaborados</a:t>
            </a:r>
            <a:r>
              <a:rPr spc="-10" dirty="0"/>
              <a:t> </a:t>
            </a:r>
            <a:r>
              <a:rPr dirty="0"/>
              <a:t>por</a:t>
            </a:r>
            <a:r>
              <a:rPr spc="-30" dirty="0"/>
              <a:t> </a:t>
            </a:r>
            <a:r>
              <a:rPr dirty="0"/>
              <a:t>BCP</a:t>
            </a:r>
            <a:r>
              <a:rPr spc="-40" dirty="0"/>
              <a:t> </a:t>
            </a:r>
            <a:r>
              <a:rPr dirty="0"/>
              <a:t>únicamente</a:t>
            </a:r>
            <a:r>
              <a:rPr spc="-25" dirty="0"/>
              <a:t> </a:t>
            </a:r>
            <a:r>
              <a:rPr dirty="0"/>
              <a:t>para</a:t>
            </a:r>
            <a:r>
              <a:rPr spc="-30" dirty="0"/>
              <a:t> </a:t>
            </a:r>
            <a:r>
              <a:rPr dirty="0"/>
              <a:t>fines</a:t>
            </a:r>
            <a:r>
              <a:rPr spc="-10" dirty="0"/>
              <a:t> </a:t>
            </a:r>
            <a:r>
              <a:rPr dirty="0"/>
              <a:t>del</a:t>
            </a:r>
            <a:r>
              <a:rPr spc="-30" dirty="0"/>
              <a:t> </a:t>
            </a:r>
            <a:r>
              <a:rPr spc="-10" dirty="0"/>
              <a:t>negocio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8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Datos</a:t>
            </a:r>
            <a:r>
              <a:rPr spc="-35" dirty="0"/>
              <a:t> </a:t>
            </a:r>
            <a:r>
              <a:rPr dirty="0"/>
              <a:t>elaborados</a:t>
            </a:r>
            <a:r>
              <a:rPr spc="-10" dirty="0"/>
              <a:t> </a:t>
            </a:r>
            <a:r>
              <a:rPr dirty="0"/>
              <a:t>por</a:t>
            </a:r>
            <a:r>
              <a:rPr spc="-30" dirty="0"/>
              <a:t> </a:t>
            </a:r>
            <a:r>
              <a:rPr dirty="0"/>
              <a:t>BCP</a:t>
            </a:r>
            <a:r>
              <a:rPr spc="-40" dirty="0"/>
              <a:t> </a:t>
            </a:r>
            <a:r>
              <a:rPr dirty="0"/>
              <a:t>únicamente</a:t>
            </a:r>
            <a:r>
              <a:rPr spc="-25" dirty="0"/>
              <a:t> </a:t>
            </a:r>
            <a:r>
              <a:rPr dirty="0"/>
              <a:t>para</a:t>
            </a:r>
            <a:r>
              <a:rPr spc="-30" dirty="0"/>
              <a:t> </a:t>
            </a:r>
            <a:r>
              <a:rPr dirty="0"/>
              <a:t>fines</a:t>
            </a:r>
            <a:r>
              <a:rPr spc="-10" dirty="0"/>
              <a:t> </a:t>
            </a:r>
            <a:r>
              <a:rPr dirty="0"/>
              <a:t>del</a:t>
            </a:r>
            <a:r>
              <a:rPr spc="-30" dirty="0"/>
              <a:t> </a:t>
            </a:r>
            <a:r>
              <a:rPr spc="-10" dirty="0"/>
              <a:t>negocio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6286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028950" y="476726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4579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5365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0" y="12"/>
            <a:ext cx="9144000" cy="469900"/>
          </a:xfrm>
          <a:custGeom>
            <a:avLst/>
            <a:gdLst/>
            <a:ahLst/>
            <a:cxnLst/>
            <a:rect l="l" t="t" r="r" b="b"/>
            <a:pathLst>
              <a:path w="9144000" h="469900">
                <a:moveTo>
                  <a:pt x="9144000" y="0"/>
                </a:moveTo>
                <a:lnTo>
                  <a:pt x="0" y="0"/>
                </a:lnTo>
                <a:lnTo>
                  <a:pt x="0" y="469506"/>
                </a:lnTo>
                <a:lnTo>
                  <a:pt x="9144000" y="469506"/>
                </a:lnTo>
                <a:lnTo>
                  <a:pt x="914400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0" y="12"/>
            <a:ext cx="9144000" cy="469900"/>
          </a:xfrm>
          <a:custGeom>
            <a:avLst/>
            <a:gdLst/>
            <a:ahLst/>
            <a:cxnLst/>
            <a:rect l="l" t="t" r="r" b="b"/>
            <a:pathLst>
              <a:path w="9144000" h="469900">
                <a:moveTo>
                  <a:pt x="0" y="469506"/>
                </a:moveTo>
                <a:lnTo>
                  <a:pt x="9144000" y="469506"/>
                </a:lnTo>
                <a:lnTo>
                  <a:pt x="9144000" y="0"/>
                </a:lnTo>
                <a:lnTo>
                  <a:pt x="0" y="0"/>
                </a:lnTo>
                <a:lnTo>
                  <a:pt x="0" y="469506"/>
                </a:lnTo>
                <a:close/>
              </a:path>
            </a:pathLst>
          </a:custGeom>
          <a:ln w="9525">
            <a:solidFill>
              <a:srgbClr val="4285F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40893"/>
            <a:ext cx="521144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6971" y="2472690"/>
            <a:ext cx="5882640" cy="202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299205" y="4964607"/>
            <a:ext cx="2545079" cy="12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008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Datos</a:t>
            </a:r>
            <a:r>
              <a:rPr spc="-35" dirty="0"/>
              <a:t> </a:t>
            </a:r>
            <a:r>
              <a:rPr dirty="0"/>
              <a:t>elaborados</a:t>
            </a:r>
            <a:r>
              <a:rPr spc="-10" dirty="0"/>
              <a:t> </a:t>
            </a:r>
            <a:r>
              <a:rPr dirty="0"/>
              <a:t>por</a:t>
            </a:r>
            <a:r>
              <a:rPr spc="-30" dirty="0"/>
              <a:t> </a:t>
            </a:r>
            <a:r>
              <a:rPr dirty="0"/>
              <a:t>BCP</a:t>
            </a:r>
            <a:r>
              <a:rPr spc="-40" dirty="0"/>
              <a:t> </a:t>
            </a:r>
            <a:r>
              <a:rPr dirty="0"/>
              <a:t>únicamente</a:t>
            </a:r>
            <a:r>
              <a:rPr spc="-25" dirty="0"/>
              <a:t> </a:t>
            </a:r>
            <a:r>
              <a:rPr dirty="0"/>
              <a:t>para</a:t>
            </a:r>
            <a:r>
              <a:rPr spc="-30" dirty="0"/>
              <a:t> </a:t>
            </a:r>
            <a:r>
              <a:rPr dirty="0"/>
              <a:t>fines</a:t>
            </a:r>
            <a:r>
              <a:rPr spc="-10" dirty="0"/>
              <a:t> </a:t>
            </a:r>
            <a:r>
              <a:rPr dirty="0"/>
              <a:t>del</a:t>
            </a:r>
            <a:r>
              <a:rPr spc="-30" dirty="0"/>
              <a:t> </a:t>
            </a:r>
            <a:r>
              <a:rPr spc="-10" dirty="0"/>
              <a:t>negocio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IUBA-Posgrado-Inteligencia-Artificial/aprendizaje_profundo/tree/ap_202503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marcos_maillot@yahoo.com.ar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ap_a22@cursoscapse.com" TargetMode="External"/><Relationship Id="rId4" Type="http://schemas.openxmlformats.org/officeDocument/2006/relationships/hyperlink" Target="mailto:gvilcamiza.ext@fi.uba.ar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learningbook.or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neuralnetworksanddeeplearning.com/" TargetMode="External"/><Relationship Id="rId4" Type="http://schemas.openxmlformats.org/officeDocument/2006/relationships/hyperlink" Target="https://d2l.ai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jp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jpg"/><Relationship Id="rId7" Type="http://schemas.openxmlformats.org/officeDocument/2006/relationships/image" Target="../media/image3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grpSp>
        <p:nvGrpSpPr>
          <p:cNvPr id="3" name="object 3"/>
          <p:cNvGrpSpPr/>
          <p:nvPr/>
        </p:nvGrpSpPr>
        <p:grpSpPr>
          <a:xfrm>
            <a:off x="8246364" y="4245876"/>
            <a:ext cx="897890" cy="897890"/>
            <a:chOff x="8246364" y="4245876"/>
            <a:chExt cx="897890" cy="897890"/>
          </a:xfrm>
        </p:grpSpPr>
        <p:sp>
          <p:nvSpPr>
            <p:cNvPr id="4" name="object 4"/>
            <p:cNvSpPr/>
            <p:nvPr/>
          </p:nvSpPr>
          <p:spPr>
            <a:xfrm>
              <a:off x="8246364" y="4245927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897635" y="0"/>
                  </a:moveTo>
                  <a:lnTo>
                    <a:pt x="0" y="897596"/>
                  </a:lnTo>
                  <a:lnTo>
                    <a:pt x="897635" y="897596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8246364" y="4245876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897635" y="0"/>
                  </a:moveTo>
                  <a:lnTo>
                    <a:pt x="149605" y="0"/>
                  </a:lnTo>
                  <a:lnTo>
                    <a:pt x="102347" y="7626"/>
                  </a:lnTo>
                  <a:lnTo>
                    <a:pt x="61283" y="28864"/>
                  </a:lnTo>
                  <a:lnTo>
                    <a:pt x="28886" y="61250"/>
                  </a:lnTo>
                  <a:lnTo>
                    <a:pt x="7634" y="102318"/>
                  </a:lnTo>
                  <a:lnTo>
                    <a:pt x="0" y="149605"/>
                  </a:lnTo>
                  <a:lnTo>
                    <a:pt x="0" y="897598"/>
                  </a:lnTo>
                  <a:lnTo>
                    <a:pt x="897635" y="897598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FFFFFF">
                <a:alpha val="67842"/>
              </a:srgbClr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0183" y="3876295"/>
            <a:ext cx="4136390" cy="9611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lang="es-PE" sz="2200" spc="-10" noProof="0" dirty="0">
                <a:solidFill>
                  <a:srgbClr val="FFFFFF"/>
                </a:solidFill>
                <a:latin typeface="Roboto"/>
                <a:cs typeface="Roboto"/>
              </a:rPr>
              <a:t>    Profesores:</a:t>
            </a:r>
            <a:endParaRPr lang="es-PE" sz="2200" spc="-10" dirty="0">
              <a:latin typeface="Roboto"/>
              <a:cs typeface="Roboto"/>
            </a:endParaRPr>
          </a:p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lang="es-PE" sz="2200" spc="-10" noProof="0" dirty="0">
                <a:solidFill>
                  <a:srgbClr val="FFFFFF"/>
                </a:solidFill>
                <a:latin typeface="Roboto"/>
                <a:cs typeface="Roboto"/>
              </a:rPr>
              <a:t>		</a:t>
            </a:r>
            <a:r>
              <a:rPr lang="es-PE" sz="2200" noProof="0" dirty="0">
                <a:solidFill>
                  <a:srgbClr val="FFFFFF"/>
                </a:solidFill>
                <a:latin typeface="Roboto"/>
                <a:cs typeface="Roboto"/>
              </a:rPr>
              <a:t>Marcos</a:t>
            </a:r>
            <a:r>
              <a:rPr lang="es-PE" sz="2200" spc="-80" noProof="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lang="es-PE" sz="2200" spc="-10" noProof="0" dirty="0">
                <a:solidFill>
                  <a:srgbClr val="FFFFFF"/>
                </a:solidFill>
                <a:latin typeface="Roboto"/>
                <a:cs typeface="Roboto"/>
              </a:rPr>
              <a:t>Maillot</a:t>
            </a:r>
          </a:p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lang="es-PE" sz="2200" spc="-10" dirty="0">
                <a:solidFill>
                  <a:srgbClr val="FFFFFF"/>
                </a:solidFill>
                <a:latin typeface="Roboto"/>
                <a:cs typeface="Roboto"/>
              </a:rPr>
              <a:t>		</a:t>
            </a:r>
            <a:r>
              <a:rPr lang="es-PE" sz="2200" noProof="0" dirty="0">
                <a:solidFill>
                  <a:srgbClr val="FFFFFF"/>
                </a:solidFill>
                <a:latin typeface="Roboto"/>
                <a:cs typeface="Roboto"/>
              </a:rPr>
              <a:t>Gerardo</a:t>
            </a:r>
            <a:r>
              <a:rPr lang="es-PE" sz="2200" spc="-114" noProof="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lang="es-PE" sz="2200" spc="-10" noProof="0" dirty="0">
                <a:solidFill>
                  <a:srgbClr val="FFFFFF"/>
                </a:solidFill>
                <a:latin typeface="Roboto"/>
                <a:cs typeface="Roboto"/>
              </a:rPr>
              <a:t>Vilcamiza</a:t>
            </a:r>
            <a:endParaRPr lang="es-PE" sz="2200" noProof="0" dirty="0"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53083" y="98008"/>
            <a:ext cx="5897245" cy="2099310"/>
          </a:xfrm>
          <a:prstGeom prst="rect">
            <a:avLst/>
          </a:prstGeom>
        </p:spPr>
        <p:txBody>
          <a:bodyPr vert="horz" wrap="square" lIns="0" tIns="21145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64"/>
              </a:spcBef>
            </a:pPr>
            <a:r>
              <a:rPr lang="es-PE" sz="4800" b="0" noProof="0" dirty="0">
                <a:latin typeface="Roboto"/>
                <a:cs typeface="Roboto"/>
              </a:rPr>
              <a:t>Aprendizaje</a:t>
            </a:r>
            <a:r>
              <a:rPr lang="es-PE" sz="4800" b="0" spc="-270" noProof="0" dirty="0">
                <a:latin typeface="Roboto"/>
                <a:cs typeface="Roboto"/>
              </a:rPr>
              <a:t> </a:t>
            </a:r>
            <a:r>
              <a:rPr lang="es-PE" sz="4800" b="0" spc="-10" noProof="0" dirty="0">
                <a:latin typeface="Roboto"/>
                <a:cs typeface="Roboto"/>
              </a:rPr>
              <a:t>Profundo</a:t>
            </a:r>
            <a:endParaRPr lang="es-PE" sz="4800" noProof="0" dirty="0">
              <a:latin typeface="Roboto"/>
              <a:cs typeface="Roboto"/>
            </a:endParaRPr>
          </a:p>
          <a:p>
            <a:pPr marL="290195" marR="283210" indent="2540" algn="ctr">
              <a:lnSpc>
                <a:spcPct val="100000"/>
              </a:lnSpc>
              <a:spcBef>
                <a:spcPts val="1080"/>
              </a:spcBef>
            </a:pPr>
            <a:r>
              <a:rPr lang="es-PE" sz="3300" b="0" spc="-10" noProof="0" dirty="0">
                <a:latin typeface="Roboto"/>
                <a:cs typeface="Roboto"/>
              </a:rPr>
              <a:t>Facultad</a:t>
            </a:r>
            <a:r>
              <a:rPr lang="es-PE" sz="3300" b="0" spc="-100" noProof="0" dirty="0">
                <a:latin typeface="Roboto"/>
                <a:cs typeface="Roboto"/>
              </a:rPr>
              <a:t> </a:t>
            </a:r>
            <a:r>
              <a:rPr lang="es-PE" sz="3300" b="0" noProof="0" dirty="0">
                <a:latin typeface="Roboto"/>
                <a:cs typeface="Roboto"/>
              </a:rPr>
              <a:t>de</a:t>
            </a:r>
            <a:r>
              <a:rPr lang="es-PE" sz="3300" b="0" spc="-80" noProof="0" dirty="0">
                <a:latin typeface="Roboto"/>
                <a:cs typeface="Roboto"/>
              </a:rPr>
              <a:t> </a:t>
            </a:r>
            <a:r>
              <a:rPr lang="es-PE" sz="3300" b="0" spc="-10" noProof="0" dirty="0">
                <a:latin typeface="Roboto"/>
                <a:cs typeface="Roboto"/>
              </a:rPr>
              <a:t>Ingeniería </a:t>
            </a:r>
            <a:r>
              <a:rPr lang="es-PE" sz="3300" b="0" spc="-35" noProof="0" dirty="0">
                <a:latin typeface="Roboto"/>
                <a:cs typeface="Roboto"/>
              </a:rPr>
              <a:t>Universidad</a:t>
            </a:r>
            <a:r>
              <a:rPr lang="es-PE" sz="3300" b="0" spc="-114" noProof="0" dirty="0">
                <a:latin typeface="Roboto"/>
                <a:cs typeface="Roboto"/>
              </a:rPr>
              <a:t> </a:t>
            </a:r>
            <a:r>
              <a:rPr lang="es-PE" sz="3300" b="0" noProof="0" dirty="0">
                <a:latin typeface="Roboto"/>
                <a:cs typeface="Roboto"/>
              </a:rPr>
              <a:t>de</a:t>
            </a:r>
            <a:r>
              <a:rPr lang="es-PE" sz="3300" b="0" spc="-114" noProof="0" dirty="0">
                <a:latin typeface="Roboto"/>
                <a:cs typeface="Roboto"/>
              </a:rPr>
              <a:t> </a:t>
            </a:r>
            <a:r>
              <a:rPr lang="es-PE" sz="3300" b="0" spc="-10" noProof="0" dirty="0">
                <a:latin typeface="Roboto"/>
                <a:cs typeface="Roboto"/>
              </a:rPr>
              <a:t>Buenos</a:t>
            </a:r>
            <a:r>
              <a:rPr lang="es-PE" sz="3300" b="0" spc="-120" noProof="0" dirty="0">
                <a:latin typeface="Roboto"/>
                <a:cs typeface="Roboto"/>
              </a:rPr>
              <a:t> </a:t>
            </a:r>
            <a:r>
              <a:rPr lang="es-PE" sz="3300" b="0" spc="-10" noProof="0" dirty="0">
                <a:latin typeface="Roboto"/>
                <a:cs typeface="Roboto"/>
              </a:rPr>
              <a:t>Aires</a:t>
            </a:r>
            <a:endParaRPr lang="es-PE" sz="3300" noProof="0" dirty="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9088" y="2371725"/>
            <a:ext cx="1385951" cy="13859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10" noProof="0" dirty="0"/>
              <a:t>Introducción al curso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3001" y="741426"/>
            <a:ext cx="8419999" cy="40043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7665" indent="-354965">
              <a:lnSpc>
                <a:spcPct val="100000"/>
              </a:lnSpc>
              <a:spcBef>
                <a:spcPts val="105"/>
              </a:spcBef>
              <a:buFont typeface="Times New Roman"/>
              <a:buChar char="●"/>
              <a:tabLst>
                <a:tab pos="367665" algn="l"/>
              </a:tabLst>
            </a:pPr>
            <a:r>
              <a:rPr lang="es-PE" sz="2000" noProof="0" dirty="0">
                <a:latin typeface="Roboto"/>
                <a:cs typeface="Roboto"/>
              </a:rPr>
              <a:t>Materia</a:t>
            </a:r>
            <a:r>
              <a:rPr lang="es-PE" sz="2000" spc="-65" noProof="0" dirty="0">
                <a:latin typeface="Roboto"/>
                <a:cs typeface="Roboto"/>
              </a:rPr>
              <a:t> </a:t>
            </a:r>
            <a:r>
              <a:rPr lang="es-PE" sz="2000" noProof="0" dirty="0">
                <a:latin typeface="Roboto"/>
                <a:cs typeface="Roboto"/>
              </a:rPr>
              <a:t>de</a:t>
            </a:r>
            <a:r>
              <a:rPr lang="es-PE" sz="2000" spc="-30" noProof="0" dirty="0">
                <a:latin typeface="Roboto"/>
                <a:cs typeface="Roboto"/>
              </a:rPr>
              <a:t> </a:t>
            </a:r>
            <a:r>
              <a:rPr lang="es-PE" sz="2000" noProof="0" dirty="0">
                <a:latin typeface="Roboto"/>
                <a:cs typeface="Roboto"/>
              </a:rPr>
              <a:t>8</a:t>
            </a:r>
            <a:r>
              <a:rPr lang="es-PE" sz="2000" spc="-20" noProof="0" dirty="0">
                <a:latin typeface="Roboto"/>
                <a:cs typeface="Roboto"/>
              </a:rPr>
              <a:t> </a:t>
            </a:r>
            <a:r>
              <a:rPr lang="es-PE" sz="2000" noProof="0" dirty="0">
                <a:latin typeface="Roboto"/>
                <a:cs typeface="Roboto"/>
              </a:rPr>
              <a:t>clases</a:t>
            </a:r>
            <a:r>
              <a:rPr lang="es-PE" sz="2000" spc="-25" noProof="0" dirty="0">
                <a:latin typeface="Roboto"/>
                <a:cs typeface="Roboto"/>
              </a:rPr>
              <a:t> </a:t>
            </a:r>
            <a:r>
              <a:rPr lang="es-PE" sz="2000" spc="-60" noProof="0" dirty="0">
                <a:latin typeface="Roboto"/>
                <a:cs typeface="Roboto"/>
              </a:rPr>
              <a:t>teórico-</a:t>
            </a:r>
            <a:r>
              <a:rPr lang="es-PE" sz="2000" spc="-10" noProof="0" dirty="0">
                <a:latin typeface="Roboto"/>
                <a:cs typeface="Roboto"/>
              </a:rPr>
              <a:t>prácticas</a:t>
            </a:r>
            <a:endParaRPr lang="es-PE" sz="2000" noProof="0" dirty="0">
              <a:latin typeface="Roboto"/>
              <a:cs typeface="Roboto"/>
            </a:endParaRPr>
          </a:p>
          <a:p>
            <a:pPr marL="367665" indent="-354965">
              <a:lnSpc>
                <a:spcPct val="100000"/>
              </a:lnSpc>
              <a:spcBef>
                <a:spcPts val="2400"/>
              </a:spcBef>
              <a:buFont typeface="Times New Roman"/>
              <a:buChar char="●"/>
              <a:tabLst>
                <a:tab pos="367665" algn="l"/>
              </a:tabLst>
            </a:pPr>
            <a:r>
              <a:rPr lang="es-PE" sz="2000" spc="-20" noProof="0" dirty="0">
                <a:latin typeface="Roboto"/>
                <a:cs typeface="Roboto"/>
              </a:rPr>
              <a:t>Trabajamos</a:t>
            </a:r>
            <a:r>
              <a:rPr lang="es-PE" sz="2000" spc="-65" noProof="0" dirty="0">
                <a:latin typeface="Roboto"/>
                <a:cs typeface="Roboto"/>
              </a:rPr>
              <a:t> </a:t>
            </a:r>
            <a:r>
              <a:rPr lang="es-PE" sz="2000" noProof="0" dirty="0">
                <a:latin typeface="Roboto"/>
                <a:cs typeface="Roboto"/>
              </a:rPr>
              <a:t>con</a:t>
            </a:r>
            <a:r>
              <a:rPr lang="es-PE" sz="2000" spc="-25" noProof="0" dirty="0">
                <a:latin typeface="Roboto"/>
                <a:cs typeface="Roboto"/>
              </a:rPr>
              <a:t> </a:t>
            </a:r>
            <a:r>
              <a:rPr lang="es-PE" sz="2000" spc="-10" noProof="0" dirty="0">
                <a:latin typeface="Roboto"/>
                <a:cs typeface="Roboto"/>
              </a:rPr>
              <a:t>diapositivas y notebooks</a:t>
            </a:r>
            <a:endParaRPr lang="es-PE" sz="20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lang="es-PE" sz="2000" noProof="0" dirty="0">
              <a:latin typeface="Roboto"/>
              <a:cs typeface="Roboto"/>
            </a:endParaRPr>
          </a:p>
          <a:p>
            <a:pPr marL="367665" indent="-354965">
              <a:lnSpc>
                <a:spcPct val="100000"/>
              </a:lnSpc>
              <a:buFont typeface="Times New Roman"/>
              <a:buChar char="●"/>
              <a:tabLst>
                <a:tab pos="367665" algn="l"/>
              </a:tabLst>
            </a:pPr>
            <a:r>
              <a:rPr lang="es-PE" sz="2000" noProof="0" dirty="0">
                <a:latin typeface="Roboto"/>
                <a:cs typeface="Roboto"/>
              </a:rPr>
              <a:t>Clases</a:t>
            </a:r>
            <a:r>
              <a:rPr lang="es-PE" sz="2000" spc="-40" noProof="0" dirty="0">
                <a:latin typeface="Roboto"/>
                <a:cs typeface="Roboto"/>
              </a:rPr>
              <a:t> </a:t>
            </a:r>
            <a:r>
              <a:rPr lang="es-PE" sz="2000" spc="-20" noProof="0" dirty="0">
                <a:latin typeface="Roboto"/>
                <a:cs typeface="Roboto"/>
              </a:rPr>
              <a:t>dinámicas,</a:t>
            </a:r>
            <a:r>
              <a:rPr lang="es-PE" sz="2000" spc="-60" noProof="0" dirty="0">
                <a:latin typeface="Roboto"/>
                <a:cs typeface="Roboto"/>
              </a:rPr>
              <a:t> </a:t>
            </a:r>
            <a:r>
              <a:rPr lang="es-PE" sz="2000" noProof="0" dirty="0">
                <a:latin typeface="Roboto"/>
                <a:cs typeface="Roboto"/>
              </a:rPr>
              <a:t>la</a:t>
            </a:r>
            <a:r>
              <a:rPr lang="es-PE" sz="2000" spc="-30" noProof="0" dirty="0">
                <a:latin typeface="Roboto"/>
                <a:cs typeface="Roboto"/>
              </a:rPr>
              <a:t> </a:t>
            </a:r>
            <a:r>
              <a:rPr lang="es-PE" sz="2000" spc="-20" noProof="0" dirty="0">
                <a:latin typeface="Roboto"/>
                <a:cs typeface="Roboto"/>
              </a:rPr>
              <a:t>participación</a:t>
            </a:r>
            <a:r>
              <a:rPr lang="es-PE" sz="2000" spc="-70" noProof="0" dirty="0">
                <a:latin typeface="Roboto"/>
                <a:cs typeface="Roboto"/>
              </a:rPr>
              <a:t> </a:t>
            </a:r>
            <a:r>
              <a:rPr lang="es-PE" sz="2000" noProof="0" dirty="0">
                <a:latin typeface="Roboto"/>
                <a:cs typeface="Roboto"/>
              </a:rPr>
              <a:t>y</a:t>
            </a:r>
            <a:r>
              <a:rPr lang="es-PE" sz="2000" spc="-30" noProof="0" dirty="0">
                <a:latin typeface="Roboto"/>
                <a:cs typeface="Roboto"/>
              </a:rPr>
              <a:t> </a:t>
            </a:r>
            <a:r>
              <a:rPr lang="es-PE" sz="2000" noProof="0" dirty="0" err="1">
                <a:latin typeface="Roboto"/>
                <a:cs typeface="Roboto"/>
              </a:rPr>
              <a:t>feedback</a:t>
            </a:r>
            <a:r>
              <a:rPr lang="es-PE" sz="2000" noProof="0" dirty="0">
                <a:latin typeface="Roboto"/>
                <a:cs typeface="Roboto"/>
              </a:rPr>
              <a:t> son</a:t>
            </a:r>
            <a:r>
              <a:rPr lang="es-PE" sz="2000" spc="-55" noProof="0" dirty="0">
                <a:latin typeface="Roboto"/>
                <a:cs typeface="Roboto"/>
              </a:rPr>
              <a:t> </a:t>
            </a:r>
            <a:r>
              <a:rPr lang="es-PE" sz="2000" noProof="0" dirty="0">
                <a:latin typeface="Roboto"/>
                <a:cs typeface="Roboto"/>
              </a:rPr>
              <a:t>bien</a:t>
            </a:r>
            <a:r>
              <a:rPr lang="es-PE" sz="2000" spc="-35" noProof="0" dirty="0">
                <a:latin typeface="Roboto"/>
                <a:cs typeface="Roboto"/>
              </a:rPr>
              <a:t> </a:t>
            </a:r>
            <a:r>
              <a:rPr lang="es-PE" sz="2000" spc="-10" noProof="0" dirty="0">
                <a:latin typeface="Roboto"/>
                <a:cs typeface="Roboto"/>
              </a:rPr>
              <a:t>recibidos</a:t>
            </a:r>
            <a:endParaRPr lang="es-PE" sz="2000" noProof="0" dirty="0">
              <a:latin typeface="Roboto"/>
              <a:cs typeface="Roboto"/>
            </a:endParaRPr>
          </a:p>
          <a:p>
            <a:pPr marL="367665" indent="-354965">
              <a:lnSpc>
                <a:spcPct val="100000"/>
              </a:lnSpc>
              <a:spcBef>
                <a:spcPts val="1500"/>
              </a:spcBef>
              <a:buFont typeface="Times New Roman"/>
              <a:buChar char="●"/>
              <a:tabLst>
                <a:tab pos="367665" algn="l"/>
              </a:tabLst>
            </a:pPr>
            <a:r>
              <a:rPr lang="es-PE" sz="2000" spc="-10" noProof="0" dirty="0">
                <a:latin typeface="Roboto"/>
                <a:cs typeface="Roboto"/>
              </a:rPr>
              <a:t>Clases:</a:t>
            </a:r>
            <a:endParaRPr lang="es-PE" sz="2000" noProof="0" dirty="0">
              <a:latin typeface="Roboto"/>
              <a:cs typeface="Roboto"/>
            </a:endParaRPr>
          </a:p>
          <a:p>
            <a:pPr marL="824865" lvl="1" indent="-330835">
              <a:lnSpc>
                <a:spcPct val="100000"/>
              </a:lnSpc>
              <a:spcBef>
                <a:spcPts val="1780"/>
              </a:spcBef>
              <a:buFont typeface="Times New Roman"/>
              <a:buChar char="○"/>
              <a:tabLst>
                <a:tab pos="824865" algn="l"/>
              </a:tabLst>
            </a:pPr>
            <a:r>
              <a:rPr lang="es-PE" sz="1600" noProof="0" dirty="0">
                <a:latin typeface="Roboto"/>
                <a:cs typeface="Roboto"/>
              </a:rPr>
              <a:t>10</a:t>
            </a:r>
            <a:r>
              <a:rPr lang="es-PE" sz="1600" spc="-5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minutos</a:t>
            </a:r>
            <a:r>
              <a:rPr lang="es-PE" sz="1600" spc="-3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resumen</a:t>
            </a:r>
            <a:r>
              <a:rPr lang="es-PE" sz="1600" spc="-4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de</a:t>
            </a:r>
            <a:r>
              <a:rPr lang="es-PE" sz="1600" spc="-50" noProof="0" dirty="0">
                <a:latin typeface="Roboto"/>
                <a:cs typeface="Roboto"/>
              </a:rPr>
              <a:t> la </a:t>
            </a:r>
            <a:r>
              <a:rPr lang="es-PE" sz="1600" noProof="0" dirty="0">
                <a:latin typeface="Roboto"/>
                <a:cs typeface="Roboto"/>
              </a:rPr>
              <a:t>clase</a:t>
            </a:r>
            <a:r>
              <a:rPr lang="es-PE" sz="1600" spc="-35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anterior y resolución de dudas de los </a:t>
            </a:r>
            <a:r>
              <a:rPr lang="es-PE" sz="1600" spc="-10" noProof="0" dirty="0" err="1">
                <a:latin typeface="Roboto"/>
                <a:cs typeface="Roboto"/>
              </a:rPr>
              <a:t>TPs</a:t>
            </a:r>
            <a:r>
              <a:rPr lang="es-PE" sz="1600" spc="-10" noProof="0" dirty="0">
                <a:latin typeface="Roboto"/>
                <a:cs typeface="Roboto"/>
              </a:rPr>
              <a:t> (si aplica)</a:t>
            </a:r>
            <a:endParaRPr lang="es-PE" sz="1600" noProof="0" dirty="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buFont typeface="Times New Roman"/>
              <a:buChar char="○"/>
            </a:pPr>
            <a:endParaRPr lang="es-PE" sz="1600" noProof="0" dirty="0">
              <a:latin typeface="Roboto"/>
              <a:cs typeface="Roboto"/>
            </a:endParaRPr>
          </a:p>
          <a:p>
            <a:pPr marL="824865" lvl="1" indent="-330835">
              <a:lnSpc>
                <a:spcPct val="100000"/>
              </a:lnSpc>
              <a:buFont typeface="Times New Roman"/>
              <a:buChar char="○"/>
              <a:tabLst>
                <a:tab pos="824865" algn="l"/>
              </a:tabLst>
            </a:pPr>
            <a:r>
              <a:rPr lang="es-PE" sz="1600" noProof="0" dirty="0">
                <a:latin typeface="Roboto"/>
                <a:cs typeface="Roboto"/>
              </a:rPr>
              <a:t>3</a:t>
            </a:r>
            <a:r>
              <a:rPr lang="es-PE" sz="1600" spc="-35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bloques </a:t>
            </a:r>
            <a:r>
              <a:rPr lang="es-PE" sz="1600" noProof="0" dirty="0">
                <a:latin typeface="Roboto"/>
                <a:cs typeface="Roboto"/>
              </a:rPr>
              <a:t>de</a:t>
            </a:r>
            <a:r>
              <a:rPr lang="es-PE" sz="1600" spc="-2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50</a:t>
            </a:r>
            <a:r>
              <a:rPr lang="es-PE" sz="1600" spc="-3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minutos </a:t>
            </a:r>
            <a:r>
              <a:rPr lang="es-PE" sz="1600" noProof="0" dirty="0">
                <a:latin typeface="Roboto"/>
                <a:cs typeface="Roboto"/>
              </a:rPr>
              <a:t>de</a:t>
            </a:r>
            <a:r>
              <a:rPr lang="es-PE" sz="1600" spc="-3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trabajo </a:t>
            </a:r>
            <a:r>
              <a:rPr lang="es-PE" sz="1600" spc="-55" noProof="0" dirty="0">
                <a:latin typeface="Roboto"/>
                <a:cs typeface="Roboto"/>
              </a:rPr>
              <a:t>teórico-</a:t>
            </a:r>
            <a:r>
              <a:rPr lang="es-PE" sz="1600" spc="-10" noProof="0" dirty="0">
                <a:latin typeface="Roboto"/>
                <a:cs typeface="Roboto"/>
              </a:rPr>
              <a:t>práctico</a:t>
            </a:r>
            <a:endParaRPr lang="es-PE" sz="1600" noProof="0" dirty="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buFont typeface="Times New Roman"/>
              <a:buChar char="○"/>
            </a:pPr>
            <a:endParaRPr lang="es-PE" sz="1600" noProof="0" dirty="0">
              <a:latin typeface="Roboto"/>
              <a:cs typeface="Roboto"/>
            </a:endParaRPr>
          </a:p>
          <a:p>
            <a:pPr marL="824865" lvl="1" indent="-330835">
              <a:lnSpc>
                <a:spcPct val="100000"/>
              </a:lnSpc>
              <a:spcBef>
                <a:spcPts val="5"/>
              </a:spcBef>
              <a:buFont typeface="Times New Roman"/>
              <a:buChar char="○"/>
              <a:tabLst>
                <a:tab pos="824865" algn="l"/>
              </a:tabLst>
            </a:pPr>
            <a:r>
              <a:rPr lang="es-PE" sz="1600" noProof="0" dirty="0">
                <a:latin typeface="Roboto"/>
                <a:cs typeface="Roboto"/>
              </a:rPr>
              <a:t>2</a:t>
            </a:r>
            <a:r>
              <a:rPr lang="es-PE" sz="1600" spc="-45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bloques</a:t>
            </a:r>
            <a:r>
              <a:rPr lang="es-PE" sz="1600" spc="-1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de</a:t>
            </a:r>
            <a:r>
              <a:rPr lang="es-PE" sz="1600" spc="-40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10</a:t>
            </a:r>
            <a:r>
              <a:rPr lang="es-PE" sz="1600" spc="-35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minutos</a:t>
            </a:r>
            <a:r>
              <a:rPr lang="es-PE" sz="1600" spc="-20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de</a:t>
            </a:r>
            <a:r>
              <a:rPr lang="es-PE" sz="1600" spc="-35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descanso</a:t>
            </a:r>
            <a:endParaRPr lang="es-PE" sz="1600" noProof="0" dirty="0">
              <a:latin typeface="Roboto"/>
              <a:cs typeface="Roboto"/>
            </a:endParaRPr>
          </a:p>
          <a:p>
            <a:pPr marL="824865" lvl="1" indent="-330835">
              <a:lnSpc>
                <a:spcPct val="100000"/>
              </a:lnSpc>
              <a:spcBef>
                <a:spcPts val="1920"/>
              </a:spcBef>
              <a:buFont typeface="Times New Roman"/>
              <a:buChar char="○"/>
              <a:tabLst>
                <a:tab pos="824865" algn="l"/>
              </a:tabLst>
            </a:pPr>
            <a:r>
              <a:rPr lang="es-PE" sz="1600" spc="-10" noProof="0" dirty="0">
                <a:latin typeface="Roboto"/>
                <a:cs typeface="Roboto"/>
              </a:rPr>
              <a:t>Ejercicios</a:t>
            </a:r>
            <a:r>
              <a:rPr lang="es-PE" sz="1600" spc="-4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de</a:t>
            </a:r>
            <a:r>
              <a:rPr lang="es-PE" sz="1600" spc="-3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práctica</a:t>
            </a:r>
            <a:r>
              <a:rPr lang="es-PE" sz="1600" spc="-3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(sin</a:t>
            </a:r>
            <a:r>
              <a:rPr lang="es-PE" sz="1600" spc="-35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nota)</a:t>
            </a:r>
            <a:endParaRPr lang="es-PE" sz="16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10" dirty="0"/>
              <a:t>Introducción al curso</a:t>
            </a:r>
            <a:endParaRPr lang="es-PE" spc="-10" noProof="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848" y="742950"/>
            <a:ext cx="8458200" cy="40876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315" indent="-348615">
              <a:lnSpc>
                <a:spcPct val="100000"/>
              </a:lnSpc>
              <a:spcBef>
                <a:spcPts val="95"/>
              </a:spcBef>
              <a:buFont typeface="Times New Roman"/>
              <a:buChar char="●"/>
              <a:tabLst>
                <a:tab pos="361315" algn="l"/>
              </a:tabLst>
            </a:pPr>
            <a:r>
              <a:rPr lang="es-PE" sz="1900" b="1" spc="-10" noProof="0" dirty="0">
                <a:latin typeface="Roboto"/>
                <a:cs typeface="Roboto"/>
              </a:rPr>
              <a:t>APROBACIÓN</a:t>
            </a:r>
          </a:p>
          <a:p>
            <a:pPr marL="818515" lvl="1" indent="-330835">
              <a:lnSpc>
                <a:spcPct val="100000"/>
              </a:lnSpc>
              <a:spcBef>
                <a:spcPts val="1750"/>
              </a:spcBef>
              <a:buFont typeface="Times New Roman"/>
              <a:buChar char="○"/>
              <a:tabLst>
                <a:tab pos="818515" algn="l"/>
              </a:tabLst>
            </a:pPr>
            <a:r>
              <a:rPr lang="es-PE" sz="1500" spc="-10" noProof="0" dirty="0">
                <a:latin typeface="Roboto"/>
                <a:cs typeface="Roboto"/>
              </a:rPr>
              <a:t>Trabajos</a:t>
            </a:r>
            <a:r>
              <a:rPr lang="es-PE" sz="1500" spc="-50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prácticos</a:t>
            </a:r>
            <a:r>
              <a:rPr lang="es-PE" sz="1500" spc="-45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offline,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con</a:t>
            </a:r>
            <a:r>
              <a:rPr lang="es-PE" sz="1500" spc="-60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entregas</a:t>
            </a:r>
            <a:r>
              <a:rPr lang="es-PE" sz="1500" spc="-60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por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spc="-25" noProof="0" dirty="0">
                <a:latin typeface="Roboto"/>
                <a:cs typeface="Roboto"/>
              </a:rPr>
              <a:t>Google</a:t>
            </a:r>
            <a:r>
              <a:rPr lang="es-PE" sz="1500" spc="-50" noProof="0" dirty="0">
                <a:latin typeface="Roboto"/>
                <a:cs typeface="Roboto"/>
              </a:rPr>
              <a:t> </a:t>
            </a:r>
            <a:r>
              <a:rPr lang="es-PE" sz="1500" spc="-10" noProof="0" dirty="0" err="1">
                <a:latin typeface="Roboto"/>
                <a:cs typeface="Roboto"/>
              </a:rPr>
              <a:t>Forms</a:t>
            </a:r>
            <a:r>
              <a:rPr lang="es-PE" sz="1500" spc="-10" noProof="0" dirty="0">
                <a:latin typeface="Roboto"/>
                <a:cs typeface="Roboto"/>
              </a:rPr>
              <a:t>.</a:t>
            </a:r>
            <a:endParaRPr lang="es-PE" sz="1500" noProof="0" dirty="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buFont typeface="Times New Roman"/>
              <a:buChar char="○"/>
            </a:pPr>
            <a:endParaRPr lang="es-PE" sz="1500" noProof="0" dirty="0">
              <a:latin typeface="Roboto"/>
              <a:cs typeface="Roboto"/>
            </a:endParaRPr>
          </a:p>
          <a:p>
            <a:pPr marL="1275715" lvl="2" indent="-330200">
              <a:lnSpc>
                <a:spcPct val="100000"/>
              </a:lnSpc>
              <a:spcBef>
                <a:spcPts val="5"/>
              </a:spcBef>
              <a:buFont typeface="Times New Roman"/>
              <a:buChar char="○"/>
              <a:tabLst>
                <a:tab pos="1275715" algn="l"/>
              </a:tabLst>
            </a:pPr>
            <a:r>
              <a:rPr lang="es-PE" sz="1500" u="sng" noProof="0" dirty="0">
                <a:uFill>
                  <a:solidFill>
                    <a:srgbClr val="000000"/>
                  </a:solidFill>
                </a:uFill>
                <a:latin typeface="Roboto"/>
                <a:cs typeface="Roboto"/>
              </a:rPr>
              <a:t>TP1</a:t>
            </a:r>
            <a:r>
              <a:rPr lang="es-PE" sz="1500" spc="-10" noProof="0" dirty="0">
                <a:latin typeface="Roboto"/>
                <a:cs typeface="Roboto"/>
              </a:rPr>
              <a:t>:</a:t>
            </a:r>
            <a:r>
              <a:rPr lang="es-PE" sz="1500" spc="-50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Envío</a:t>
            </a:r>
            <a:r>
              <a:rPr lang="es-PE" sz="1500" spc="-4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al término de la clase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2,</a:t>
            </a:r>
            <a:r>
              <a:rPr lang="es-PE" sz="1500" spc="-70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entrega</a:t>
            </a:r>
            <a:r>
              <a:rPr lang="es-PE" sz="1500" spc="-50" noProof="0" dirty="0">
                <a:latin typeface="Roboto"/>
                <a:cs typeface="Roboto"/>
              </a:rPr>
              <a:t> hasta dos días después de la clase 4 (23 h)</a:t>
            </a:r>
            <a:r>
              <a:rPr lang="es-PE" sz="1500" spc="-25" noProof="0" dirty="0">
                <a:latin typeface="Roboto"/>
                <a:cs typeface="Roboto"/>
              </a:rPr>
              <a:t>.</a:t>
            </a:r>
          </a:p>
          <a:p>
            <a:pPr marL="945515" lvl="2">
              <a:lnSpc>
                <a:spcPct val="100000"/>
              </a:lnSpc>
              <a:spcBef>
                <a:spcPts val="5"/>
              </a:spcBef>
              <a:tabLst>
                <a:tab pos="1275715" algn="l"/>
              </a:tabLst>
            </a:pPr>
            <a:endParaRPr lang="es-PE" sz="1500" noProof="0" dirty="0">
              <a:latin typeface="Roboto"/>
              <a:cs typeface="Roboto"/>
            </a:endParaRPr>
          </a:p>
          <a:p>
            <a:pPr marL="1275715" lvl="2" indent="-330200">
              <a:lnSpc>
                <a:spcPct val="100000"/>
              </a:lnSpc>
              <a:spcBef>
                <a:spcPts val="5"/>
              </a:spcBef>
              <a:buFont typeface="Times New Roman"/>
              <a:buChar char="○"/>
              <a:tabLst>
                <a:tab pos="1275715" algn="l"/>
              </a:tabLst>
            </a:pPr>
            <a:r>
              <a:rPr lang="es-PE" sz="1500" u="sng" spc="-10" noProof="0" dirty="0">
                <a:uFill>
                  <a:solidFill>
                    <a:srgbClr val="000000"/>
                  </a:solidFill>
                </a:uFill>
                <a:latin typeface="Roboto"/>
                <a:cs typeface="Roboto"/>
              </a:rPr>
              <a:t>TP2</a:t>
            </a:r>
            <a:r>
              <a:rPr lang="es-PE" sz="1500" spc="-10" noProof="0" dirty="0">
                <a:latin typeface="Roboto"/>
                <a:cs typeface="Roboto"/>
              </a:rPr>
              <a:t>:</a:t>
            </a:r>
            <a:r>
              <a:rPr lang="es-PE" sz="1500" spc="-4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Envío</a:t>
            </a:r>
            <a:r>
              <a:rPr lang="es-PE" sz="1500" spc="-4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al término de la clase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4,</a:t>
            </a:r>
            <a:r>
              <a:rPr lang="es-PE" sz="1500" spc="-70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entrega</a:t>
            </a:r>
            <a:r>
              <a:rPr lang="es-PE" sz="1500" spc="-50" noProof="0" dirty="0">
                <a:latin typeface="Roboto"/>
                <a:cs typeface="Roboto"/>
              </a:rPr>
              <a:t> hasta dos días después de la clase 6 (23 h)</a:t>
            </a:r>
            <a:r>
              <a:rPr lang="es-PE" sz="1500" spc="-25" noProof="0" dirty="0">
                <a:latin typeface="Roboto"/>
                <a:cs typeface="Roboto"/>
              </a:rPr>
              <a:t>.</a:t>
            </a:r>
          </a:p>
          <a:p>
            <a:pPr marL="945515" lvl="2">
              <a:lnSpc>
                <a:spcPct val="100000"/>
              </a:lnSpc>
              <a:spcBef>
                <a:spcPts val="5"/>
              </a:spcBef>
              <a:tabLst>
                <a:tab pos="1275715" algn="l"/>
              </a:tabLst>
            </a:pPr>
            <a:endParaRPr lang="es-PE" sz="1500" noProof="0" dirty="0">
              <a:latin typeface="Roboto"/>
              <a:cs typeface="Roboto"/>
            </a:endParaRPr>
          </a:p>
          <a:p>
            <a:pPr marL="1275715" lvl="2" indent="-330200">
              <a:lnSpc>
                <a:spcPct val="100000"/>
              </a:lnSpc>
              <a:spcBef>
                <a:spcPts val="5"/>
              </a:spcBef>
              <a:buFont typeface="Times New Roman"/>
              <a:buChar char="○"/>
              <a:tabLst>
                <a:tab pos="1275715" algn="l"/>
              </a:tabLst>
            </a:pPr>
            <a:r>
              <a:rPr lang="es-PE" sz="1500" u="sng" spc="-10" noProof="0" dirty="0">
                <a:uFill>
                  <a:solidFill>
                    <a:srgbClr val="000000"/>
                  </a:solidFill>
                </a:uFill>
                <a:latin typeface="Roboto"/>
                <a:cs typeface="Roboto"/>
              </a:rPr>
              <a:t>TP3</a:t>
            </a:r>
            <a:r>
              <a:rPr lang="es-PE" sz="1500" spc="-10" noProof="0" dirty="0">
                <a:latin typeface="Roboto"/>
                <a:cs typeface="Roboto"/>
              </a:rPr>
              <a:t>:</a:t>
            </a:r>
            <a:r>
              <a:rPr lang="es-PE" sz="1500" spc="-4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Envío</a:t>
            </a:r>
            <a:r>
              <a:rPr lang="es-PE" sz="1500" spc="-4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al término de la clase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spc="-55" dirty="0">
                <a:latin typeface="Roboto"/>
                <a:cs typeface="Roboto"/>
              </a:rPr>
              <a:t>6</a:t>
            </a:r>
            <a:r>
              <a:rPr lang="es-PE" sz="1500" noProof="0" dirty="0">
                <a:latin typeface="Roboto"/>
                <a:cs typeface="Roboto"/>
              </a:rPr>
              <a:t>,</a:t>
            </a:r>
            <a:r>
              <a:rPr lang="es-PE" sz="1500" spc="-70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entrega</a:t>
            </a:r>
            <a:r>
              <a:rPr lang="es-PE" sz="1500" spc="-50" noProof="0" dirty="0">
                <a:latin typeface="Roboto"/>
                <a:cs typeface="Roboto"/>
              </a:rPr>
              <a:t> hasta dos días después de la clase 8 (23 h)</a:t>
            </a:r>
            <a:r>
              <a:rPr lang="es-PE" sz="1500" spc="-25" noProof="0" dirty="0">
                <a:latin typeface="Roboto"/>
                <a:cs typeface="Roboto"/>
              </a:rPr>
              <a:t>.</a:t>
            </a:r>
          </a:p>
          <a:p>
            <a:pPr marL="945515" lvl="2">
              <a:lnSpc>
                <a:spcPct val="100000"/>
              </a:lnSpc>
              <a:spcBef>
                <a:spcPts val="5"/>
              </a:spcBef>
              <a:tabLst>
                <a:tab pos="1275715" algn="l"/>
              </a:tabLst>
            </a:pPr>
            <a:endParaRPr lang="es-PE" sz="1500" spc="-25" noProof="0" dirty="0">
              <a:latin typeface="Roboto"/>
              <a:cs typeface="Roboto"/>
            </a:endParaRPr>
          </a:p>
          <a:p>
            <a:pPr marL="1275715" indent="-330200">
              <a:spcBef>
                <a:spcPts val="5"/>
              </a:spcBef>
              <a:buFont typeface="Times New Roman"/>
              <a:buChar char="○"/>
              <a:tabLst>
                <a:tab pos="1275715" algn="l"/>
              </a:tabLst>
            </a:pPr>
            <a:r>
              <a:rPr lang="es-PE" sz="1500" spc="-25" dirty="0">
                <a:latin typeface="Roboto"/>
                <a:cs typeface="Roboto"/>
              </a:rPr>
              <a:t>Los 3 trabajos tiene el mismo peso, cada uno vale un tercio de la nota final.</a:t>
            </a:r>
            <a:endParaRPr lang="es-PE" sz="1500" dirty="0">
              <a:latin typeface="Roboto"/>
              <a:cs typeface="Roboto"/>
            </a:endParaRPr>
          </a:p>
          <a:p>
            <a:pPr marL="1275715" lvl="2" indent="-330200">
              <a:lnSpc>
                <a:spcPct val="100000"/>
              </a:lnSpc>
              <a:spcBef>
                <a:spcPts val="5"/>
              </a:spcBef>
              <a:buFont typeface="Times New Roman"/>
              <a:buChar char="○"/>
              <a:tabLst>
                <a:tab pos="1275715" algn="l"/>
              </a:tabLst>
            </a:pPr>
            <a:endParaRPr lang="es-PE" sz="1900" b="1" spc="-10" noProof="0" dirty="0">
              <a:latin typeface="Roboto"/>
              <a:cs typeface="Roboto"/>
            </a:endParaRPr>
          </a:p>
          <a:p>
            <a:pPr marL="361315" indent="-348615">
              <a:lnSpc>
                <a:spcPct val="100000"/>
              </a:lnSpc>
              <a:spcBef>
                <a:spcPts val="95"/>
              </a:spcBef>
              <a:buFont typeface="Times New Roman"/>
              <a:buChar char="●"/>
              <a:tabLst>
                <a:tab pos="361315" algn="l"/>
              </a:tabLst>
            </a:pPr>
            <a:r>
              <a:rPr lang="es-PE" sz="1900" b="1" spc="-10" noProof="0" dirty="0">
                <a:latin typeface="Roboto"/>
                <a:cs typeface="Roboto"/>
              </a:rPr>
              <a:t>MATERIAL DE CLASE</a:t>
            </a:r>
          </a:p>
          <a:p>
            <a:pPr lvl="2">
              <a:lnSpc>
                <a:spcPct val="100000"/>
              </a:lnSpc>
            </a:pPr>
            <a:endParaRPr lang="es-PE" sz="1600" noProof="0" dirty="0">
              <a:latin typeface="Roboto"/>
              <a:cs typeface="Roboto"/>
            </a:endParaRPr>
          </a:p>
          <a:p>
            <a:pPr marL="818515" lvl="1" indent="-330835">
              <a:lnSpc>
                <a:spcPct val="100000"/>
              </a:lnSpc>
              <a:buFont typeface="Times New Roman"/>
              <a:buChar char="○"/>
              <a:tabLst>
                <a:tab pos="818515" algn="l"/>
              </a:tabLst>
            </a:pPr>
            <a:r>
              <a:rPr lang="es-PE" sz="1600" noProof="0" dirty="0">
                <a:latin typeface="Roboto"/>
                <a:cs typeface="Roboto"/>
              </a:rPr>
              <a:t>Los</a:t>
            </a:r>
            <a:r>
              <a:rPr lang="es-PE" sz="1600" spc="-5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contenidos</a:t>
            </a:r>
            <a:r>
              <a:rPr lang="es-PE" sz="1600" spc="-3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estarán</a:t>
            </a:r>
            <a:r>
              <a:rPr lang="es-PE" sz="1600" spc="-35" noProof="0" dirty="0">
                <a:latin typeface="Roboto"/>
                <a:cs typeface="Roboto"/>
              </a:rPr>
              <a:t> </a:t>
            </a:r>
            <a:r>
              <a:rPr lang="es-PE" sz="1600" spc="-20" noProof="0" dirty="0">
                <a:latin typeface="Roboto"/>
                <a:cs typeface="Roboto"/>
              </a:rPr>
              <a:t>disponibles</a:t>
            </a:r>
            <a:r>
              <a:rPr lang="es-PE" sz="1600" spc="-2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en</a:t>
            </a:r>
            <a:r>
              <a:rPr lang="es-PE" sz="1600" spc="-40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el</a:t>
            </a:r>
            <a:r>
              <a:rPr lang="es-PE" sz="1600" spc="-30" noProof="0" dirty="0">
                <a:latin typeface="Roboto"/>
                <a:cs typeface="Roboto"/>
              </a:rPr>
              <a:t> </a:t>
            </a:r>
            <a:r>
              <a:rPr lang="es-PE" sz="1600" b="1" u="sng" noProof="0" dirty="0">
                <a:solidFill>
                  <a:srgbClr val="1A227D"/>
                </a:solidFill>
                <a:uFill>
                  <a:solidFill>
                    <a:srgbClr val="1A227D"/>
                  </a:solidFill>
                </a:uFill>
                <a:latin typeface="Roboto"/>
                <a:cs typeface="Roboto"/>
                <a:hlinkClick r:id="rId3"/>
              </a:rPr>
              <a:t>repositorio</a:t>
            </a:r>
            <a:r>
              <a:rPr lang="es-PE" sz="1600" spc="-10" noProof="0" dirty="0">
                <a:latin typeface="Roboto"/>
                <a:cs typeface="Roboto"/>
              </a:rPr>
              <a:t>.</a:t>
            </a:r>
          </a:p>
          <a:p>
            <a:pPr marL="487680" lvl="1">
              <a:lnSpc>
                <a:spcPct val="100000"/>
              </a:lnSpc>
              <a:tabLst>
                <a:tab pos="818515" algn="l"/>
              </a:tabLst>
            </a:pPr>
            <a:endParaRPr lang="es-PE" sz="16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798B0-0E53-0F33-7A8B-9D5A05AA3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18D14D-1490-E0C7-9CF1-2AA1B84321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10" dirty="0"/>
              <a:t>Introducción al curso</a:t>
            </a:r>
            <a:endParaRPr lang="es-PE" spc="-10" noProof="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B87DE27-650B-723B-433F-03CE982046B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FCB437AF-2405-4FF0-FB99-7AA54C70A621}"/>
              </a:ext>
            </a:extLst>
          </p:cNvPr>
          <p:cNvSpPr txBox="1"/>
          <p:nvPr/>
        </p:nvSpPr>
        <p:spPr>
          <a:xfrm>
            <a:off x="381000" y="590550"/>
            <a:ext cx="7086600" cy="25256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lvl="1">
              <a:lnSpc>
                <a:spcPct val="100000"/>
              </a:lnSpc>
              <a:spcBef>
                <a:spcPts val="1350"/>
              </a:spcBef>
            </a:pPr>
            <a:endParaRPr lang="es-PE" noProof="0" dirty="0">
              <a:latin typeface="Roboto"/>
              <a:cs typeface="Roboto"/>
            </a:endParaRPr>
          </a:p>
          <a:p>
            <a:pPr marL="361315" indent="-342900">
              <a:lnSpc>
                <a:spcPct val="100000"/>
              </a:lnSpc>
              <a:buFont typeface="Times New Roman"/>
              <a:buChar char="●"/>
              <a:tabLst>
                <a:tab pos="361315" algn="l"/>
              </a:tabLst>
            </a:pPr>
            <a:r>
              <a:rPr lang="es-PE" sz="2000" b="1" spc="-1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CORREOS DE CONSULTA</a:t>
            </a:r>
            <a:endParaRPr lang="es-PE" sz="2000" b="1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818515" lvl="1" indent="-322580">
              <a:lnSpc>
                <a:spcPct val="100000"/>
              </a:lnSpc>
              <a:spcBef>
                <a:spcPts val="975"/>
              </a:spcBef>
              <a:buFont typeface="Times New Roman"/>
              <a:buChar char="○"/>
              <a:tabLst>
                <a:tab pos="818515" algn="l"/>
              </a:tabLst>
            </a:pPr>
            <a:r>
              <a:rPr lang="es-PE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Marcos</a:t>
            </a:r>
            <a:r>
              <a:rPr lang="es-PE" spc="-4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PE" spc="-1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Maillot:</a:t>
            </a:r>
            <a:r>
              <a:rPr lang="es-PE" spc="-5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PE" spc="-1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marcos_maillot@yahoo.com.ar</a:t>
            </a:r>
            <a:endParaRPr lang="es-PE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818515" lvl="1" indent="-322580">
              <a:lnSpc>
                <a:spcPct val="100000"/>
              </a:lnSpc>
              <a:spcBef>
                <a:spcPts val="900"/>
              </a:spcBef>
              <a:buFont typeface="Times New Roman"/>
              <a:buChar char="○"/>
              <a:tabLst>
                <a:tab pos="818515" algn="l"/>
              </a:tabLst>
            </a:pPr>
            <a:r>
              <a:rPr lang="es-PE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Gerardo</a:t>
            </a:r>
            <a:r>
              <a:rPr lang="es-PE" spc="-3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PE" spc="-1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Vilcamiza:</a:t>
            </a:r>
            <a:r>
              <a:rPr lang="es-PE" spc="-5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P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gvilcamiza.ext@fi.uba.ar</a:t>
            </a:r>
            <a:endParaRPr lang="es-P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818515" lvl="1" indent="-322580">
              <a:lnSpc>
                <a:spcPct val="100000"/>
              </a:lnSpc>
              <a:spcBef>
                <a:spcPts val="900"/>
              </a:spcBef>
              <a:buFont typeface="Times New Roman"/>
              <a:buChar char="○"/>
              <a:tabLst>
                <a:tab pos="818515" algn="l"/>
              </a:tabLst>
            </a:pPr>
            <a:r>
              <a:rPr lang="es-P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Clase: </a:t>
            </a:r>
            <a:r>
              <a:rPr lang="es-PE" dirty="0">
                <a:hlinkClick r:id="rId5"/>
              </a:rPr>
              <a:t>ap_a22@cursoscapse.com</a:t>
            </a:r>
            <a:endParaRPr lang="es-PE" dirty="0"/>
          </a:p>
          <a:p>
            <a:pPr marL="495935" lvl="1">
              <a:lnSpc>
                <a:spcPct val="100000"/>
              </a:lnSpc>
              <a:spcBef>
                <a:spcPts val="900"/>
              </a:spcBef>
              <a:tabLst>
                <a:tab pos="818515" algn="l"/>
              </a:tabLst>
            </a:pPr>
            <a:endParaRPr lang="es-P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818515" lvl="1" indent="-322580">
              <a:lnSpc>
                <a:spcPct val="100000"/>
              </a:lnSpc>
              <a:spcBef>
                <a:spcPts val="900"/>
              </a:spcBef>
              <a:buFont typeface="Times New Roman"/>
              <a:buChar char="○"/>
              <a:tabLst>
                <a:tab pos="818515" algn="l"/>
              </a:tabLst>
            </a:pPr>
            <a:endParaRPr lang="es-PE" sz="1600" noProof="0" dirty="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279912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10" noProof="0" dirty="0"/>
              <a:t>Contenido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DD9D880B-6505-6CC3-0917-A345B9EBA38E}"/>
              </a:ext>
            </a:extLst>
          </p:cNvPr>
          <p:cNvGrpSpPr/>
          <p:nvPr/>
        </p:nvGrpSpPr>
        <p:grpSpPr>
          <a:xfrm>
            <a:off x="1524000" y="590550"/>
            <a:ext cx="6019799" cy="4307497"/>
            <a:chOff x="1752600" y="587997"/>
            <a:chExt cx="6019799" cy="4307497"/>
          </a:xfrm>
        </p:grpSpPr>
        <p:sp>
          <p:nvSpPr>
            <p:cNvPr id="4" name="object 4"/>
            <p:cNvSpPr txBox="1"/>
            <p:nvPr/>
          </p:nvSpPr>
          <p:spPr>
            <a:xfrm>
              <a:off x="1752600" y="895350"/>
              <a:ext cx="5867400" cy="364009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52425" indent="-335280">
                <a:lnSpc>
                  <a:spcPct val="100000"/>
                </a:lnSpc>
                <a:spcBef>
                  <a:spcPts val="105"/>
                </a:spcBef>
                <a:buSzPct val="121428"/>
                <a:buFont typeface="Times New Roman"/>
                <a:buChar char="●"/>
                <a:tabLst>
                  <a:tab pos="352425" algn="l"/>
                </a:tabLst>
              </a:pPr>
              <a:r>
                <a:rPr lang="es-PE" sz="1400" b="1" noProof="0" dirty="0">
                  <a:latin typeface="Roboto"/>
                  <a:cs typeface="Roboto"/>
                </a:rPr>
                <a:t>Clase</a:t>
              </a:r>
              <a:r>
                <a:rPr lang="es-PE" sz="1400" b="1" spc="-35" noProof="0" dirty="0">
                  <a:latin typeface="Roboto"/>
                  <a:cs typeface="Roboto"/>
                </a:rPr>
                <a:t> </a:t>
              </a:r>
              <a:r>
                <a:rPr lang="es-PE" sz="1400" b="1" noProof="0" dirty="0">
                  <a:latin typeface="Roboto"/>
                  <a:cs typeface="Roboto"/>
                </a:rPr>
                <a:t>1</a:t>
              </a:r>
              <a:r>
                <a:rPr lang="es-PE" sz="1400" noProof="0" dirty="0">
                  <a:latin typeface="Roboto"/>
                  <a:cs typeface="Roboto"/>
                </a:rPr>
                <a:t>:</a:t>
              </a:r>
              <a:r>
                <a:rPr lang="es-PE" sz="1400" spc="-5" noProof="0" dirty="0">
                  <a:latin typeface="Roboto"/>
                  <a:cs typeface="Roboto"/>
                </a:rPr>
                <a:t> </a:t>
              </a:r>
              <a:r>
                <a:rPr lang="es-PE" sz="1400" spc="-20" noProof="0" dirty="0">
                  <a:latin typeface="Roboto"/>
                  <a:cs typeface="Roboto"/>
                </a:rPr>
                <a:t>Introducción </a:t>
              </a:r>
              <a:r>
                <a:rPr lang="es-PE" sz="1400" noProof="0" dirty="0">
                  <a:latin typeface="Roboto"/>
                  <a:cs typeface="Roboto"/>
                </a:rPr>
                <a:t>al</a:t>
              </a:r>
              <a:r>
                <a:rPr lang="es-PE" sz="1400" spc="-5" noProof="0" dirty="0">
                  <a:latin typeface="Roboto"/>
                  <a:cs typeface="Roboto"/>
                </a:rPr>
                <a:t> </a:t>
              </a:r>
              <a:r>
                <a:rPr lang="es-PE" sz="1400" noProof="0" dirty="0">
                  <a:latin typeface="Roboto"/>
                  <a:cs typeface="Roboto"/>
                </a:rPr>
                <a:t>Deep</a:t>
              </a:r>
              <a:r>
                <a:rPr lang="es-PE" sz="1400" spc="-10" noProof="0" dirty="0">
                  <a:latin typeface="Roboto"/>
                  <a:cs typeface="Roboto"/>
                </a:rPr>
                <a:t> </a:t>
              </a:r>
              <a:r>
                <a:rPr lang="es-PE" sz="1400" spc="-20" noProof="0" dirty="0" err="1">
                  <a:latin typeface="Roboto"/>
                  <a:cs typeface="Roboto"/>
                </a:rPr>
                <a:t>Learning</a:t>
              </a:r>
              <a:r>
                <a:rPr lang="es-PE" sz="1400" spc="-20" dirty="0">
                  <a:latin typeface="Roboto"/>
                  <a:cs typeface="Roboto"/>
                </a:rPr>
                <a:t>, r</a:t>
              </a:r>
              <a:r>
                <a:rPr lang="es-PE" sz="1400" noProof="0" dirty="0" err="1">
                  <a:latin typeface="Roboto"/>
                  <a:cs typeface="Roboto"/>
                </a:rPr>
                <a:t>edes</a:t>
              </a:r>
              <a:r>
                <a:rPr lang="es-PE" sz="1400" spc="-50" noProof="0" dirty="0">
                  <a:latin typeface="Roboto"/>
                  <a:cs typeface="Roboto"/>
                </a:rPr>
                <a:t> neuronales</a:t>
              </a:r>
              <a:r>
                <a:rPr lang="es-PE" sz="1400" spc="-50" dirty="0">
                  <a:latin typeface="Roboto"/>
                  <a:cs typeface="Roboto"/>
                </a:rPr>
                <a:t> y f</a:t>
              </a:r>
              <a:r>
                <a:rPr lang="es-PE" sz="1400" spc="-50" noProof="0" dirty="0" err="1">
                  <a:latin typeface="Roboto"/>
                  <a:cs typeface="Roboto"/>
                </a:rPr>
                <a:t>orward</a:t>
              </a:r>
              <a:r>
                <a:rPr lang="es-PE" sz="1400" spc="-50" noProof="0" dirty="0">
                  <a:latin typeface="Roboto"/>
                  <a:cs typeface="Roboto"/>
                </a:rPr>
                <a:t> </a:t>
              </a:r>
              <a:r>
                <a:rPr lang="es-PE" sz="1400" spc="-50" noProof="0" dirty="0" err="1">
                  <a:latin typeface="Roboto"/>
                  <a:cs typeface="Roboto"/>
                </a:rPr>
                <a:t>pass</a:t>
              </a:r>
              <a:endParaRPr lang="es-PE" sz="1400" noProof="0" dirty="0">
                <a:latin typeface="Roboto"/>
                <a:cs typeface="Roboto"/>
              </a:endParaRPr>
            </a:p>
            <a:p>
              <a:pPr>
                <a:lnSpc>
                  <a:spcPct val="100000"/>
                </a:lnSpc>
                <a:spcBef>
                  <a:spcPts val="150"/>
                </a:spcBef>
                <a:buFont typeface="Times New Roman"/>
                <a:buChar char="●"/>
              </a:pPr>
              <a:endParaRPr lang="es-PE" sz="1400" noProof="0" dirty="0">
                <a:latin typeface="Roboto"/>
                <a:cs typeface="Roboto"/>
              </a:endParaRPr>
            </a:p>
            <a:p>
              <a:pPr marL="352425" indent="-339725">
                <a:lnSpc>
                  <a:spcPct val="100000"/>
                </a:lnSpc>
                <a:spcBef>
                  <a:spcPts val="5"/>
                </a:spcBef>
                <a:buSzPct val="128571"/>
                <a:buFont typeface="Times New Roman"/>
                <a:buChar char="●"/>
                <a:tabLst>
                  <a:tab pos="352425" algn="l"/>
                </a:tabLst>
              </a:pPr>
              <a:r>
                <a:rPr lang="es-PE" sz="1400" b="1" noProof="0" dirty="0">
                  <a:latin typeface="Roboto"/>
                  <a:cs typeface="Roboto"/>
                </a:rPr>
                <a:t>Clase</a:t>
              </a:r>
              <a:r>
                <a:rPr lang="es-PE" sz="1400" b="1" spc="-20" noProof="0" dirty="0">
                  <a:latin typeface="Roboto"/>
                  <a:cs typeface="Roboto"/>
                </a:rPr>
                <a:t> </a:t>
              </a:r>
              <a:r>
                <a:rPr lang="es-PE" sz="1400" b="1" noProof="0" dirty="0">
                  <a:latin typeface="Roboto"/>
                  <a:cs typeface="Roboto"/>
                </a:rPr>
                <a:t>2</a:t>
              </a:r>
              <a:r>
                <a:rPr lang="es-PE" sz="1400" noProof="0" dirty="0">
                  <a:latin typeface="Roboto"/>
                  <a:cs typeface="Roboto"/>
                </a:rPr>
                <a:t>:</a:t>
              </a:r>
              <a:r>
                <a:rPr lang="es-PE" sz="1400" spc="5" noProof="0" dirty="0">
                  <a:latin typeface="Roboto"/>
                  <a:cs typeface="Roboto"/>
                </a:rPr>
                <a:t> </a:t>
              </a:r>
              <a:r>
                <a:rPr lang="es-PE" sz="1400" spc="5" dirty="0">
                  <a:latin typeface="Roboto"/>
                  <a:cs typeface="Roboto"/>
                </a:rPr>
                <a:t>B</a:t>
              </a:r>
              <a:r>
                <a:rPr lang="es-PE" sz="1400" spc="5" noProof="0" dirty="0" err="1">
                  <a:latin typeface="Roboto"/>
                  <a:cs typeface="Roboto"/>
                </a:rPr>
                <a:t>ackpropagation</a:t>
              </a:r>
              <a:r>
                <a:rPr lang="es-PE" sz="1400" spc="5" noProof="0" dirty="0">
                  <a:latin typeface="Roboto"/>
                  <a:cs typeface="Roboto"/>
                </a:rPr>
                <a:t>, </a:t>
              </a:r>
              <a:r>
                <a:rPr lang="es-PE" sz="1400" spc="-20" dirty="0">
                  <a:latin typeface="Roboto"/>
                  <a:cs typeface="Roboto"/>
                </a:rPr>
                <a:t>f</a:t>
              </a:r>
              <a:r>
                <a:rPr lang="es-PE" sz="1400" spc="-20" noProof="0" dirty="0">
                  <a:latin typeface="Roboto"/>
                  <a:cs typeface="Roboto"/>
                </a:rPr>
                <a:t>unciones</a:t>
              </a:r>
              <a:r>
                <a:rPr lang="es-PE" sz="1400" spc="-35" noProof="0" dirty="0">
                  <a:latin typeface="Roboto"/>
                  <a:cs typeface="Roboto"/>
                </a:rPr>
                <a:t> </a:t>
              </a:r>
              <a:r>
                <a:rPr lang="es-PE" sz="1400" noProof="0" dirty="0">
                  <a:latin typeface="Roboto"/>
                  <a:cs typeface="Roboto"/>
                </a:rPr>
                <a:t>de</a:t>
              </a:r>
              <a:r>
                <a:rPr lang="es-PE" sz="1400" spc="5" noProof="0" dirty="0">
                  <a:latin typeface="Roboto"/>
                  <a:cs typeface="Roboto"/>
                </a:rPr>
                <a:t> </a:t>
              </a:r>
              <a:r>
                <a:rPr lang="es-PE" sz="1400" spc="-10" noProof="0" dirty="0">
                  <a:latin typeface="Roboto"/>
                  <a:cs typeface="Roboto"/>
                </a:rPr>
                <a:t>activación, funciones de costo y algoritmos de optimización</a:t>
              </a:r>
              <a:endParaRPr lang="es-PE" sz="1400" noProof="0" dirty="0">
                <a:latin typeface="Roboto"/>
                <a:cs typeface="Roboto"/>
              </a:endParaRPr>
            </a:p>
            <a:p>
              <a:pPr>
                <a:lnSpc>
                  <a:spcPct val="100000"/>
                </a:lnSpc>
                <a:spcBef>
                  <a:spcPts val="155"/>
                </a:spcBef>
                <a:buFont typeface="Times New Roman"/>
                <a:buChar char="●"/>
              </a:pPr>
              <a:endParaRPr lang="es-PE" sz="1400" noProof="0" dirty="0">
                <a:latin typeface="Roboto"/>
                <a:cs typeface="Roboto"/>
              </a:endParaRPr>
            </a:p>
            <a:p>
              <a:pPr marL="352425" indent="-339725">
                <a:lnSpc>
                  <a:spcPct val="100000"/>
                </a:lnSpc>
                <a:buSzPct val="128571"/>
                <a:buFont typeface="Times New Roman"/>
                <a:buChar char="●"/>
                <a:tabLst>
                  <a:tab pos="352425" algn="l"/>
                </a:tabLst>
              </a:pPr>
              <a:r>
                <a:rPr lang="es-PE" sz="1400" b="1" noProof="0" dirty="0">
                  <a:latin typeface="Roboto"/>
                  <a:cs typeface="Roboto"/>
                </a:rPr>
                <a:t>Clase</a:t>
              </a:r>
              <a:r>
                <a:rPr lang="es-PE" sz="1400" b="1" spc="-20" noProof="0" dirty="0">
                  <a:latin typeface="Roboto"/>
                  <a:cs typeface="Roboto"/>
                </a:rPr>
                <a:t> </a:t>
              </a:r>
              <a:r>
                <a:rPr lang="es-PE" sz="1400" b="1" noProof="0" dirty="0">
                  <a:latin typeface="Roboto"/>
                  <a:cs typeface="Roboto"/>
                </a:rPr>
                <a:t>3</a:t>
              </a:r>
              <a:r>
                <a:rPr lang="es-PE" sz="1400" noProof="0" dirty="0">
                  <a:latin typeface="Roboto"/>
                  <a:cs typeface="Roboto"/>
                </a:rPr>
                <a:t>:</a:t>
              </a:r>
              <a:r>
                <a:rPr lang="es-PE" sz="1400" spc="5" noProof="0" dirty="0">
                  <a:latin typeface="Roboto"/>
                  <a:cs typeface="Roboto"/>
                </a:rPr>
                <a:t> Introducción al </a:t>
              </a:r>
              <a:r>
                <a:rPr lang="es-PE" sz="1400" spc="5" noProof="0" dirty="0" err="1">
                  <a:latin typeface="Roboto"/>
                  <a:cs typeface="Roboto"/>
                </a:rPr>
                <a:t>framework</a:t>
              </a:r>
              <a:r>
                <a:rPr lang="es-PE" sz="1400" spc="5" noProof="0" dirty="0">
                  <a:latin typeface="Roboto"/>
                  <a:cs typeface="Roboto"/>
                </a:rPr>
                <a:t> </a:t>
              </a:r>
              <a:r>
                <a:rPr lang="es-PE" sz="1400" spc="-10" noProof="0" dirty="0" err="1">
                  <a:latin typeface="Roboto"/>
                  <a:cs typeface="Roboto"/>
                </a:rPr>
                <a:t>PyTorch</a:t>
              </a:r>
              <a:endParaRPr lang="es-PE" sz="1400" noProof="0" dirty="0">
                <a:latin typeface="Roboto"/>
                <a:cs typeface="Roboto"/>
              </a:endParaRPr>
            </a:p>
            <a:p>
              <a:pPr>
                <a:lnSpc>
                  <a:spcPct val="100000"/>
                </a:lnSpc>
                <a:spcBef>
                  <a:spcPts val="170"/>
                </a:spcBef>
                <a:buFont typeface="Times New Roman"/>
                <a:buChar char="●"/>
              </a:pPr>
              <a:endParaRPr lang="es-PE" sz="1400" noProof="0" dirty="0">
                <a:latin typeface="Roboto"/>
                <a:cs typeface="Roboto"/>
              </a:endParaRPr>
            </a:p>
            <a:p>
              <a:pPr marL="352425" indent="-339725">
                <a:lnSpc>
                  <a:spcPct val="100000"/>
                </a:lnSpc>
                <a:buSzPct val="128571"/>
                <a:buFont typeface="Times New Roman"/>
                <a:buChar char="●"/>
                <a:tabLst>
                  <a:tab pos="352425" algn="l"/>
                </a:tabLst>
              </a:pPr>
              <a:r>
                <a:rPr lang="es-PE" sz="1400" b="1" noProof="0" dirty="0">
                  <a:latin typeface="Roboto"/>
                  <a:cs typeface="Roboto"/>
                </a:rPr>
                <a:t>Clase</a:t>
              </a:r>
              <a:r>
                <a:rPr lang="es-PE" sz="1400" b="1" spc="-20" noProof="0" dirty="0">
                  <a:latin typeface="Roboto"/>
                  <a:cs typeface="Roboto"/>
                </a:rPr>
                <a:t> </a:t>
              </a:r>
              <a:r>
                <a:rPr lang="es-PE" sz="1400" b="1" noProof="0" dirty="0">
                  <a:latin typeface="Roboto"/>
                  <a:cs typeface="Roboto"/>
                </a:rPr>
                <a:t>4</a:t>
              </a:r>
              <a:r>
                <a:rPr lang="es-PE" sz="1400" noProof="0" dirty="0">
                  <a:latin typeface="Roboto"/>
                  <a:cs typeface="Roboto"/>
                </a:rPr>
                <a:t>: </a:t>
              </a:r>
              <a:r>
                <a:rPr lang="es-PE" sz="1400" spc="-20" noProof="0" dirty="0">
                  <a:latin typeface="Roboto"/>
                  <a:cs typeface="Roboto"/>
                </a:rPr>
                <a:t>Regularización,</a:t>
              </a:r>
              <a:r>
                <a:rPr lang="es-PE" sz="1400" spc="-25" noProof="0" dirty="0">
                  <a:latin typeface="Roboto"/>
                  <a:cs typeface="Roboto"/>
                </a:rPr>
                <a:t> </a:t>
              </a:r>
              <a:r>
                <a:rPr lang="es-PE" sz="1400" spc="-10" noProof="0" dirty="0" err="1">
                  <a:latin typeface="Roboto"/>
                  <a:cs typeface="Roboto"/>
                </a:rPr>
                <a:t>hyperparameter</a:t>
              </a:r>
              <a:r>
                <a:rPr lang="es-PE" sz="1400" spc="-10" noProof="0" dirty="0">
                  <a:latin typeface="Roboto"/>
                  <a:cs typeface="Roboto"/>
                </a:rPr>
                <a:t> </a:t>
              </a:r>
              <a:r>
                <a:rPr lang="es-PE" sz="1400" spc="-20" noProof="0" dirty="0" err="1">
                  <a:latin typeface="Roboto"/>
                  <a:cs typeface="Roboto"/>
                </a:rPr>
                <a:t>tuning</a:t>
              </a:r>
              <a:r>
                <a:rPr lang="es-PE" sz="1400" spc="-20" dirty="0">
                  <a:latin typeface="Roboto"/>
                  <a:cs typeface="Roboto"/>
                </a:rPr>
                <a:t> y </a:t>
              </a:r>
              <a:r>
                <a:rPr lang="es-PE" sz="1400" spc="-10" noProof="0" dirty="0" err="1">
                  <a:latin typeface="Roboto"/>
                  <a:cs typeface="Roboto"/>
                </a:rPr>
                <a:t>embeddings</a:t>
              </a:r>
              <a:endParaRPr lang="es-PE" sz="1400" noProof="0" dirty="0">
                <a:latin typeface="Roboto"/>
                <a:cs typeface="Roboto"/>
              </a:endParaRPr>
            </a:p>
            <a:p>
              <a:pPr>
                <a:lnSpc>
                  <a:spcPct val="100000"/>
                </a:lnSpc>
                <a:spcBef>
                  <a:spcPts val="155"/>
                </a:spcBef>
                <a:buFont typeface="Times New Roman"/>
                <a:buChar char="●"/>
              </a:pPr>
              <a:endParaRPr lang="es-PE" sz="1400" noProof="0" dirty="0">
                <a:latin typeface="Roboto"/>
                <a:cs typeface="Roboto"/>
              </a:endParaRPr>
            </a:p>
            <a:p>
              <a:pPr marL="352425" indent="-339725">
                <a:lnSpc>
                  <a:spcPct val="100000"/>
                </a:lnSpc>
                <a:buSzPct val="128571"/>
                <a:buFont typeface="Times New Roman"/>
                <a:buChar char="●"/>
                <a:tabLst>
                  <a:tab pos="352425" algn="l"/>
                </a:tabLst>
              </a:pPr>
              <a:r>
                <a:rPr lang="es-PE" sz="1400" b="1" noProof="0" dirty="0">
                  <a:latin typeface="Roboto"/>
                  <a:cs typeface="Roboto"/>
                </a:rPr>
                <a:t>Clase</a:t>
              </a:r>
              <a:r>
                <a:rPr lang="es-PE" sz="1400" b="1" spc="-5" noProof="0" dirty="0">
                  <a:latin typeface="Roboto"/>
                  <a:cs typeface="Roboto"/>
                </a:rPr>
                <a:t> </a:t>
              </a:r>
              <a:r>
                <a:rPr lang="es-PE" sz="1400" b="1" noProof="0" dirty="0">
                  <a:latin typeface="Roboto"/>
                  <a:cs typeface="Roboto"/>
                </a:rPr>
                <a:t>5</a:t>
              </a:r>
              <a:r>
                <a:rPr lang="es-PE" sz="1400" noProof="0" dirty="0">
                  <a:latin typeface="Roboto"/>
                  <a:cs typeface="Roboto"/>
                </a:rPr>
                <a:t>:</a:t>
              </a:r>
              <a:r>
                <a:rPr lang="es-PE" sz="1400" spc="20" noProof="0" dirty="0">
                  <a:latin typeface="Roboto"/>
                  <a:cs typeface="Roboto"/>
                </a:rPr>
                <a:t> </a:t>
              </a:r>
              <a:r>
                <a:rPr lang="es-PE" sz="1400" spc="-20" noProof="0" dirty="0" err="1">
                  <a:latin typeface="Roboto"/>
                  <a:cs typeface="Roboto"/>
                </a:rPr>
                <a:t>Convolutional</a:t>
              </a:r>
              <a:r>
                <a:rPr lang="es-PE" sz="1400" spc="-15" noProof="0" dirty="0">
                  <a:latin typeface="Roboto"/>
                  <a:cs typeface="Roboto"/>
                </a:rPr>
                <a:t> </a:t>
              </a:r>
              <a:r>
                <a:rPr lang="es-PE" sz="1400" spc="-10" noProof="0" dirty="0">
                  <a:latin typeface="Roboto"/>
                  <a:cs typeface="Roboto"/>
                </a:rPr>
                <a:t>Neural Networks (</a:t>
              </a:r>
              <a:r>
                <a:rPr lang="es-PE" sz="1400" spc="-10" noProof="0" dirty="0" err="1">
                  <a:latin typeface="Roboto"/>
                  <a:cs typeface="Roboto"/>
                </a:rPr>
                <a:t>CNNs</a:t>
              </a:r>
              <a:r>
                <a:rPr lang="es-PE" sz="1400" spc="-10" noProof="0" dirty="0">
                  <a:latin typeface="Roboto"/>
                  <a:cs typeface="Roboto"/>
                </a:rPr>
                <a:t>)</a:t>
              </a:r>
              <a:endParaRPr lang="es-PE" sz="1400" noProof="0" dirty="0">
                <a:latin typeface="Roboto"/>
                <a:cs typeface="Roboto"/>
              </a:endParaRPr>
            </a:p>
            <a:p>
              <a:pPr>
                <a:lnSpc>
                  <a:spcPct val="100000"/>
                </a:lnSpc>
                <a:spcBef>
                  <a:spcPts val="155"/>
                </a:spcBef>
                <a:buFont typeface="Times New Roman"/>
                <a:buChar char="●"/>
              </a:pPr>
              <a:endParaRPr lang="es-PE" sz="1400" noProof="0" dirty="0">
                <a:latin typeface="Roboto"/>
                <a:cs typeface="Roboto"/>
              </a:endParaRPr>
            </a:p>
            <a:p>
              <a:pPr marL="352425" indent="-339725">
                <a:lnSpc>
                  <a:spcPct val="100000"/>
                </a:lnSpc>
                <a:spcBef>
                  <a:spcPts val="5"/>
                </a:spcBef>
                <a:buSzPct val="128571"/>
                <a:buFont typeface="Times New Roman"/>
                <a:buChar char="●"/>
                <a:tabLst>
                  <a:tab pos="352425" algn="l"/>
                </a:tabLst>
              </a:pPr>
              <a:r>
                <a:rPr lang="es-PE" sz="1400" b="1" noProof="0" dirty="0">
                  <a:latin typeface="Roboto"/>
                  <a:cs typeface="Roboto"/>
                </a:rPr>
                <a:t>Clase</a:t>
              </a:r>
              <a:r>
                <a:rPr lang="es-PE" sz="1400" b="1" spc="-50" noProof="0" dirty="0">
                  <a:latin typeface="Roboto"/>
                  <a:cs typeface="Roboto"/>
                </a:rPr>
                <a:t> </a:t>
              </a:r>
              <a:r>
                <a:rPr lang="es-PE" sz="1400" b="1" noProof="0" dirty="0">
                  <a:latin typeface="Roboto"/>
                  <a:cs typeface="Roboto"/>
                </a:rPr>
                <a:t>6</a:t>
              </a:r>
              <a:r>
                <a:rPr lang="es-PE" sz="1400" noProof="0" dirty="0">
                  <a:latin typeface="Roboto"/>
                  <a:cs typeface="Roboto"/>
                </a:rPr>
                <a:t>:</a:t>
              </a:r>
              <a:r>
                <a:rPr lang="es-PE" sz="1400" spc="-30" noProof="0" dirty="0">
                  <a:latin typeface="Roboto"/>
                  <a:cs typeface="Roboto"/>
                </a:rPr>
                <a:t> </a:t>
              </a:r>
              <a:r>
                <a:rPr lang="es-PE" sz="1400" spc="-20" noProof="0" dirty="0" err="1">
                  <a:latin typeface="Roboto"/>
                  <a:cs typeface="Roboto"/>
                </a:rPr>
                <a:t>Recurrent</a:t>
              </a:r>
              <a:r>
                <a:rPr lang="es-PE" sz="1400" spc="-60" noProof="0" dirty="0">
                  <a:latin typeface="Roboto"/>
                  <a:cs typeface="Roboto"/>
                </a:rPr>
                <a:t> </a:t>
              </a:r>
              <a:r>
                <a:rPr lang="es-PE" sz="1400" noProof="0" dirty="0">
                  <a:latin typeface="Roboto"/>
                  <a:cs typeface="Roboto"/>
                </a:rPr>
                <a:t>Neural</a:t>
              </a:r>
              <a:r>
                <a:rPr lang="es-PE" sz="1400" spc="-45" noProof="0" dirty="0">
                  <a:latin typeface="Roboto"/>
                  <a:cs typeface="Roboto"/>
                </a:rPr>
                <a:t> </a:t>
              </a:r>
              <a:r>
                <a:rPr lang="es-PE" sz="1400" noProof="0" dirty="0">
                  <a:latin typeface="Roboto"/>
                  <a:cs typeface="Roboto"/>
                </a:rPr>
                <a:t>Networks (</a:t>
              </a:r>
              <a:r>
                <a:rPr lang="es-PE" sz="1400" noProof="0" dirty="0" err="1">
                  <a:latin typeface="Roboto"/>
                  <a:cs typeface="Roboto"/>
                </a:rPr>
                <a:t>RNNs</a:t>
              </a:r>
              <a:r>
                <a:rPr lang="es-PE" sz="1400" noProof="0" dirty="0">
                  <a:latin typeface="Roboto"/>
                  <a:cs typeface="Roboto"/>
                </a:rPr>
                <a:t>).</a:t>
              </a:r>
              <a:r>
                <a:rPr lang="es-PE" sz="1400" spc="-30" noProof="0" dirty="0">
                  <a:latin typeface="Roboto"/>
                  <a:cs typeface="Roboto"/>
                </a:rPr>
                <a:t> </a:t>
              </a:r>
              <a:r>
                <a:rPr lang="es-PE" sz="1400" spc="-10" noProof="0" dirty="0" err="1">
                  <a:latin typeface="Roboto"/>
                  <a:cs typeface="Roboto"/>
                </a:rPr>
                <a:t>Attention</a:t>
              </a:r>
              <a:r>
                <a:rPr lang="es-PE" sz="1400" spc="-25" noProof="0" dirty="0">
                  <a:latin typeface="Roboto"/>
                  <a:cs typeface="Roboto"/>
                </a:rPr>
                <a:t> </a:t>
              </a:r>
              <a:r>
                <a:rPr lang="es-PE" sz="1400" spc="-10" noProof="0" dirty="0" err="1">
                  <a:latin typeface="Roboto"/>
                  <a:cs typeface="Roboto"/>
                </a:rPr>
                <a:t>Layers</a:t>
              </a:r>
              <a:endParaRPr lang="es-PE" sz="1400" noProof="0" dirty="0">
                <a:latin typeface="Roboto"/>
                <a:cs typeface="Roboto"/>
              </a:endParaRPr>
            </a:p>
            <a:p>
              <a:pPr>
                <a:lnSpc>
                  <a:spcPct val="100000"/>
                </a:lnSpc>
                <a:spcBef>
                  <a:spcPts val="165"/>
                </a:spcBef>
                <a:buFont typeface="Times New Roman"/>
                <a:buChar char="●"/>
              </a:pPr>
              <a:endParaRPr lang="es-PE" sz="1400" noProof="0" dirty="0">
                <a:latin typeface="Roboto"/>
                <a:cs typeface="Roboto"/>
              </a:endParaRPr>
            </a:p>
            <a:p>
              <a:pPr marL="352425" indent="-339725">
                <a:lnSpc>
                  <a:spcPct val="100000"/>
                </a:lnSpc>
                <a:buSzPct val="128571"/>
                <a:buFont typeface="Times New Roman"/>
                <a:buChar char="●"/>
                <a:tabLst>
                  <a:tab pos="352425" algn="l"/>
                </a:tabLst>
              </a:pPr>
              <a:r>
                <a:rPr lang="es-PE" sz="1400" b="1" noProof="0" dirty="0">
                  <a:latin typeface="Roboto"/>
                  <a:cs typeface="Roboto"/>
                </a:rPr>
                <a:t>Clase</a:t>
              </a:r>
              <a:r>
                <a:rPr lang="es-PE" sz="1400" b="1" spc="-5" noProof="0" dirty="0">
                  <a:latin typeface="Roboto"/>
                  <a:cs typeface="Roboto"/>
                </a:rPr>
                <a:t> </a:t>
              </a:r>
              <a:r>
                <a:rPr lang="es-PE" sz="1400" b="1" noProof="0" dirty="0">
                  <a:latin typeface="Roboto"/>
                  <a:cs typeface="Roboto"/>
                </a:rPr>
                <a:t>7</a:t>
              </a:r>
              <a:r>
                <a:rPr lang="es-PE" sz="1400" noProof="0" dirty="0">
                  <a:latin typeface="Roboto"/>
                  <a:cs typeface="Roboto"/>
                </a:rPr>
                <a:t>:</a:t>
              </a:r>
              <a:r>
                <a:rPr lang="es-PE" sz="1400" spc="10" noProof="0" dirty="0">
                  <a:latin typeface="Roboto"/>
                  <a:cs typeface="Roboto"/>
                </a:rPr>
                <a:t> </a:t>
              </a:r>
              <a:r>
                <a:rPr lang="es-PE" sz="1400" spc="-40" noProof="0" dirty="0" err="1">
                  <a:latin typeface="Roboto"/>
                  <a:cs typeface="Roboto"/>
                </a:rPr>
                <a:t>Encoder-</a:t>
              </a:r>
              <a:r>
                <a:rPr lang="es-PE" sz="1400" spc="-10" noProof="0" dirty="0" err="1">
                  <a:latin typeface="Roboto"/>
                  <a:cs typeface="Roboto"/>
                </a:rPr>
                <a:t>Decoder</a:t>
              </a:r>
              <a:r>
                <a:rPr lang="es-PE" sz="1400" spc="-10" noProof="0" dirty="0">
                  <a:latin typeface="Roboto"/>
                  <a:cs typeface="Roboto"/>
                </a:rPr>
                <a:t>.</a:t>
              </a:r>
              <a:r>
                <a:rPr lang="es-PE" sz="1400" spc="-25" noProof="0" dirty="0">
                  <a:latin typeface="Roboto"/>
                  <a:cs typeface="Roboto"/>
                </a:rPr>
                <a:t> </a:t>
              </a:r>
              <a:r>
                <a:rPr lang="es-PE" sz="1400" spc="-10" noProof="0" dirty="0" err="1">
                  <a:latin typeface="Roboto"/>
                  <a:cs typeface="Roboto"/>
                </a:rPr>
                <a:t>Autoencoder</a:t>
              </a:r>
              <a:r>
                <a:rPr lang="es-PE" sz="1400" spc="-10" noProof="0" dirty="0">
                  <a:latin typeface="Roboto"/>
                  <a:cs typeface="Roboto"/>
                </a:rPr>
                <a:t>. </a:t>
              </a:r>
              <a:r>
                <a:rPr lang="es-PE" sz="1400" noProof="0" dirty="0">
                  <a:latin typeface="Roboto"/>
                  <a:cs typeface="Roboto"/>
                </a:rPr>
                <a:t>Transfer</a:t>
              </a:r>
              <a:r>
                <a:rPr lang="es-PE" sz="1400" spc="-10" noProof="0" dirty="0">
                  <a:latin typeface="Roboto"/>
                  <a:cs typeface="Roboto"/>
                </a:rPr>
                <a:t> </a:t>
              </a:r>
              <a:r>
                <a:rPr lang="es-PE" sz="1400" spc="-10" noProof="0" dirty="0" err="1">
                  <a:latin typeface="Roboto"/>
                  <a:cs typeface="Roboto"/>
                </a:rPr>
                <a:t>learning</a:t>
              </a:r>
              <a:endParaRPr lang="es-PE" sz="1400" noProof="0" dirty="0">
                <a:latin typeface="Roboto"/>
                <a:cs typeface="Roboto"/>
              </a:endParaRPr>
            </a:p>
            <a:p>
              <a:pPr>
                <a:lnSpc>
                  <a:spcPct val="100000"/>
                </a:lnSpc>
                <a:spcBef>
                  <a:spcPts val="160"/>
                </a:spcBef>
                <a:buFont typeface="Times New Roman"/>
                <a:buChar char="●"/>
              </a:pPr>
              <a:endParaRPr lang="es-PE" sz="1400" noProof="0" dirty="0">
                <a:latin typeface="Roboto"/>
                <a:cs typeface="Roboto"/>
              </a:endParaRPr>
            </a:p>
            <a:p>
              <a:pPr marL="352425" indent="-339725">
                <a:lnSpc>
                  <a:spcPct val="100000"/>
                </a:lnSpc>
                <a:buSzPct val="128571"/>
                <a:buFont typeface="Times New Roman"/>
                <a:buChar char="●"/>
                <a:tabLst>
                  <a:tab pos="352425" algn="l"/>
                </a:tabLst>
              </a:pPr>
              <a:r>
                <a:rPr lang="es-PE" sz="1400" b="1" noProof="0" dirty="0">
                  <a:latin typeface="Roboto"/>
                  <a:cs typeface="Roboto"/>
                </a:rPr>
                <a:t>Clase</a:t>
              </a:r>
              <a:r>
                <a:rPr lang="es-PE" sz="1400" b="1" spc="-30" noProof="0" dirty="0">
                  <a:latin typeface="Roboto"/>
                  <a:cs typeface="Roboto"/>
                </a:rPr>
                <a:t> </a:t>
              </a:r>
              <a:r>
                <a:rPr lang="es-PE" sz="1400" b="1" noProof="0" dirty="0">
                  <a:latin typeface="Roboto"/>
                  <a:cs typeface="Roboto"/>
                </a:rPr>
                <a:t>8</a:t>
              </a:r>
              <a:r>
                <a:rPr lang="es-PE" sz="1400" noProof="0" dirty="0">
                  <a:latin typeface="Roboto"/>
                  <a:cs typeface="Roboto"/>
                </a:rPr>
                <a:t>:</a:t>
              </a:r>
              <a:r>
                <a:rPr lang="es-PE" sz="1400" spc="-10" noProof="0" dirty="0">
                  <a:latin typeface="Roboto"/>
                  <a:cs typeface="Roboto"/>
                </a:rPr>
                <a:t> Generative</a:t>
              </a:r>
              <a:r>
                <a:rPr lang="es-PE" sz="1400" spc="-60" noProof="0" dirty="0">
                  <a:latin typeface="Roboto"/>
                  <a:cs typeface="Roboto"/>
                </a:rPr>
                <a:t> </a:t>
              </a:r>
              <a:r>
                <a:rPr lang="es-PE" sz="1400" spc="-10" noProof="0" dirty="0">
                  <a:latin typeface="Roboto"/>
                  <a:cs typeface="Roboto"/>
                </a:rPr>
                <a:t>Adversarial</a:t>
              </a:r>
              <a:r>
                <a:rPr lang="es-PE" sz="1400" spc="-40" noProof="0" dirty="0">
                  <a:latin typeface="Roboto"/>
                  <a:cs typeface="Roboto"/>
                </a:rPr>
                <a:t> </a:t>
              </a:r>
              <a:r>
                <a:rPr lang="es-PE" sz="1400" spc="-10" noProof="0" dirty="0">
                  <a:latin typeface="Roboto"/>
                  <a:cs typeface="Roboto"/>
                </a:rPr>
                <a:t>Networks (</a:t>
              </a:r>
              <a:r>
                <a:rPr lang="es-PE" sz="1400" spc="-10" noProof="0" dirty="0" err="1">
                  <a:latin typeface="Roboto"/>
                  <a:cs typeface="Roboto"/>
                </a:rPr>
                <a:t>GANs</a:t>
              </a:r>
              <a:r>
                <a:rPr lang="es-PE" sz="1400" spc="-10" noProof="0" dirty="0">
                  <a:latin typeface="Roboto"/>
                  <a:cs typeface="Roboto"/>
                </a:rPr>
                <a:t>)</a:t>
              </a:r>
              <a:endParaRPr lang="es-PE" sz="1400" noProof="0" dirty="0">
                <a:latin typeface="Roboto"/>
                <a:cs typeface="Roboto"/>
              </a:endParaRPr>
            </a:p>
          </p:txBody>
        </p:sp>
        <p:grpSp>
          <p:nvGrpSpPr>
            <p:cNvPr id="5" name="object 5"/>
            <p:cNvGrpSpPr/>
            <p:nvPr/>
          </p:nvGrpSpPr>
          <p:grpSpPr>
            <a:xfrm>
              <a:off x="1952890" y="802386"/>
              <a:ext cx="5819509" cy="3841522"/>
              <a:chOff x="969403" y="848994"/>
              <a:chExt cx="5149850" cy="3841522"/>
            </a:xfrm>
          </p:grpSpPr>
          <p:sp>
            <p:nvSpPr>
              <p:cNvPr id="6" name="object 6"/>
              <p:cNvSpPr/>
              <p:nvPr/>
            </p:nvSpPr>
            <p:spPr>
              <a:xfrm>
                <a:off x="969403" y="848994"/>
                <a:ext cx="5149850" cy="1962659"/>
              </a:xfrm>
              <a:custGeom>
                <a:avLst/>
                <a:gdLst/>
                <a:ahLst/>
                <a:cxnLst/>
                <a:rect l="l" t="t" r="r" b="b"/>
                <a:pathLst>
                  <a:path w="5149850" h="1760855">
                    <a:moveTo>
                      <a:pt x="0" y="293369"/>
                    </a:moveTo>
                    <a:lnTo>
                      <a:pt x="3839" y="245777"/>
                    </a:lnTo>
                    <a:lnTo>
                      <a:pt x="14957" y="200631"/>
                    </a:lnTo>
                    <a:lnTo>
                      <a:pt x="32747" y="158537"/>
                    </a:lnTo>
                    <a:lnTo>
                      <a:pt x="56607" y="120097"/>
                    </a:lnTo>
                    <a:lnTo>
                      <a:pt x="85931" y="85915"/>
                    </a:lnTo>
                    <a:lnTo>
                      <a:pt x="120116" y="56595"/>
                    </a:lnTo>
                    <a:lnTo>
                      <a:pt x="158558" y="32740"/>
                    </a:lnTo>
                    <a:lnTo>
                      <a:pt x="200652" y="14953"/>
                    </a:lnTo>
                    <a:lnTo>
                      <a:pt x="245795" y="3838"/>
                    </a:lnTo>
                    <a:lnTo>
                      <a:pt x="293382" y="0"/>
                    </a:lnTo>
                    <a:lnTo>
                      <a:pt x="4856086" y="0"/>
                    </a:lnTo>
                    <a:lnTo>
                      <a:pt x="4903679" y="3838"/>
                    </a:lnTo>
                    <a:lnTo>
                      <a:pt x="4948824" y="14953"/>
                    </a:lnTo>
                    <a:lnTo>
                      <a:pt x="4990919" y="32740"/>
                    </a:lnTo>
                    <a:lnTo>
                      <a:pt x="5029359" y="56595"/>
                    </a:lnTo>
                    <a:lnTo>
                      <a:pt x="5063540" y="85915"/>
                    </a:lnTo>
                    <a:lnTo>
                      <a:pt x="5092861" y="120097"/>
                    </a:lnTo>
                    <a:lnTo>
                      <a:pt x="5116716" y="158537"/>
                    </a:lnTo>
                    <a:lnTo>
                      <a:pt x="5134502" y="200631"/>
                    </a:lnTo>
                    <a:lnTo>
                      <a:pt x="5145617" y="245777"/>
                    </a:lnTo>
                    <a:lnTo>
                      <a:pt x="5149456" y="293369"/>
                    </a:lnTo>
                    <a:lnTo>
                      <a:pt x="5149456" y="1466849"/>
                    </a:lnTo>
                    <a:lnTo>
                      <a:pt x="5145617" y="1514446"/>
                    </a:lnTo>
                    <a:lnTo>
                      <a:pt x="5134502" y="1559601"/>
                    </a:lnTo>
                    <a:lnTo>
                      <a:pt x="5116716" y="1601710"/>
                    </a:lnTo>
                    <a:lnTo>
                      <a:pt x="5092861" y="1640167"/>
                    </a:lnTo>
                    <a:lnTo>
                      <a:pt x="5063540" y="1674367"/>
                    </a:lnTo>
                    <a:lnTo>
                      <a:pt x="5029359" y="1703707"/>
                    </a:lnTo>
                    <a:lnTo>
                      <a:pt x="4990919" y="1727579"/>
                    </a:lnTo>
                    <a:lnTo>
                      <a:pt x="4948824" y="1745380"/>
                    </a:lnTo>
                    <a:lnTo>
                      <a:pt x="4903679" y="1756504"/>
                    </a:lnTo>
                    <a:lnTo>
                      <a:pt x="4856086" y="1760346"/>
                    </a:lnTo>
                    <a:lnTo>
                      <a:pt x="293382" y="1760346"/>
                    </a:lnTo>
                    <a:lnTo>
                      <a:pt x="245795" y="1756504"/>
                    </a:lnTo>
                    <a:lnTo>
                      <a:pt x="200652" y="1745380"/>
                    </a:lnTo>
                    <a:lnTo>
                      <a:pt x="158558" y="1727579"/>
                    </a:lnTo>
                    <a:lnTo>
                      <a:pt x="120116" y="1703707"/>
                    </a:lnTo>
                    <a:lnTo>
                      <a:pt x="85931" y="1674368"/>
                    </a:lnTo>
                    <a:lnTo>
                      <a:pt x="56607" y="1640167"/>
                    </a:lnTo>
                    <a:lnTo>
                      <a:pt x="32747" y="1601710"/>
                    </a:lnTo>
                    <a:lnTo>
                      <a:pt x="14957" y="1559601"/>
                    </a:lnTo>
                    <a:lnTo>
                      <a:pt x="3839" y="1514446"/>
                    </a:lnTo>
                    <a:lnTo>
                      <a:pt x="0" y="1466849"/>
                    </a:lnTo>
                    <a:lnTo>
                      <a:pt x="0" y="293369"/>
                    </a:lnTo>
                    <a:close/>
                  </a:path>
                </a:pathLst>
              </a:custGeom>
              <a:ln w="25400">
                <a:solidFill>
                  <a:srgbClr val="002D4E"/>
                </a:solidFill>
              </a:ln>
            </p:spPr>
            <p:txBody>
              <a:bodyPr wrap="square" lIns="0" tIns="0" rIns="0" bIns="0" rtlCol="0"/>
              <a:lstStyle/>
              <a:p>
                <a:endParaRPr lang="es-PE" noProof="0" dirty="0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969403" y="2876549"/>
                <a:ext cx="5149850" cy="1813967"/>
              </a:xfrm>
              <a:custGeom>
                <a:avLst/>
                <a:gdLst/>
                <a:ahLst/>
                <a:cxnLst/>
                <a:rect l="l" t="t" r="r" b="b"/>
                <a:pathLst>
                  <a:path w="5149850" h="1760220">
                    <a:moveTo>
                      <a:pt x="0" y="293369"/>
                    </a:moveTo>
                    <a:lnTo>
                      <a:pt x="3839" y="245777"/>
                    </a:lnTo>
                    <a:lnTo>
                      <a:pt x="14957" y="200631"/>
                    </a:lnTo>
                    <a:lnTo>
                      <a:pt x="32747" y="158537"/>
                    </a:lnTo>
                    <a:lnTo>
                      <a:pt x="56607" y="120097"/>
                    </a:lnTo>
                    <a:lnTo>
                      <a:pt x="85931" y="85915"/>
                    </a:lnTo>
                    <a:lnTo>
                      <a:pt x="120116" y="56595"/>
                    </a:lnTo>
                    <a:lnTo>
                      <a:pt x="158558" y="32740"/>
                    </a:lnTo>
                    <a:lnTo>
                      <a:pt x="200652" y="14953"/>
                    </a:lnTo>
                    <a:lnTo>
                      <a:pt x="245795" y="3838"/>
                    </a:lnTo>
                    <a:lnTo>
                      <a:pt x="293382" y="0"/>
                    </a:lnTo>
                    <a:lnTo>
                      <a:pt x="4856086" y="0"/>
                    </a:lnTo>
                    <a:lnTo>
                      <a:pt x="4903679" y="3838"/>
                    </a:lnTo>
                    <a:lnTo>
                      <a:pt x="4948824" y="14953"/>
                    </a:lnTo>
                    <a:lnTo>
                      <a:pt x="4990919" y="32740"/>
                    </a:lnTo>
                    <a:lnTo>
                      <a:pt x="5029359" y="56595"/>
                    </a:lnTo>
                    <a:lnTo>
                      <a:pt x="5063540" y="85915"/>
                    </a:lnTo>
                    <a:lnTo>
                      <a:pt x="5092861" y="120097"/>
                    </a:lnTo>
                    <a:lnTo>
                      <a:pt x="5116716" y="158537"/>
                    </a:lnTo>
                    <a:lnTo>
                      <a:pt x="5134502" y="200631"/>
                    </a:lnTo>
                    <a:lnTo>
                      <a:pt x="5145617" y="245777"/>
                    </a:lnTo>
                    <a:lnTo>
                      <a:pt x="5149456" y="293369"/>
                    </a:lnTo>
                    <a:lnTo>
                      <a:pt x="5149456" y="1466837"/>
                    </a:lnTo>
                    <a:lnTo>
                      <a:pt x="5145617" y="1514424"/>
                    </a:lnTo>
                    <a:lnTo>
                      <a:pt x="5134502" y="1559567"/>
                    </a:lnTo>
                    <a:lnTo>
                      <a:pt x="5116716" y="1601661"/>
                    </a:lnTo>
                    <a:lnTo>
                      <a:pt x="5092861" y="1640103"/>
                    </a:lnTo>
                    <a:lnTo>
                      <a:pt x="5063540" y="1674288"/>
                    </a:lnTo>
                    <a:lnTo>
                      <a:pt x="5029359" y="1703612"/>
                    </a:lnTo>
                    <a:lnTo>
                      <a:pt x="4990919" y="1727472"/>
                    </a:lnTo>
                    <a:lnTo>
                      <a:pt x="4948824" y="1745262"/>
                    </a:lnTo>
                    <a:lnTo>
                      <a:pt x="4903679" y="1756380"/>
                    </a:lnTo>
                    <a:lnTo>
                      <a:pt x="4856086" y="1760220"/>
                    </a:lnTo>
                    <a:lnTo>
                      <a:pt x="293382" y="1760220"/>
                    </a:lnTo>
                    <a:lnTo>
                      <a:pt x="245795" y="1756380"/>
                    </a:lnTo>
                    <a:lnTo>
                      <a:pt x="200652" y="1745262"/>
                    </a:lnTo>
                    <a:lnTo>
                      <a:pt x="158558" y="1727472"/>
                    </a:lnTo>
                    <a:lnTo>
                      <a:pt x="120116" y="1703612"/>
                    </a:lnTo>
                    <a:lnTo>
                      <a:pt x="85931" y="1674288"/>
                    </a:lnTo>
                    <a:lnTo>
                      <a:pt x="56607" y="1640103"/>
                    </a:lnTo>
                    <a:lnTo>
                      <a:pt x="32747" y="1601661"/>
                    </a:lnTo>
                    <a:lnTo>
                      <a:pt x="14957" y="1559567"/>
                    </a:lnTo>
                    <a:lnTo>
                      <a:pt x="3839" y="1514424"/>
                    </a:lnTo>
                    <a:lnTo>
                      <a:pt x="0" y="1466837"/>
                    </a:lnTo>
                    <a:lnTo>
                      <a:pt x="0" y="293369"/>
                    </a:lnTo>
                    <a:close/>
                  </a:path>
                </a:pathLst>
              </a:custGeom>
              <a:ln w="25400">
                <a:solidFill>
                  <a:srgbClr val="DB4437"/>
                </a:solidFill>
              </a:ln>
            </p:spPr>
            <p:txBody>
              <a:bodyPr wrap="square" lIns="0" tIns="0" rIns="0" bIns="0" rtlCol="0"/>
              <a:lstStyle/>
              <a:p>
                <a:endParaRPr lang="es-PE" noProof="0" dirty="0"/>
              </a:p>
            </p:txBody>
          </p:sp>
        </p:grpSp>
        <p:sp>
          <p:nvSpPr>
            <p:cNvPr id="8" name="object 8"/>
            <p:cNvSpPr txBox="1"/>
            <p:nvPr/>
          </p:nvSpPr>
          <p:spPr>
            <a:xfrm>
              <a:off x="5250688" y="587997"/>
              <a:ext cx="1517015" cy="175048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s-PE" sz="1050" b="1" noProof="0" dirty="0">
                  <a:solidFill>
                    <a:srgbClr val="002D4E"/>
                  </a:solidFill>
                  <a:latin typeface="Arial"/>
                  <a:cs typeface="Arial"/>
                </a:rPr>
                <a:t>Gerardo Vilcamiza</a:t>
              </a:r>
              <a:endParaRPr lang="es-PE" sz="1050" noProof="0" dirty="0">
                <a:latin typeface="Arial"/>
                <a:cs typeface="Arial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5403088" y="4708804"/>
              <a:ext cx="955040" cy="18669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s-PE" sz="1050" b="1" noProof="0" dirty="0">
                  <a:solidFill>
                    <a:srgbClr val="DB4437"/>
                  </a:solidFill>
                  <a:latin typeface="Arial"/>
                  <a:cs typeface="Arial"/>
                </a:rPr>
                <a:t>Marcos</a:t>
              </a:r>
              <a:r>
                <a:rPr lang="es-PE" sz="1050" b="1" spc="-45" noProof="0" dirty="0">
                  <a:solidFill>
                    <a:srgbClr val="DB4437"/>
                  </a:solidFill>
                  <a:latin typeface="Arial"/>
                  <a:cs typeface="Arial"/>
                </a:rPr>
                <a:t> </a:t>
              </a:r>
              <a:r>
                <a:rPr lang="es-PE" sz="1050" b="1" spc="-10" noProof="0" dirty="0">
                  <a:solidFill>
                    <a:srgbClr val="DB4437"/>
                  </a:solidFill>
                  <a:latin typeface="Arial"/>
                  <a:cs typeface="Arial"/>
                </a:rPr>
                <a:t>Maillot</a:t>
              </a:r>
              <a:endParaRPr lang="es-PE" sz="1050" noProof="0" dirty="0"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10" noProof="0" dirty="0"/>
              <a:t>Referencias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8600" y="655726"/>
            <a:ext cx="8758783" cy="38505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100"/>
              </a:spcBef>
            </a:pPr>
            <a:r>
              <a:rPr lang="es-PE" sz="1900" noProof="0" dirty="0">
                <a:latin typeface="Roboto"/>
                <a:cs typeface="Roboto"/>
              </a:rPr>
              <a:t>Bibliografía</a:t>
            </a:r>
            <a:r>
              <a:rPr lang="es-PE" sz="1900" spc="310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solo</a:t>
            </a:r>
            <a:r>
              <a:rPr lang="es-PE" sz="1900" spc="315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a</a:t>
            </a:r>
            <a:r>
              <a:rPr lang="es-PE" sz="1900" spc="310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modo</a:t>
            </a:r>
            <a:r>
              <a:rPr lang="es-PE" sz="1900" spc="330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de</a:t>
            </a:r>
            <a:r>
              <a:rPr lang="es-PE" sz="1900" spc="300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sugerencia</a:t>
            </a:r>
            <a:r>
              <a:rPr lang="es-PE" sz="1900" spc="325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y</a:t>
            </a:r>
            <a:r>
              <a:rPr lang="es-PE" sz="1900" spc="300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no</a:t>
            </a:r>
            <a:r>
              <a:rPr lang="es-PE" sz="1900" spc="310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será</a:t>
            </a:r>
            <a:r>
              <a:rPr lang="es-PE" sz="1900" spc="330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obligatorio</a:t>
            </a:r>
            <a:r>
              <a:rPr lang="es-PE" sz="1900" spc="320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el</a:t>
            </a:r>
            <a:r>
              <a:rPr lang="es-PE" sz="1900" spc="315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uso</a:t>
            </a:r>
            <a:r>
              <a:rPr lang="es-PE" sz="1900" spc="315" noProof="0" dirty="0">
                <a:latin typeface="Roboto"/>
                <a:cs typeface="Roboto"/>
              </a:rPr>
              <a:t> </a:t>
            </a:r>
            <a:r>
              <a:rPr lang="es-PE" sz="1900" noProof="0" dirty="0">
                <a:latin typeface="Roboto"/>
                <a:cs typeface="Roboto"/>
              </a:rPr>
              <a:t>de</a:t>
            </a:r>
            <a:r>
              <a:rPr lang="es-PE" sz="1900" spc="315" noProof="0" dirty="0">
                <a:latin typeface="Roboto"/>
                <a:cs typeface="Roboto"/>
              </a:rPr>
              <a:t> </a:t>
            </a:r>
            <a:r>
              <a:rPr lang="es-PE" sz="1900" spc="-10" noProof="0" dirty="0">
                <a:latin typeface="Roboto"/>
                <a:cs typeface="Roboto"/>
              </a:rPr>
              <a:t>dicho m</a:t>
            </a:r>
            <a:r>
              <a:rPr lang="es-PE" sz="1900" spc="-10" noProof="0" dirty="0">
                <a:solidFill>
                  <a:srgbClr val="1F1F1F"/>
                </a:solidFill>
                <a:latin typeface="Roboto"/>
                <a:cs typeface="Roboto"/>
              </a:rPr>
              <a:t>aterial.</a:t>
            </a:r>
            <a:r>
              <a:rPr lang="es-PE" sz="1900" spc="-65" noProof="0" dirty="0">
                <a:solidFill>
                  <a:srgbClr val="1F1F1F"/>
                </a:solidFill>
                <a:latin typeface="Roboto"/>
                <a:cs typeface="Roboto"/>
              </a:rPr>
              <a:t> </a:t>
            </a:r>
            <a:r>
              <a:rPr lang="es-PE" sz="1900" noProof="0" dirty="0">
                <a:solidFill>
                  <a:srgbClr val="1F1F1F"/>
                </a:solidFill>
                <a:latin typeface="Roboto"/>
                <a:cs typeface="Roboto"/>
              </a:rPr>
              <a:t>La</a:t>
            </a:r>
            <a:r>
              <a:rPr lang="es-PE" sz="1900" spc="-60" noProof="0" dirty="0">
                <a:solidFill>
                  <a:srgbClr val="1F1F1F"/>
                </a:solidFill>
                <a:latin typeface="Roboto"/>
                <a:cs typeface="Roboto"/>
              </a:rPr>
              <a:t> </a:t>
            </a:r>
            <a:r>
              <a:rPr lang="es-PE" sz="1900" noProof="0" dirty="0">
                <a:solidFill>
                  <a:srgbClr val="1F1F1F"/>
                </a:solidFill>
                <a:latin typeface="Roboto"/>
                <a:cs typeface="Roboto"/>
              </a:rPr>
              <a:t>materia</a:t>
            </a:r>
            <a:r>
              <a:rPr lang="es-PE" sz="1900" spc="-65" noProof="0" dirty="0">
                <a:solidFill>
                  <a:srgbClr val="1F1F1F"/>
                </a:solidFill>
                <a:latin typeface="Roboto"/>
                <a:cs typeface="Roboto"/>
              </a:rPr>
              <a:t> </a:t>
            </a:r>
            <a:r>
              <a:rPr lang="es-PE" sz="1900" noProof="0" dirty="0">
                <a:solidFill>
                  <a:srgbClr val="1F1F1F"/>
                </a:solidFill>
                <a:latin typeface="Roboto"/>
                <a:cs typeface="Roboto"/>
              </a:rPr>
              <a:t>es</a:t>
            </a:r>
            <a:r>
              <a:rPr lang="es-PE" sz="1900" spc="-75" noProof="0" dirty="0">
                <a:solidFill>
                  <a:srgbClr val="1F1F1F"/>
                </a:solidFill>
                <a:latin typeface="Roboto"/>
                <a:cs typeface="Roboto"/>
              </a:rPr>
              <a:t> </a:t>
            </a:r>
            <a:r>
              <a:rPr lang="es-PE" sz="1900" noProof="0" dirty="0">
                <a:solidFill>
                  <a:srgbClr val="1F1F1F"/>
                </a:solidFill>
                <a:latin typeface="Roboto"/>
                <a:cs typeface="Roboto"/>
              </a:rPr>
              <a:t>completamente</a:t>
            </a:r>
            <a:r>
              <a:rPr lang="es-PE" sz="1900" spc="-50" noProof="0" dirty="0">
                <a:solidFill>
                  <a:srgbClr val="1F1F1F"/>
                </a:solidFill>
                <a:latin typeface="Roboto"/>
                <a:cs typeface="Roboto"/>
              </a:rPr>
              <a:t> </a:t>
            </a:r>
            <a:r>
              <a:rPr lang="es-PE" sz="1900" spc="-10" noProof="0" dirty="0">
                <a:solidFill>
                  <a:srgbClr val="1F1F1F"/>
                </a:solidFill>
                <a:latin typeface="Roboto"/>
                <a:cs typeface="Roboto"/>
              </a:rPr>
              <a:t>autocontenida.</a:t>
            </a:r>
          </a:p>
          <a:p>
            <a:pPr marL="12700" marR="5080">
              <a:lnSpc>
                <a:spcPct val="114700"/>
              </a:lnSpc>
              <a:spcBef>
                <a:spcPts val="100"/>
              </a:spcBef>
            </a:pPr>
            <a:endParaRPr lang="es-PE" sz="1900" noProof="0" dirty="0">
              <a:latin typeface="Roboto"/>
              <a:cs typeface="Roboto"/>
            </a:endParaRPr>
          </a:p>
          <a:p>
            <a:pPr marL="342900" indent="-342900">
              <a:lnSpc>
                <a:spcPct val="100000"/>
              </a:lnSpc>
              <a:spcBef>
                <a:spcPts val="1525"/>
              </a:spcBef>
              <a:buFont typeface="Arial" panose="020B0604020202020204" pitchFamily="34" charset="0"/>
              <a:buChar char="•"/>
            </a:pPr>
            <a:r>
              <a:rPr lang="es-PE" sz="1900" noProof="0" dirty="0" err="1">
                <a:latin typeface="Roboto"/>
                <a:cs typeface="Roboto"/>
              </a:rPr>
              <a:t>Goodfellow</a:t>
            </a:r>
            <a:r>
              <a:rPr lang="es-PE" sz="1900" noProof="0" dirty="0">
                <a:latin typeface="Roboto"/>
                <a:cs typeface="Roboto"/>
              </a:rPr>
              <a:t>, I., </a:t>
            </a:r>
            <a:r>
              <a:rPr lang="es-PE" sz="1900" noProof="0" dirty="0" err="1">
                <a:latin typeface="Roboto"/>
                <a:cs typeface="Roboto"/>
              </a:rPr>
              <a:t>Bengio</a:t>
            </a:r>
            <a:r>
              <a:rPr lang="es-PE" sz="1900" noProof="0" dirty="0">
                <a:latin typeface="Roboto"/>
                <a:cs typeface="Roboto"/>
              </a:rPr>
              <a:t>, Y., &amp; </a:t>
            </a:r>
            <a:r>
              <a:rPr lang="es-PE" sz="1900" noProof="0" dirty="0" err="1">
                <a:latin typeface="Roboto"/>
                <a:cs typeface="Roboto"/>
              </a:rPr>
              <a:t>Courville</a:t>
            </a:r>
            <a:r>
              <a:rPr lang="es-PE" sz="1900" noProof="0" dirty="0">
                <a:latin typeface="Roboto"/>
                <a:cs typeface="Roboto"/>
              </a:rPr>
              <a:t>, A. (2016). Deep </a:t>
            </a:r>
            <a:r>
              <a:rPr lang="es-PE" sz="1900" noProof="0" dirty="0" err="1">
                <a:latin typeface="Roboto"/>
                <a:cs typeface="Roboto"/>
              </a:rPr>
              <a:t>Learning</a:t>
            </a:r>
            <a:r>
              <a:rPr lang="es-PE" sz="1900" noProof="0" dirty="0">
                <a:latin typeface="Roboto"/>
                <a:cs typeface="Roboto"/>
              </a:rPr>
              <a:t>. MIT </a:t>
            </a:r>
            <a:r>
              <a:rPr lang="es-PE" sz="1900" noProof="0" dirty="0" err="1">
                <a:latin typeface="Roboto"/>
                <a:cs typeface="Roboto"/>
              </a:rPr>
              <a:t>Press</a:t>
            </a:r>
            <a:r>
              <a:rPr lang="es-PE" sz="1900" noProof="0" dirty="0">
                <a:latin typeface="Roboto"/>
                <a:cs typeface="Roboto"/>
              </a:rPr>
              <a:t>. </a:t>
            </a:r>
            <a:r>
              <a:rPr lang="es-PE" sz="1900" noProof="0" dirty="0">
                <a:latin typeface="Roboto"/>
                <a:cs typeface="Roboto"/>
                <a:hlinkClick r:id="rId3"/>
              </a:rPr>
              <a:t>https://www.deeplearningbook.org</a:t>
            </a:r>
            <a:endParaRPr lang="es-PE" sz="1900" noProof="0" dirty="0">
              <a:latin typeface="Roboto"/>
              <a:cs typeface="Roboto"/>
            </a:endParaRPr>
          </a:p>
          <a:p>
            <a:pPr marL="342900" indent="-342900">
              <a:lnSpc>
                <a:spcPct val="100000"/>
              </a:lnSpc>
              <a:spcBef>
                <a:spcPts val="1525"/>
              </a:spcBef>
              <a:buFont typeface="Arial" panose="020B0604020202020204" pitchFamily="34" charset="0"/>
              <a:buChar char="•"/>
            </a:pPr>
            <a:r>
              <a:rPr lang="es-PE" sz="1900" noProof="0" dirty="0">
                <a:latin typeface="Roboto"/>
                <a:cs typeface="Roboto"/>
              </a:rPr>
              <a:t>Zhang, A., </a:t>
            </a:r>
            <a:r>
              <a:rPr lang="es-PE" sz="1900" noProof="0" dirty="0" err="1">
                <a:latin typeface="Roboto"/>
                <a:cs typeface="Roboto"/>
              </a:rPr>
              <a:t>Lipton</a:t>
            </a:r>
            <a:r>
              <a:rPr lang="es-PE" sz="1900" noProof="0" dirty="0">
                <a:latin typeface="Roboto"/>
                <a:cs typeface="Roboto"/>
              </a:rPr>
              <a:t>, Z. C., Li, M., &amp; </a:t>
            </a:r>
            <a:r>
              <a:rPr lang="es-PE" sz="1900" noProof="0" dirty="0" err="1">
                <a:latin typeface="Roboto"/>
                <a:cs typeface="Roboto"/>
              </a:rPr>
              <a:t>Smola</a:t>
            </a:r>
            <a:r>
              <a:rPr lang="es-PE" sz="1900" noProof="0" dirty="0">
                <a:latin typeface="Roboto"/>
                <a:cs typeface="Roboto"/>
              </a:rPr>
              <a:t>, A. J. (2022). Dive </a:t>
            </a:r>
            <a:r>
              <a:rPr lang="es-PE" sz="1900" noProof="0" dirty="0" err="1">
                <a:latin typeface="Roboto"/>
                <a:cs typeface="Roboto"/>
              </a:rPr>
              <a:t>into</a:t>
            </a:r>
            <a:r>
              <a:rPr lang="es-PE" sz="1900" noProof="0" dirty="0">
                <a:latin typeface="Roboto"/>
                <a:cs typeface="Roboto"/>
              </a:rPr>
              <a:t> Deep </a:t>
            </a:r>
            <a:r>
              <a:rPr lang="es-PE" sz="1900" noProof="0" dirty="0" err="1">
                <a:latin typeface="Roboto"/>
                <a:cs typeface="Roboto"/>
              </a:rPr>
              <a:t>Learning</a:t>
            </a:r>
            <a:r>
              <a:rPr lang="es-PE" sz="1900" noProof="0" dirty="0">
                <a:latin typeface="Roboto"/>
                <a:cs typeface="Roboto"/>
              </a:rPr>
              <a:t>. Cambridge </a:t>
            </a:r>
            <a:r>
              <a:rPr lang="es-PE" sz="1900" noProof="0" dirty="0" err="1">
                <a:latin typeface="Roboto"/>
                <a:cs typeface="Roboto"/>
              </a:rPr>
              <a:t>University</a:t>
            </a:r>
            <a:r>
              <a:rPr lang="es-PE" sz="1900" noProof="0" dirty="0">
                <a:latin typeface="Roboto"/>
                <a:cs typeface="Roboto"/>
              </a:rPr>
              <a:t> </a:t>
            </a:r>
            <a:r>
              <a:rPr lang="es-PE" sz="1900" noProof="0" dirty="0" err="1">
                <a:latin typeface="Roboto"/>
                <a:cs typeface="Roboto"/>
              </a:rPr>
              <a:t>Press</a:t>
            </a:r>
            <a:r>
              <a:rPr lang="es-PE" sz="1900" noProof="0" dirty="0">
                <a:latin typeface="Roboto"/>
                <a:cs typeface="Roboto"/>
              </a:rPr>
              <a:t>. </a:t>
            </a:r>
            <a:r>
              <a:rPr lang="es-PE" sz="1900" noProof="0" dirty="0">
                <a:latin typeface="Roboto"/>
                <a:cs typeface="Roboto"/>
                <a:hlinkClick r:id="rId4"/>
              </a:rPr>
              <a:t>https://d2l.ai</a:t>
            </a:r>
            <a:endParaRPr lang="es-PE" sz="1900" noProof="0" dirty="0">
              <a:latin typeface="Roboto"/>
              <a:cs typeface="Roboto"/>
            </a:endParaRPr>
          </a:p>
          <a:p>
            <a:pPr marL="342900" indent="-342900">
              <a:lnSpc>
                <a:spcPct val="100000"/>
              </a:lnSpc>
              <a:spcBef>
                <a:spcPts val="1525"/>
              </a:spcBef>
              <a:buFont typeface="Arial" panose="020B0604020202020204" pitchFamily="34" charset="0"/>
              <a:buChar char="•"/>
            </a:pPr>
            <a:r>
              <a:rPr lang="es-PE" sz="1900" noProof="0" dirty="0">
                <a:latin typeface="Roboto"/>
                <a:cs typeface="Roboto"/>
              </a:rPr>
              <a:t>Nielsen, M. A. (2015). Neural Networks and Deep </a:t>
            </a:r>
            <a:r>
              <a:rPr lang="es-PE" sz="1900" noProof="0" dirty="0" err="1">
                <a:latin typeface="Roboto"/>
                <a:cs typeface="Roboto"/>
              </a:rPr>
              <a:t>Learning</a:t>
            </a:r>
            <a:r>
              <a:rPr lang="es-PE" sz="1900" noProof="0" dirty="0">
                <a:latin typeface="Roboto"/>
                <a:cs typeface="Roboto"/>
              </a:rPr>
              <a:t>. </a:t>
            </a:r>
            <a:r>
              <a:rPr lang="es-PE" sz="1900" noProof="0" dirty="0" err="1">
                <a:latin typeface="Roboto"/>
                <a:cs typeface="Roboto"/>
              </a:rPr>
              <a:t>Determination</a:t>
            </a:r>
            <a:r>
              <a:rPr lang="es-PE" sz="1900" noProof="0" dirty="0">
                <a:latin typeface="Roboto"/>
                <a:cs typeface="Roboto"/>
              </a:rPr>
              <a:t> </a:t>
            </a:r>
            <a:r>
              <a:rPr lang="es-PE" sz="1900" noProof="0" dirty="0" err="1">
                <a:latin typeface="Roboto"/>
                <a:cs typeface="Roboto"/>
              </a:rPr>
              <a:t>Press</a:t>
            </a:r>
            <a:r>
              <a:rPr lang="es-PE" sz="1900" noProof="0" dirty="0">
                <a:latin typeface="Roboto"/>
                <a:cs typeface="Roboto"/>
              </a:rPr>
              <a:t>. </a:t>
            </a:r>
            <a:r>
              <a:rPr lang="es-PE" sz="1900" noProof="0" dirty="0">
                <a:latin typeface="Roboto"/>
                <a:cs typeface="Roboto"/>
                <a:hlinkClick r:id="rId5"/>
              </a:rPr>
              <a:t>http://neuralnetworksanddeeplearning.com</a:t>
            </a:r>
            <a:endParaRPr lang="es-PE" sz="19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lang="es-PE" sz="19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noProof="0" dirty="0"/>
              <a:t>Herramientas</a:t>
            </a:r>
            <a:r>
              <a:rPr lang="es-PE" spc="5" noProof="0" dirty="0"/>
              <a:t> </a:t>
            </a:r>
            <a:r>
              <a:rPr lang="es-PE" noProof="0" dirty="0"/>
              <a:t>de</a:t>
            </a:r>
            <a:r>
              <a:rPr lang="es-PE" spc="5" noProof="0" dirty="0"/>
              <a:t> </a:t>
            </a:r>
            <a:r>
              <a:rPr lang="es-PE" spc="-10" noProof="0" dirty="0"/>
              <a:t>trabajo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3480" y="643762"/>
            <a:ext cx="4655719" cy="4072269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37185" indent="-321945">
              <a:lnSpc>
                <a:spcPct val="100000"/>
              </a:lnSpc>
              <a:spcBef>
                <a:spcPts val="715"/>
              </a:spcBef>
              <a:buSzPct val="96666"/>
              <a:buFont typeface="Times New Roman"/>
              <a:buChar char="●"/>
              <a:tabLst>
                <a:tab pos="337185" algn="l"/>
              </a:tabLst>
            </a:pPr>
            <a:r>
              <a:rPr lang="es-PE" sz="1600" spc="-10" noProof="0" dirty="0">
                <a:latin typeface="Roboto"/>
                <a:cs typeface="Roboto"/>
              </a:rPr>
              <a:t>Lenguaje</a:t>
            </a:r>
            <a:r>
              <a:rPr lang="es-PE" sz="1600" spc="-30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de</a:t>
            </a:r>
            <a:r>
              <a:rPr lang="es-PE" sz="1600" spc="-3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programación:</a:t>
            </a:r>
            <a:endParaRPr lang="es-PE" sz="1600" noProof="0" dirty="0">
              <a:latin typeface="Roboto"/>
              <a:cs typeface="Roboto"/>
            </a:endParaRPr>
          </a:p>
          <a:p>
            <a:pPr marL="794385" lvl="1" indent="-307975">
              <a:lnSpc>
                <a:spcPct val="100000"/>
              </a:lnSpc>
              <a:spcBef>
                <a:spcPts val="490"/>
              </a:spcBef>
              <a:buFont typeface="Times New Roman"/>
              <a:buChar char="○"/>
              <a:tabLst>
                <a:tab pos="794385" algn="l"/>
              </a:tabLst>
            </a:pPr>
            <a:r>
              <a:rPr lang="es-PE" sz="1400" spc="-20" noProof="0" dirty="0">
                <a:latin typeface="Roboto"/>
                <a:cs typeface="Roboto"/>
              </a:rPr>
              <a:t>Python </a:t>
            </a:r>
            <a:r>
              <a:rPr lang="es-PE" sz="1400" spc="-25" noProof="0" dirty="0">
                <a:latin typeface="Roboto"/>
                <a:cs typeface="Roboto"/>
              </a:rPr>
              <a:t>3.11</a:t>
            </a:r>
            <a:endParaRPr lang="es-PE" sz="1400" noProof="0" dirty="0">
              <a:latin typeface="Roboto"/>
              <a:cs typeface="Roboto"/>
            </a:endParaRPr>
          </a:p>
          <a:p>
            <a:pPr marL="794385" lvl="1" indent="-307975">
              <a:lnSpc>
                <a:spcPct val="100000"/>
              </a:lnSpc>
              <a:spcBef>
                <a:spcPts val="434"/>
              </a:spcBef>
              <a:buFont typeface="Times New Roman"/>
              <a:buChar char="○"/>
              <a:tabLst>
                <a:tab pos="794385" algn="l"/>
              </a:tabLst>
            </a:pPr>
            <a:r>
              <a:rPr lang="es-PE" sz="1400" noProof="0" dirty="0" err="1">
                <a:latin typeface="Roboto"/>
                <a:cs typeface="Roboto"/>
              </a:rPr>
              <a:t>Pip</a:t>
            </a:r>
            <a:r>
              <a:rPr lang="es-PE" sz="1400" spc="-30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/</a:t>
            </a:r>
            <a:r>
              <a:rPr lang="es-PE" sz="1400" spc="-35" noProof="0" dirty="0">
                <a:latin typeface="Roboto"/>
                <a:cs typeface="Roboto"/>
              </a:rPr>
              <a:t> </a:t>
            </a:r>
            <a:r>
              <a:rPr lang="es-PE" sz="1400" noProof="0" dirty="0" err="1">
                <a:latin typeface="Roboto"/>
                <a:cs typeface="Roboto"/>
              </a:rPr>
              <a:t>Conda</a:t>
            </a:r>
            <a:r>
              <a:rPr lang="es-PE" sz="1400" spc="-30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para</a:t>
            </a:r>
            <a:r>
              <a:rPr lang="es-PE" sz="1400" spc="-30" noProof="0" dirty="0">
                <a:latin typeface="Roboto"/>
                <a:cs typeface="Roboto"/>
              </a:rPr>
              <a:t> </a:t>
            </a:r>
            <a:r>
              <a:rPr lang="es-PE" sz="1400" spc="-20" noProof="0" dirty="0">
                <a:latin typeface="Roboto"/>
                <a:cs typeface="Roboto"/>
              </a:rPr>
              <a:t>instalar</a:t>
            </a:r>
            <a:r>
              <a:rPr lang="es-PE" sz="1400" spc="-35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paquetes</a:t>
            </a:r>
            <a:r>
              <a:rPr lang="es-PE" sz="1400" spc="-20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y</a:t>
            </a:r>
            <a:r>
              <a:rPr lang="es-PE" sz="1400" spc="-40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dependencias</a:t>
            </a:r>
            <a:endParaRPr lang="es-PE" sz="1400" noProof="0" dirty="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Times New Roman"/>
              <a:buChar char="○"/>
            </a:pPr>
            <a:endParaRPr lang="es-PE" sz="1400" noProof="0" dirty="0">
              <a:latin typeface="Roboto"/>
              <a:cs typeface="Roboto"/>
            </a:endParaRPr>
          </a:p>
          <a:p>
            <a:pPr marL="337185" indent="-324485">
              <a:lnSpc>
                <a:spcPct val="100000"/>
              </a:lnSpc>
              <a:buFont typeface="Times New Roman"/>
              <a:buChar char="●"/>
              <a:tabLst>
                <a:tab pos="337185" algn="l"/>
              </a:tabLst>
            </a:pPr>
            <a:r>
              <a:rPr lang="es-PE" sz="1600" spc="-10" noProof="0" dirty="0">
                <a:latin typeface="Roboto"/>
                <a:cs typeface="Roboto"/>
              </a:rPr>
              <a:t>Librerías</a:t>
            </a:r>
            <a:r>
              <a:rPr lang="es-PE" sz="1600" spc="-4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principales:</a:t>
            </a:r>
            <a:endParaRPr lang="es-PE" sz="1600" noProof="0" dirty="0">
              <a:latin typeface="Roboto"/>
              <a:cs typeface="Roboto"/>
            </a:endParaRPr>
          </a:p>
          <a:p>
            <a:pPr marL="794385" lvl="1" indent="-307975">
              <a:lnSpc>
                <a:spcPct val="100000"/>
              </a:lnSpc>
              <a:spcBef>
                <a:spcPts val="480"/>
              </a:spcBef>
              <a:buFont typeface="Times New Roman"/>
              <a:buChar char="○"/>
              <a:tabLst>
                <a:tab pos="794385" algn="l"/>
              </a:tabLst>
            </a:pPr>
            <a:r>
              <a:rPr lang="es-PE" sz="1400" spc="-20" noProof="0" dirty="0" err="1">
                <a:latin typeface="Roboto"/>
                <a:cs typeface="Roboto"/>
              </a:rPr>
              <a:t>Numpy</a:t>
            </a:r>
            <a:r>
              <a:rPr lang="es-PE" sz="1400" spc="-20" noProof="0" dirty="0">
                <a:latin typeface="Roboto"/>
                <a:cs typeface="Roboto"/>
              </a:rPr>
              <a:t>,</a:t>
            </a:r>
            <a:r>
              <a:rPr lang="es-PE" sz="1400" spc="-30" noProof="0" dirty="0">
                <a:latin typeface="Roboto"/>
                <a:cs typeface="Roboto"/>
              </a:rPr>
              <a:t> </a:t>
            </a:r>
            <a:r>
              <a:rPr lang="es-PE" sz="1400" spc="-30" noProof="0" dirty="0" err="1">
                <a:latin typeface="Roboto"/>
                <a:cs typeface="Roboto"/>
              </a:rPr>
              <a:t>Matplotlib</a:t>
            </a:r>
            <a:r>
              <a:rPr lang="es-PE" sz="1400" spc="-30" noProof="0" dirty="0">
                <a:latin typeface="Roboto"/>
                <a:cs typeface="Roboto"/>
              </a:rPr>
              <a:t>, </a:t>
            </a:r>
            <a:r>
              <a:rPr lang="es-PE" sz="1400" spc="-10" noProof="0" dirty="0">
                <a:latin typeface="Roboto"/>
                <a:cs typeface="Roboto"/>
              </a:rPr>
              <a:t>Pandas,</a:t>
            </a:r>
            <a:r>
              <a:rPr lang="es-PE" sz="1400" noProof="0" dirty="0">
                <a:latin typeface="Roboto"/>
                <a:cs typeface="Roboto"/>
              </a:rPr>
              <a:t> </a:t>
            </a:r>
            <a:r>
              <a:rPr lang="es-PE" sz="1400" spc="-50" noProof="0" dirty="0" err="1">
                <a:latin typeface="Roboto"/>
                <a:cs typeface="Roboto"/>
              </a:rPr>
              <a:t>Scikit-</a:t>
            </a:r>
            <a:r>
              <a:rPr lang="es-PE" sz="1400" noProof="0" dirty="0" err="1">
                <a:latin typeface="Roboto"/>
                <a:cs typeface="Roboto"/>
              </a:rPr>
              <a:t>Learn</a:t>
            </a:r>
            <a:r>
              <a:rPr lang="es-PE" sz="1400" noProof="0" dirty="0">
                <a:latin typeface="Roboto"/>
                <a:cs typeface="Roboto"/>
              </a:rPr>
              <a:t>,</a:t>
            </a:r>
            <a:r>
              <a:rPr lang="es-PE" sz="1400" spc="-20" noProof="0" dirty="0">
                <a:latin typeface="Roboto"/>
                <a:cs typeface="Roboto"/>
              </a:rPr>
              <a:t> </a:t>
            </a:r>
            <a:r>
              <a:rPr lang="es-PE" sz="1400" spc="-10" noProof="0" dirty="0" err="1">
                <a:latin typeface="Roboto"/>
                <a:cs typeface="Roboto"/>
              </a:rPr>
              <a:t>Scipy</a:t>
            </a:r>
            <a:endParaRPr lang="es-PE" sz="1400" noProof="0" dirty="0">
              <a:latin typeface="Roboto"/>
              <a:cs typeface="Roboto"/>
            </a:endParaRPr>
          </a:p>
          <a:p>
            <a:pPr marL="794385" lvl="1" indent="-307975">
              <a:lnSpc>
                <a:spcPct val="100000"/>
              </a:lnSpc>
              <a:spcBef>
                <a:spcPts val="434"/>
              </a:spcBef>
              <a:buFont typeface="Times New Roman"/>
              <a:buChar char="○"/>
              <a:tabLst>
                <a:tab pos="794385" algn="l"/>
              </a:tabLst>
            </a:pPr>
            <a:r>
              <a:rPr lang="es-PE" sz="1400" b="1" spc="-10" noProof="0" dirty="0">
                <a:latin typeface="Roboto"/>
                <a:cs typeface="Roboto"/>
              </a:rPr>
              <a:t>Pytorch</a:t>
            </a:r>
            <a:endParaRPr lang="es-PE" sz="1400" noProof="0" dirty="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Times New Roman"/>
              <a:buChar char="○"/>
            </a:pPr>
            <a:endParaRPr lang="es-PE" sz="1400" noProof="0" dirty="0">
              <a:latin typeface="Roboto"/>
              <a:cs typeface="Roboto"/>
            </a:endParaRPr>
          </a:p>
          <a:p>
            <a:pPr marL="337185" indent="-324485">
              <a:lnSpc>
                <a:spcPct val="100000"/>
              </a:lnSpc>
              <a:buFont typeface="Times New Roman"/>
              <a:buChar char="●"/>
              <a:tabLst>
                <a:tab pos="337185" algn="l"/>
              </a:tabLst>
            </a:pPr>
            <a:r>
              <a:rPr lang="es-PE" sz="1600" noProof="0" dirty="0">
                <a:latin typeface="Roboto"/>
                <a:cs typeface="Roboto"/>
              </a:rPr>
              <a:t>Consola</a:t>
            </a:r>
            <a:r>
              <a:rPr lang="es-PE" sz="1600" spc="-9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interactiva:</a:t>
            </a:r>
            <a:endParaRPr lang="es-PE" sz="1600" noProof="0" dirty="0">
              <a:latin typeface="Roboto"/>
              <a:cs typeface="Roboto"/>
            </a:endParaRPr>
          </a:p>
          <a:p>
            <a:pPr marL="794385" lvl="1" indent="-307975">
              <a:lnSpc>
                <a:spcPct val="100000"/>
              </a:lnSpc>
              <a:spcBef>
                <a:spcPts val="495"/>
              </a:spcBef>
              <a:buFont typeface="Times New Roman"/>
              <a:buChar char="○"/>
              <a:tabLst>
                <a:tab pos="794385" algn="l"/>
              </a:tabLst>
            </a:pPr>
            <a:r>
              <a:rPr lang="es-PE" sz="1400" b="1" noProof="0" dirty="0">
                <a:latin typeface="Roboto"/>
                <a:cs typeface="Roboto"/>
              </a:rPr>
              <a:t>Google</a:t>
            </a:r>
            <a:r>
              <a:rPr lang="es-PE" sz="1400" b="1" spc="-30" noProof="0" dirty="0">
                <a:latin typeface="Roboto"/>
                <a:cs typeface="Roboto"/>
              </a:rPr>
              <a:t> </a:t>
            </a:r>
            <a:r>
              <a:rPr lang="es-PE" sz="1400" b="1" spc="-20" noProof="0" dirty="0" err="1">
                <a:latin typeface="Roboto"/>
                <a:cs typeface="Roboto"/>
              </a:rPr>
              <a:t>Colab</a:t>
            </a:r>
            <a:endParaRPr lang="es-PE" sz="1400" noProof="0" dirty="0">
              <a:latin typeface="Roboto"/>
              <a:cs typeface="Roboto"/>
            </a:endParaRPr>
          </a:p>
          <a:p>
            <a:pPr marL="794385" lvl="1" indent="-312420">
              <a:lnSpc>
                <a:spcPct val="100000"/>
              </a:lnSpc>
              <a:spcBef>
                <a:spcPts val="434"/>
              </a:spcBef>
              <a:buSzPct val="104166"/>
              <a:buFont typeface="Times New Roman"/>
              <a:buChar char="○"/>
              <a:tabLst>
                <a:tab pos="794385" algn="l"/>
              </a:tabLst>
            </a:pPr>
            <a:r>
              <a:rPr lang="es-PE" sz="1400" spc="-10" noProof="0" dirty="0">
                <a:latin typeface="Roboto"/>
                <a:cs typeface="Roboto"/>
              </a:rPr>
              <a:t>(Opcional)</a:t>
            </a:r>
            <a:r>
              <a:rPr lang="es-PE" sz="1400" spc="-15" noProof="0" dirty="0">
                <a:latin typeface="Roboto"/>
                <a:cs typeface="Roboto"/>
              </a:rPr>
              <a:t> </a:t>
            </a:r>
            <a:r>
              <a:rPr lang="es-PE" sz="1400" spc="-10" noProof="0" dirty="0" err="1">
                <a:latin typeface="Roboto"/>
                <a:cs typeface="Roboto"/>
              </a:rPr>
              <a:t>Jupyter</a:t>
            </a:r>
            <a:r>
              <a:rPr lang="es-PE" sz="1400" spc="-5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Notebook</a:t>
            </a:r>
            <a:endParaRPr lang="es-PE" sz="1400" noProof="0" dirty="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Times New Roman"/>
              <a:buChar char="○"/>
            </a:pPr>
            <a:endParaRPr lang="es-PE" sz="1400" noProof="0" dirty="0">
              <a:latin typeface="Roboto"/>
              <a:cs typeface="Roboto"/>
            </a:endParaRPr>
          </a:p>
          <a:p>
            <a:pPr marL="337185" indent="-324485">
              <a:lnSpc>
                <a:spcPct val="100000"/>
              </a:lnSpc>
              <a:buFont typeface="Times New Roman"/>
              <a:buChar char="●"/>
              <a:tabLst>
                <a:tab pos="337185" algn="l"/>
              </a:tabLst>
            </a:pPr>
            <a:r>
              <a:rPr lang="es-PE" sz="1600" spc="-10" noProof="0" dirty="0">
                <a:latin typeface="Roboto"/>
                <a:cs typeface="Roboto"/>
              </a:rPr>
              <a:t>Herramientas:</a:t>
            </a:r>
            <a:endParaRPr lang="es-PE" sz="1600" noProof="0" dirty="0">
              <a:latin typeface="Roboto"/>
              <a:cs typeface="Roboto"/>
            </a:endParaRPr>
          </a:p>
          <a:p>
            <a:pPr marL="794385" lvl="1" indent="-307975">
              <a:lnSpc>
                <a:spcPct val="100000"/>
              </a:lnSpc>
              <a:spcBef>
                <a:spcPts val="495"/>
              </a:spcBef>
              <a:buFont typeface="Times New Roman"/>
              <a:buChar char="○"/>
              <a:tabLst>
                <a:tab pos="794385" algn="l"/>
              </a:tabLst>
            </a:pPr>
            <a:r>
              <a:rPr lang="es-PE" sz="1400" spc="-10" noProof="0" dirty="0" err="1">
                <a:latin typeface="Roboto"/>
                <a:cs typeface="Roboto"/>
              </a:rPr>
              <a:t>Github</a:t>
            </a:r>
            <a:r>
              <a:rPr lang="es-PE" sz="1400" spc="-65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para</a:t>
            </a:r>
            <a:r>
              <a:rPr lang="es-PE" sz="1400" spc="-55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repositorios</a:t>
            </a:r>
            <a:endParaRPr lang="es-PE" sz="1400" noProof="0" dirty="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Times New Roman"/>
              <a:buChar char="○"/>
            </a:pPr>
            <a:endParaRPr lang="es-PE" sz="14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noProof="0" dirty="0"/>
              <a:t>Introducción</a:t>
            </a:r>
            <a:r>
              <a:rPr lang="es-PE" spc="15" noProof="0" dirty="0"/>
              <a:t> </a:t>
            </a:r>
            <a:r>
              <a:rPr lang="es-PE" noProof="0" dirty="0"/>
              <a:t>a</a:t>
            </a:r>
            <a:r>
              <a:rPr lang="es-PE" spc="-30" noProof="0" dirty="0"/>
              <a:t> </a:t>
            </a:r>
            <a:r>
              <a:rPr lang="es-PE" noProof="0" dirty="0"/>
              <a:t>Deep</a:t>
            </a:r>
            <a:r>
              <a:rPr lang="es-PE" spc="-30" noProof="0" dirty="0"/>
              <a:t> </a:t>
            </a:r>
            <a:r>
              <a:rPr lang="es-PE" spc="-10" noProof="0" dirty="0" err="1"/>
              <a:t>Learning</a:t>
            </a:r>
            <a:endParaRPr lang="es-PE" spc="-10" noProof="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09600" y="819150"/>
            <a:ext cx="7924800" cy="383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 marR="37465" indent="-5080" algn="ctr">
              <a:lnSpc>
                <a:spcPct val="120000"/>
              </a:lnSpc>
              <a:spcBef>
                <a:spcPts val="100"/>
              </a:spcBef>
              <a:tabLst>
                <a:tab pos="2120900" algn="l"/>
                <a:tab pos="2947670" algn="l"/>
                <a:tab pos="3562350" algn="l"/>
              </a:tabLst>
            </a:pPr>
            <a:r>
              <a:rPr lang="es-PE" sz="1600" i="1" spc="-30" noProof="0" dirty="0">
                <a:solidFill>
                  <a:srgbClr val="1F2023"/>
                </a:solidFill>
                <a:latin typeface="Roboto"/>
                <a:cs typeface="Roboto"/>
              </a:rPr>
              <a:t>“Deep</a:t>
            </a:r>
            <a:r>
              <a:rPr lang="es-PE" sz="1600" i="1" spc="-4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learning</a:t>
            </a:r>
            <a:r>
              <a:rPr lang="es-PE" sz="1600" i="1" spc="-3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is</a:t>
            </a:r>
            <a:r>
              <a:rPr lang="es-PE" sz="1600" i="1" spc="-7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>
                <a:solidFill>
                  <a:srgbClr val="040C28"/>
                </a:solidFill>
                <a:latin typeface="Roboto"/>
                <a:cs typeface="Roboto"/>
              </a:rPr>
              <a:t>a</a:t>
            </a:r>
            <a:r>
              <a:rPr lang="es-PE" sz="1600" i="1" spc="-6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20" noProof="0" dirty="0" err="1">
                <a:solidFill>
                  <a:srgbClr val="040C28"/>
                </a:solidFill>
                <a:latin typeface="Roboto"/>
                <a:cs typeface="Roboto"/>
              </a:rPr>
              <a:t>form</a:t>
            </a:r>
            <a:r>
              <a:rPr lang="es-PE" sz="1600" i="1" spc="-8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040C28"/>
                </a:solidFill>
                <a:latin typeface="Roboto"/>
                <a:cs typeface="Roboto"/>
              </a:rPr>
              <a:t>of</a:t>
            </a:r>
            <a:r>
              <a:rPr lang="es-PE" sz="1600" i="1" spc="-6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>
                <a:solidFill>
                  <a:srgbClr val="040C28"/>
                </a:solidFill>
                <a:latin typeface="Roboto"/>
                <a:cs typeface="Roboto"/>
              </a:rPr>
              <a:t>machine</a:t>
            </a:r>
            <a:r>
              <a:rPr lang="es-PE" sz="1600" i="1" spc="-5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040C28"/>
                </a:solidFill>
                <a:latin typeface="Roboto"/>
                <a:cs typeface="Roboto"/>
              </a:rPr>
              <a:t>learning</a:t>
            </a:r>
            <a:r>
              <a:rPr lang="es-PE" sz="1600" i="1" spc="-5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040C28"/>
                </a:solidFill>
                <a:latin typeface="Roboto"/>
                <a:cs typeface="Roboto"/>
              </a:rPr>
              <a:t>that</a:t>
            </a:r>
            <a:r>
              <a:rPr lang="es-PE" sz="1600" i="1" spc="-5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30" noProof="0" dirty="0" err="1">
                <a:solidFill>
                  <a:srgbClr val="040C28"/>
                </a:solidFill>
                <a:latin typeface="Roboto"/>
                <a:cs typeface="Roboto"/>
              </a:rPr>
              <a:t>enables</a:t>
            </a:r>
            <a:r>
              <a:rPr lang="es-PE" sz="1600" i="1" spc="-3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40" noProof="0" dirty="0" err="1">
                <a:solidFill>
                  <a:srgbClr val="040C28"/>
                </a:solidFill>
                <a:latin typeface="Roboto"/>
                <a:cs typeface="Roboto"/>
              </a:rPr>
              <a:t>computers</a:t>
            </a:r>
            <a:r>
              <a:rPr lang="es-PE" sz="1600" i="1" spc="-5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040C28"/>
                </a:solidFill>
                <a:latin typeface="Roboto"/>
                <a:cs typeface="Roboto"/>
              </a:rPr>
              <a:t>to</a:t>
            </a:r>
            <a:r>
              <a:rPr lang="es-PE" sz="1600" i="1" spc="-7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040C28"/>
                </a:solidFill>
                <a:latin typeface="Roboto"/>
                <a:cs typeface="Roboto"/>
              </a:rPr>
              <a:t>learn</a:t>
            </a:r>
            <a:r>
              <a:rPr lang="es-PE" sz="1600" i="1" spc="-5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20" noProof="0" dirty="0" err="1">
                <a:solidFill>
                  <a:srgbClr val="040C28"/>
                </a:solidFill>
                <a:latin typeface="Roboto"/>
                <a:cs typeface="Roboto"/>
              </a:rPr>
              <a:t>from</a:t>
            </a:r>
            <a:r>
              <a:rPr lang="es-PE" sz="1600" i="1" spc="-2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30" noProof="0" dirty="0" err="1">
                <a:solidFill>
                  <a:srgbClr val="040C28"/>
                </a:solidFill>
                <a:latin typeface="Roboto"/>
                <a:cs typeface="Roboto"/>
              </a:rPr>
              <a:t>experience</a:t>
            </a:r>
            <a:r>
              <a:rPr lang="es-PE" sz="1600" i="1" spc="-2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>
                <a:solidFill>
                  <a:srgbClr val="040C28"/>
                </a:solidFill>
                <a:latin typeface="Roboto"/>
                <a:cs typeface="Roboto"/>
              </a:rPr>
              <a:t>and</a:t>
            </a:r>
            <a:r>
              <a:rPr lang="es-PE" sz="1600" i="1" spc="-4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45" noProof="0" dirty="0" err="1">
                <a:solidFill>
                  <a:srgbClr val="040C28"/>
                </a:solidFill>
                <a:latin typeface="Roboto"/>
                <a:cs typeface="Roboto"/>
              </a:rPr>
              <a:t>understand</a:t>
            </a:r>
            <a:r>
              <a:rPr lang="es-PE" sz="1600" i="1" spc="-2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040C28"/>
                </a:solidFill>
                <a:latin typeface="Roboto"/>
                <a:cs typeface="Roboto"/>
              </a:rPr>
              <a:t>the</a:t>
            </a:r>
            <a:r>
              <a:rPr lang="es-PE" sz="1600" i="1" spc="-25" dirty="0">
                <a:solidFill>
                  <a:srgbClr val="040C28"/>
                </a:solidFill>
                <a:latin typeface="Roboto"/>
                <a:cs typeface="Roboto"/>
              </a:rPr>
              <a:t> w</a:t>
            </a:r>
            <a:r>
              <a:rPr lang="es-PE" sz="1600" i="1" spc="-20" noProof="0" dirty="0" err="1">
                <a:solidFill>
                  <a:srgbClr val="040C28"/>
                </a:solidFill>
                <a:latin typeface="Roboto"/>
                <a:cs typeface="Roboto"/>
              </a:rPr>
              <a:t>orld</a:t>
            </a:r>
            <a:r>
              <a:rPr lang="es-PE" sz="1600" i="1" spc="-6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>
                <a:solidFill>
                  <a:srgbClr val="040C28"/>
                </a:solidFill>
                <a:latin typeface="Roboto"/>
                <a:cs typeface="Roboto"/>
              </a:rPr>
              <a:t>in</a:t>
            </a:r>
            <a:r>
              <a:rPr lang="es-PE" sz="1600" i="1" spc="-4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040C28"/>
                </a:solidFill>
                <a:latin typeface="Roboto"/>
                <a:cs typeface="Roboto"/>
              </a:rPr>
              <a:t>terms</a:t>
            </a:r>
            <a:r>
              <a:rPr lang="es-PE" sz="1600" i="1" spc="-5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040C28"/>
                </a:solidFill>
                <a:latin typeface="Roboto"/>
                <a:cs typeface="Roboto"/>
              </a:rPr>
              <a:t>of</a:t>
            </a:r>
            <a:r>
              <a:rPr lang="es-PE" sz="1600" i="1" spc="-5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>
                <a:solidFill>
                  <a:srgbClr val="040C28"/>
                </a:solidFill>
                <a:latin typeface="Roboto"/>
                <a:cs typeface="Roboto"/>
              </a:rPr>
              <a:t>a</a:t>
            </a:r>
            <a:r>
              <a:rPr lang="es-PE" sz="1600" i="1" spc="-55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40" noProof="0" dirty="0" err="1">
                <a:solidFill>
                  <a:srgbClr val="040C28"/>
                </a:solidFill>
                <a:latin typeface="Roboto"/>
                <a:cs typeface="Roboto"/>
              </a:rPr>
              <a:t>hierarchy</a:t>
            </a:r>
            <a:r>
              <a:rPr lang="es-PE" sz="1600" i="1" spc="-5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040C28"/>
                </a:solidFill>
                <a:latin typeface="Roboto"/>
                <a:cs typeface="Roboto"/>
              </a:rPr>
              <a:t>of</a:t>
            </a:r>
            <a:r>
              <a:rPr lang="es-PE" sz="1600" i="1" spc="-60" noProof="0" dirty="0">
                <a:solidFill>
                  <a:srgbClr val="040C28"/>
                </a:solidFill>
                <a:latin typeface="Roboto"/>
                <a:cs typeface="Roboto"/>
              </a:rPr>
              <a:t> </a:t>
            </a:r>
            <a:r>
              <a:rPr lang="es-PE" sz="1600" i="1" spc="-30" noProof="0" dirty="0" err="1">
                <a:solidFill>
                  <a:srgbClr val="040C28"/>
                </a:solidFill>
                <a:latin typeface="Roboto"/>
                <a:cs typeface="Roboto"/>
              </a:rPr>
              <a:t>concepts</a:t>
            </a:r>
            <a:r>
              <a:rPr lang="es-PE" sz="1600" i="1" spc="-30" noProof="0" dirty="0">
                <a:solidFill>
                  <a:srgbClr val="1F2023"/>
                </a:solidFill>
                <a:latin typeface="Roboto"/>
                <a:cs typeface="Roboto"/>
              </a:rPr>
              <a:t>.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Because</a:t>
            </a:r>
            <a:r>
              <a:rPr lang="es-PE" sz="1600" i="1" spc="-4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the</a:t>
            </a:r>
            <a:r>
              <a:rPr lang="es-PE" sz="1600" i="1" spc="-2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computer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40" noProof="0" dirty="0" err="1">
                <a:solidFill>
                  <a:srgbClr val="1F2023"/>
                </a:solidFill>
                <a:latin typeface="Roboto"/>
                <a:cs typeface="Roboto"/>
              </a:rPr>
              <a:t>gathers</a:t>
            </a:r>
            <a:r>
              <a:rPr lang="es-PE" sz="1600" i="1" spc="-4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kno</a:t>
            </a:r>
            <a:r>
              <a:rPr lang="es-PE" sz="1600" i="1" spc="-25" dirty="0">
                <a:solidFill>
                  <a:srgbClr val="1F2023"/>
                </a:solidFill>
                <a:latin typeface="Roboto"/>
                <a:cs typeface="Roboto"/>
              </a:rPr>
              <a:t>w</a:t>
            </a:r>
            <a:r>
              <a:rPr lang="es-PE" sz="1600" i="1" spc="-20" noProof="0" dirty="0" err="1">
                <a:solidFill>
                  <a:srgbClr val="1F2023"/>
                </a:solidFill>
                <a:latin typeface="Roboto"/>
                <a:cs typeface="Roboto"/>
              </a:rPr>
              <a:t>ledge</a:t>
            </a:r>
            <a:r>
              <a:rPr lang="es-PE" sz="1600" i="1" spc="-5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0" noProof="0" dirty="0" err="1">
                <a:solidFill>
                  <a:srgbClr val="1F2023"/>
                </a:solidFill>
                <a:latin typeface="Roboto"/>
                <a:cs typeface="Roboto"/>
              </a:rPr>
              <a:t>from</a:t>
            </a:r>
            <a:r>
              <a:rPr lang="es-PE" sz="1600" i="1" spc="-6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0" noProof="0" dirty="0" err="1">
                <a:solidFill>
                  <a:srgbClr val="1F2023"/>
                </a:solidFill>
                <a:latin typeface="Roboto"/>
                <a:cs typeface="Roboto"/>
              </a:rPr>
              <a:t>experience</a:t>
            </a:r>
            <a:r>
              <a:rPr lang="es-PE" sz="1600" i="1" spc="-30" noProof="0" dirty="0">
                <a:solidFill>
                  <a:srgbClr val="1F2023"/>
                </a:solidFill>
                <a:latin typeface="Roboto"/>
                <a:cs typeface="Roboto"/>
              </a:rPr>
              <a:t>,</a:t>
            </a:r>
            <a:r>
              <a:rPr lang="es-PE" sz="1600" i="1" spc="-3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there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is</a:t>
            </a:r>
            <a:r>
              <a:rPr lang="es-PE" sz="1600" i="1" spc="-7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>
                <a:solidFill>
                  <a:srgbClr val="1F2023"/>
                </a:solidFill>
                <a:latin typeface="Roboto"/>
                <a:cs typeface="Roboto"/>
              </a:rPr>
              <a:t>no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need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for</a:t>
            </a:r>
            <a:r>
              <a:rPr lang="es-PE" sz="1600" i="1" spc="-7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>
                <a:solidFill>
                  <a:srgbClr val="1F2023"/>
                </a:solidFill>
                <a:latin typeface="Roboto"/>
                <a:cs typeface="Roboto"/>
              </a:rPr>
              <a:t>a</a:t>
            </a:r>
            <a:r>
              <a:rPr lang="es-PE" sz="1600" i="1" spc="-6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50" noProof="0" dirty="0">
                <a:solidFill>
                  <a:srgbClr val="1F2023"/>
                </a:solidFill>
                <a:latin typeface="Roboto"/>
                <a:cs typeface="Roboto"/>
              </a:rPr>
              <a:t>human </a:t>
            </a:r>
            <a:r>
              <a:rPr lang="es-PE" sz="1600" i="1" spc="-10" noProof="0" dirty="0" err="1">
                <a:solidFill>
                  <a:srgbClr val="1F2023"/>
                </a:solidFill>
                <a:latin typeface="Roboto"/>
                <a:cs typeface="Roboto"/>
              </a:rPr>
              <a:t>computer</a:t>
            </a:r>
            <a:r>
              <a:rPr lang="es-PE" sz="1600" i="1" spc="-1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operator</a:t>
            </a:r>
            <a:r>
              <a:rPr lang="es-PE" sz="1600" i="1" spc="-5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to</a:t>
            </a:r>
            <a:r>
              <a:rPr lang="es-PE" sz="1600" i="1" spc="-6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0" noProof="0" dirty="0" err="1">
                <a:solidFill>
                  <a:srgbClr val="1F2023"/>
                </a:solidFill>
                <a:latin typeface="Roboto"/>
                <a:cs typeface="Roboto"/>
              </a:rPr>
              <a:t>formally</a:t>
            </a:r>
            <a:r>
              <a:rPr lang="es-PE" sz="1600" i="1" spc="-6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specify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10" noProof="0" dirty="0" err="1">
                <a:solidFill>
                  <a:srgbClr val="1F2023"/>
                </a:solidFill>
                <a:latin typeface="Roboto"/>
                <a:cs typeface="Roboto"/>
              </a:rPr>
              <a:t>all</a:t>
            </a:r>
            <a:r>
              <a:rPr lang="es-PE" sz="1600" i="1" spc="-7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0" noProof="0" dirty="0" err="1">
                <a:solidFill>
                  <a:srgbClr val="1F2023"/>
                </a:solidFill>
                <a:latin typeface="Roboto"/>
                <a:cs typeface="Roboto"/>
              </a:rPr>
              <a:t>the</a:t>
            </a:r>
            <a:r>
              <a:rPr lang="es-PE" sz="1600" i="1" spc="-6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kno</a:t>
            </a:r>
            <a:r>
              <a:rPr lang="es-PE" sz="1600" i="1" spc="-25" dirty="0">
                <a:solidFill>
                  <a:srgbClr val="1F2023"/>
                </a:solidFill>
                <a:latin typeface="Roboto"/>
                <a:cs typeface="Roboto"/>
              </a:rPr>
              <a:t>w</a:t>
            </a:r>
            <a:r>
              <a:rPr lang="es-PE" sz="1600" i="1" spc="-20" noProof="0" dirty="0" err="1">
                <a:solidFill>
                  <a:srgbClr val="1F2023"/>
                </a:solidFill>
                <a:latin typeface="Roboto"/>
                <a:cs typeface="Roboto"/>
              </a:rPr>
              <a:t>ledge</a:t>
            </a:r>
            <a:r>
              <a:rPr lang="es-PE" sz="1600" i="1" spc="-5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that</a:t>
            </a:r>
            <a:r>
              <a:rPr lang="es-PE" sz="1600" i="1" spc="-6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0" noProof="0" dirty="0" err="1">
                <a:solidFill>
                  <a:srgbClr val="1F2023"/>
                </a:solidFill>
                <a:latin typeface="Roboto"/>
                <a:cs typeface="Roboto"/>
              </a:rPr>
              <a:t>the</a:t>
            </a:r>
            <a:r>
              <a:rPr lang="es-PE" sz="1600" i="1" spc="-8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computer</a:t>
            </a:r>
            <a:r>
              <a:rPr lang="es-PE" sz="1600" i="1" spc="-5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10" noProof="0" dirty="0" err="1">
                <a:solidFill>
                  <a:srgbClr val="1F2023"/>
                </a:solidFill>
                <a:latin typeface="Roboto"/>
                <a:cs typeface="Roboto"/>
              </a:rPr>
              <a:t>needs</a:t>
            </a:r>
            <a:r>
              <a:rPr lang="es-PE" sz="1600" i="1" spc="-10" noProof="0" dirty="0">
                <a:solidFill>
                  <a:srgbClr val="1F2023"/>
                </a:solidFill>
                <a:latin typeface="Roboto"/>
                <a:cs typeface="Roboto"/>
              </a:rPr>
              <a:t>.”</a:t>
            </a:r>
            <a:endParaRPr lang="es-PE" sz="1600" noProof="0" dirty="0">
              <a:latin typeface="Roboto"/>
              <a:cs typeface="Roboto"/>
            </a:endParaRPr>
          </a:p>
          <a:p>
            <a:pPr marL="1270" algn="ctr">
              <a:lnSpc>
                <a:spcPct val="100000"/>
              </a:lnSpc>
              <a:spcBef>
                <a:spcPts val="384"/>
              </a:spcBef>
            </a:pPr>
            <a:r>
              <a:rPr lang="es-PE" sz="1600" b="1" noProof="0" dirty="0">
                <a:solidFill>
                  <a:srgbClr val="1F2023"/>
                </a:solidFill>
                <a:latin typeface="Roboto"/>
                <a:cs typeface="Roboto"/>
              </a:rPr>
              <a:t>Ian</a:t>
            </a:r>
            <a:r>
              <a:rPr lang="es-PE" sz="1600" b="1" spc="-1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b="1" spc="-10" noProof="0" dirty="0" err="1">
                <a:solidFill>
                  <a:srgbClr val="1F2023"/>
                </a:solidFill>
                <a:latin typeface="Roboto"/>
                <a:cs typeface="Roboto"/>
              </a:rPr>
              <a:t>Goodfellow</a:t>
            </a:r>
            <a:endParaRPr lang="es-PE" sz="16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lang="es-PE" sz="1600" noProof="0" dirty="0">
              <a:latin typeface="Roboto"/>
              <a:cs typeface="Roboto"/>
            </a:endParaRPr>
          </a:p>
          <a:p>
            <a:pPr marL="12065" marR="5080" algn="ctr">
              <a:lnSpc>
                <a:spcPct val="100000"/>
              </a:lnSpc>
              <a:tabLst>
                <a:tab pos="2080895" algn="l"/>
                <a:tab pos="6574790" algn="l"/>
                <a:tab pos="7181850" algn="l"/>
              </a:tabLst>
            </a:pPr>
            <a:r>
              <a:rPr lang="es-PE" sz="1600" i="1" spc="-30" noProof="0" dirty="0">
                <a:solidFill>
                  <a:srgbClr val="1F2023"/>
                </a:solidFill>
                <a:latin typeface="Roboto"/>
                <a:cs typeface="Roboto"/>
              </a:rPr>
              <a:t>“Deep</a:t>
            </a:r>
            <a:r>
              <a:rPr lang="es-PE" sz="1600" i="1" spc="-4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learning</a:t>
            </a:r>
            <a:r>
              <a:rPr lang="es-PE" sz="1600" i="1" spc="-2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is</a:t>
            </a:r>
            <a:r>
              <a:rPr lang="es-PE" sz="1600" i="1" spc="-7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>
                <a:solidFill>
                  <a:srgbClr val="1F2023"/>
                </a:solidFill>
                <a:latin typeface="Roboto"/>
                <a:cs typeface="Roboto"/>
              </a:rPr>
              <a:t>a</a:t>
            </a:r>
            <a:r>
              <a:rPr lang="es-PE" sz="1600" i="1" spc="-6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subset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of</a:t>
            </a:r>
            <a:r>
              <a:rPr lang="es-PE" sz="1600" i="1" spc="-7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>
                <a:solidFill>
                  <a:srgbClr val="1F2023"/>
                </a:solidFill>
                <a:latin typeface="Roboto"/>
                <a:cs typeface="Roboto"/>
              </a:rPr>
              <a:t>machine</a:t>
            </a:r>
            <a:r>
              <a:rPr lang="es-PE" sz="1600" i="1" spc="-4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learning</a:t>
            </a:r>
            <a:r>
              <a:rPr lang="es-PE" sz="1600" i="1" spc="-3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that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40" noProof="0" dirty="0">
                <a:solidFill>
                  <a:srgbClr val="1F2023"/>
                </a:solidFill>
                <a:latin typeface="Roboto"/>
                <a:cs typeface="Roboto"/>
              </a:rPr>
              <a:t>uses</a:t>
            </a:r>
            <a:r>
              <a:rPr lang="es-PE" sz="1600" i="1" spc="-6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85" noProof="0" dirty="0" err="1">
                <a:solidFill>
                  <a:srgbClr val="1F2023"/>
                </a:solidFill>
                <a:latin typeface="Roboto"/>
                <a:cs typeface="Roboto"/>
              </a:rPr>
              <a:t>multi-</a:t>
            </a:r>
            <a:r>
              <a:rPr lang="es-PE" sz="1600" i="1" spc="-30" noProof="0" dirty="0" err="1">
                <a:solidFill>
                  <a:srgbClr val="1F2023"/>
                </a:solidFill>
                <a:latin typeface="Roboto"/>
                <a:cs typeface="Roboto"/>
              </a:rPr>
              <a:t>layered</a:t>
            </a:r>
            <a:r>
              <a:rPr lang="es-PE" sz="1600" i="1" spc="-2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>
                <a:solidFill>
                  <a:srgbClr val="1F2023"/>
                </a:solidFill>
                <a:latin typeface="Roboto"/>
                <a:cs typeface="Roboto"/>
              </a:rPr>
              <a:t>neural</a:t>
            </a:r>
            <a:r>
              <a:rPr lang="es-PE" sz="1600" i="1" spc="-5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>
                <a:solidFill>
                  <a:srgbClr val="1F2023"/>
                </a:solidFill>
                <a:latin typeface="Roboto"/>
                <a:cs typeface="Roboto"/>
              </a:rPr>
              <a:t>net</a:t>
            </a:r>
            <a:r>
              <a:rPr lang="es-PE" sz="1600" i="1" spc="-25" dirty="0">
                <a:solidFill>
                  <a:srgbClr val="1F2023"/>
                </a:solidFill>
                <a:latin typeface="Roboto"/>
                <a:cs typeface="Roboto"/>
              </a:rPr>
              <a:t>w</a:t>
            </a:r>
            <a:r>
              <a:rPr lang="es-PE" sz="1600" i="1" spc="-45" noProof="0" dirty="0" err="1">
                <a:solidFill>
                  <a:srgbClr val="1F2023"/>
                </a:solidFill>
                <a:latin typeface="Roboto"/>
                <a:cs typeface="Roboto"/>
              </a:rPr>
              <a:t>orks</a:t>
            </a:r>
            <a:r>
              <a:rPr lang="es-PE" sz="1600" i="1" spc="-45" noProof="0" dirty="0">
                <a:solidFill>
                  <a:srgbClr val="1F2023"/>
                </a:solidFill>
                <a:latin typeface="Roboto"/>
                <a:cs typeface="Roboto"/>
              </a:rPr>
              <a:t>,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called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0" noProof="0" dirty="0" err="1">
                <a:solidFill>
                  <a:srgbClr val="1F2023"/>
                </a:solidFill>
                <a:latin typeface="Roboto"/>
                <a:cs typeface="Roboto"/>
              </a:rPr>
              <a:t>deep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>
                <a:solidFill>
                  <a:srgbClr val="1F2023"/>
                </a:solidFill>
                <a:latin typeface="Roboto"/>
                <a:cs typeface="Roboto"/>
              </a:rPr>
              <a:t>neural</a:t>
            </a:r>
            <a:r>
              <a:rPr lang="es-PE" sz="1600" i="1" spc="-6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>
                <a:solidFill>
                  <a:srgbClr val="1F2023"/>
                </a:solidFill>
                <a:latin typeface="Roboto"/>
                <a:cs typeface="Roboto"/>
              </a:rPr>
              <a:t>net</a:t>
            </a:r>
            <a:r>
              <a:rPr lang="es-PE" sz="1600" i="1" spc="-25" dirty="0">
                <a:solidFill>
                  <a:srgbClr val="1F2023"/>
                </a:solidFill>
                <a:latin typeface="Roboto"/>
                <a:cs typeface="Roboto"/>
              </a:rPr>
              <a:t>w</a:t>
            </a:r>
            <a:r>
              <a:rPr lang="es-PE" sz="1600" i="1" spc="-20" noProof="0" dirty="0" err="1">
                <a:solidFill>
                  <a:srgbClr val="1F2023"/>
                </a:solidFill>
                <a:latin typeface="Roboto"/>
                <a:cs typeface="Roboto"/>
              </a:rPr>
              <a:t>orks</a:t>
            </a:r>
            <a:r>
              <a:rPr lang="es-PE" sz="1600" i="1" spc="-20" noProof="0" dirty="0">
                <a:solidFill>
                  <a:srgbClr val="1F2023"/>
                </a:solidFill>
                <a:latin typeface="Roboto"/>
                <a:cs typeface="Roboto"/>
              </a:rPr>
              <a:t>,</a:t>
            </a:r>
            <a:r>
              <a:rPr lang="es-PE" sz="1600" i="1" spc="-4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to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5" noProof="0" dirty="0" err="1">
                <a:solidFill>
                  <a:srgbClr val="1F2023"/>
                </a:solidFill>
                <a:latin typeface="Roboto"/>
                <a:cs typeface="Roboto"/>
              </a:rPr>
              <a:t>simulate</a:t>
            </a:r>
            <a:r>
              <a:rPr lang="es-PE" sz="1600" i="1" spc="-4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0" noProof="0" dirty="0" err="1">
                <a:solidFill>
                  <a:srgbClr val="1F2023"/>
                </a:solidFill>
                <a:latin typeface="Roboto"/>
                <a:cs typeface="Roboto"/>
              </a:rPr>
              <a:t>the</a:t>
            </a:r>
            <a:r>
              <a:rPr lang="es-PE" sz="1600" i="1" spc="-7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30" noProof="0" dirty="0" err="1">
                <a:solidFill>
                  <a:srgbClr val="1F2023"/>
                </a:solidFill>
                <a:latin typeface="Roboto"/>
                <a:cs typeface="Roboto"/>
              </a:rPr>
              <a:t>complex</a:t>
            </a:r>
            <a:r>
              <a:rPr lang="es-PE" sz="1600" i="1" spc="-4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70" noProof="0" dirty="0" err="1">
                <a:solidFill>
                  <a:srgbClr val="1F2023"/>
                </a:solidFill>
                <a:latin typeface="Roboto"/>
                <a:cs typeface="Roboto"/>
              </a:rPr>
              <a:t>decision-</a:t>
            </a:r>
            <a:r>
              <a:rPr lang="es-PE" sz="1600" i="1" spc="-30" noProof="0" dirty="0" err="1">
                <a:solidFill>
                  <a:srgbClr val="1F2023"/>
                </a:solidFill>
                <a:latin typeface="Roboto"/>
                <a:cs typeface="Roboto"/>
              </a:rPr>
              <a:t>making</a:t>
            </a:r>
            <a:r>
              <a:rPr lang="es-PE" sz="1600" i="1" spc="-10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po</a:t>
            </a:r>
            <a:r>
              <a:rPr lang="es-PE" sz="1600" i="1" spc="-25" dirty="0">
                <a:solidFill>
                  <a:srgbClr val="1F2023"/>
                </a:solidFill>
                <a:latin typeface="Roboto"/>
                <a:cs typeface="Roboto"/>
              </a:rPr>
              <a:t>w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er</a:t>
            </a:r>
            <a:r>
              <a:rPr lang="es-PE" sz="1600" i="1" spc="-4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noProof="0" dirty="0" err="1">
                <a:solidFill>
                  <a:srgbClr val="1F2023"/>
                </a:solidFill>
                <a:latin typeface="Roboto"/>
                <a:cs typeface="Roboto"/>
              </a:rPr>
              <a:t>of</a:t>
            </a:r>
            <a:r>
              <a:rPr lang="es-PE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25" noProof="0" dirty="0" err="1">
                <a:solidFill>
                  <a:srgbClr val="1F2023"/>
                </a:solidFill>
                <a:latin typeface="Roboto"/>
                <a:cs typeface="Roboto"/>
              </a:rPr>
              <a:t>the</a:t>
            </a:r>
            <a:endParaRPr lang="es-PE" sz="1600" noProof="0" dirty="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lang="es-PE" sz="1600" i="1" spc="-50" noProof="0" dirty="0">
                <a:solidFill>
                  <a:srgbClr val="1F2023"/>
                </a:solidFill>
                <a:latin typeface="Roboto"/>
                <a:cs typeface="Roboto"/>
              </a:rPr>
              <a:t>human</a:t>
            </a:r>
            <a:r>
              <a:rPr lang="es-PE" sz="1600" i="1" spc="-25" noProof="0" dirty="0">
                <a:solidFill>
                  <a:srgbClr val="1F2023"/>
                </a:solidFill>
                <a:latin typeface="Roboto"/>
                <a:cs typeface="Roboto"/>
              </a:rPr>
              <a:t> </a:t>
            </a:r>
            <a:r>
              <a:rPr lang="es-PE" sz="1600" i="1" spc="-10" noProof="0" dirty="0" err="1">
                <a:solidFill>
                  <a:srgbClr val="1F2023"/>
                </a:solidFill>
                <a:latin typeface="Roboto"/>
                <a:cs typeface="Roboto"/>
              </a:rPr>
              <a:t>brain</a:t>
            </a:r>
            <a:r>
              <a:rPr lang="es-PE" sz="1600" i="1" spc="-10" noProof="0" dirty="0">
                <a:solidFill>
                  <a:srgbClr val="1F2023"/>
                </a:solidFill>
                <a:latin typeface="Roboto"/>
                <a:cs typeface="Roboto"/>
              </a:rPr>
              <a:t>.”</a:t>
            </a:r>
            <a:endParaRPr lang="es-PE" sz="1600" noProof="0" dirty="0">
              <a:latin typeface="Roboto"/>
              <a:cs typeface="Roboto"/>
            </a:endParaRPr>
          </a:p>
          <a:p>
            <a:pPr marL="2540" algn="ctr">
              <a:lnSpc>
                <a:spcPct val="100000"/>
              </a:lnSpc>
            </a:pPr>
            <a:r>
              <a:rPr lang="es-PE" sz="1600" b="1" spc="-25" noProof="0" dirty="0">
                <a:solidFill>
                  <a:srgbClr val="1F2023"/>
                </a:solidFill>
                <a:latin typeface="Roboto"/>
                <a:cs typeface="Roboto"/>
              </a:rPr>
              <a:t>IBM</a:t>
            </a:r>
          </a:p>
          <a:p>
            <a:pPr marL="2540" algn="ctr">
              <a:lnSpc>
                <a:spcPct val="100000"/>
              </a:lnSpc>
            </a:pPr>
            <a:endParaRPr lang="es-PE" sz="1600" b="1" spc="-25" dirty="0">
              <a:solidFill>
                <a:srgbClr val="1F2023"/>
              </a:solidFill>
              <a:latin typeface="Roboto"/>
              <a:cs typeface="Roboto"/>
            </a:endParaRPr>
          </a:p>
          <a:p>
            <a:pPr marL="2540" algn="ctr">
              <a:lnSpc>
                <a:spcPct val="100000"/>
              </a:lnSpc>
            </a:pPr>
            <a:r>
              <a:rPr lang="es-PE" sz="1600" b="1" spc="-25" noProof="0" dirty="0">
                <a:solidFill>
                  <a:srgbClr val="1F2023"/>
                </a:solidFill>
                <a:latin typeface="Roboto"/>
                <a:cs typeface="Roboto"/>
              </a:rPr>
              <a:t>“</a:t>
            </a:r>
            <a:r>
              <a:rPr lang="en-US" sz="1600" i="1" spc="-55" noProof="0" dirty="0">
                <a:solidFill>
                  <a:srgbClr val="1F2023"/>
                </a:solidFill>
                <a:latin typeface="Roboto"/>
                <a:cs typeface="Roboto"/>
              </a:rPr>
              <a:t>Deep learning has evolved from modeling perception to modeling reasoning. The boundary between pattern recognition and intelligence is starting to blur.</a:t>
            </a:r>
            <a:r>
              <a:rPr lang="es-PE" sz="1600" b="1" spc="-25" noProof="0" dirty="0">
                <a:solidFill>
                  <a:srgbClr val="1F2023"/>
                </a:solidFill>
                <a:latin typeface="Roboto"/>
                <a:cs typeface="Roboto"/>
              </a:rPr>
              <a:t>”</a:t>
            </a:r>
          </a:p>
          <a:p>
            <a:pPr marL="2540" algn="ctr"/>
            <a:r>
              <a:rPr lang="es-PE" sz="1600" b="1" spc="-25" noProof="0" dirty="0">
                <a:solidFill>
                  <a:srgbClr val="1F2023"/>
                </a:solidFill>
                <a:latin typeface="Roboto"/>
                <a:cs typeface="Roboto"/>
              </a:rPr>
              <a:t>Andrew 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grpSp>
        <p:nvGrpSpPr>
          <p:cNvPr id="3" name="object 3"/>
          <p:cNvGrpSpPr/>
          <p:nvPr/>
        </p:nvGrpSpPr>
        <p:grpSpPr>
          <a:xfrm>
            <a:off x="-4762" y="-4749"/>
            <a:ext cx="9153525" cy="479425"/>
            <a:chOff x="-4762" y="-4749"/>
            <a:chExt cx="9153525" cy="479425"/>
          </a:xfrm>
        </p:grpSpPr>
        <p:sp>
          <p:nvSpPr>
            <p:cNvPr id="4" name="object 4"/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9144000" y="0"/>
                  </a:moveTo>
                  <a:lnTo>
                    <a:pt x="0" y="0"/>
                  </a:lnTo>
                  <a:lnTo>
                    <a:pt x="0" y="469506"/>
                  </a:lnTo>
                  <a:lnTo>
                    <a:pt x="9144000" y="46950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0" y="469506"/>
                  </a:moveTo>
                  <a:lnTo>
                    <a:pt x="9144000" y="46950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69506"/>
                  </a:lnTo>
                  <a:close/>
                </a:path>
              </a:pathLst>
            </a:custGeom>
            <a:ln w="95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noProof="0" dirty="0"/>
              <a:t>Introducción</a:t>
            </a:r>
            <a:r>
              <a:rPr lang="es-PE" spc="15" noProof="0" dirty="0"/>
              <a:t> </a:t>
            </a:r>
            <a:r>
              <a:rPr lang="es-PE" noProof="0" dirty="0"/>
              <a:t>a</a:t>
            </a:r>
            <a:r>
              <a:rPr lang="es-PE" spc="-30" noProof="0" dirty="0"/>
              <a:t> </a:t>
            </a:r>
            <a:r>
              <a:rPr lang="es-PE" noProof="0" dirty="0"/>
              <a:t>Deep</a:t>
            </a:r>
            <a:r>
              <a:rPr lang="es-PE" spc="-30" noProof="0" dirty="0"/>
              <a:t> </a:t>
            </a:r>
            <a:r>
              <a:rPr lang="es-PE" spc="-10" noProof="0" dirty="0" err="1"/>
              <a:t>Learning</a:t>
            </a:r>
            <a:endParaRPr lang="es-PE" spc="-10" noProof="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2475" y="666750"/>
            <a:ext cx="7810309" cy="39512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noProof="0" dirty="0"/>
              <a:t>Introducción</a:t>
            </a:r>
            <a:r>
              <a:rPr lang="es-PE" spc="15" noProof="0" dirty="0"/>
              <a:t> </a:t>
            </a:r>
            <a:r>
              <a:rPr lang="es-PE" noProof="0" dirty="0"/>
              <a:t>a</a:t>
            </a:r>
            <a:r>
              <a:rPr lang="es-PE" spc="-30" noProof="0" dirty="0"/>
              <a:t> </a:t>
            </a:r>
            <a:r>
              <a:rPr lang="es-PE" noProof="0" dirty="0"/>
              <a:t>Deep</a:t>
            </a:r>
            <a:r>
              <a:rPr lang="es-PE" spc="-30" noProof="0" dirty="0"/>
              <a:t> </a:t>
            </a:r>
            <a:r>
              <a:rPr lang="es-PE" spc="-10" noProof="0" dirty="0" err="1"/>
              <a:t>Learning</a:t>
            </a:r>
            <a:endParaRPr lang="es-PE" spc="-10" noProof="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215" y="666407"/>
            <a:ext cx="3733546" cy="379196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0986" y="4529429"/>
            <a:ext cx="26200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400" spc="-10" noProof="0" dirty="0">
                <a:latin typeface="Roboto"/>
                <a:cs typeface="Roboto"/>
              </a:rPr>
              <a:t>Diagrama</a:t>
            </a:r>
            <a:r>
              <a:rPr lang="es-PE" sz="1400" spc="-60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de</a:t>
            </a:r>
            <a:r>
              <a:rPr lang="es-PE" sz="1400" spc="-25" noProof="0" dirty="0">
                <a:latin typeface="Roboto"/>
                <a:cs typeface="Roboto"/>
              </a:rPr>
              <a:t> </a:t>
            </a:r>
            <a:r>
              <a:rPr lang="es-PE" sz="1400" spc="-10" noProof="0" dirty="0" err="1">
                <a:latin typeface="Roboto"/>
                <a:cs typeface="Roboto"/>
              </a:rPr>
              <a:t>Venn</a:t>
            </a:r>
            <a:r>
              <a:rPr lang="es-PE" sz="1400" spc="-55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de</a:t>
            </a:r>
            <a:r>
              <a:rPr lang="es-PE" sz="1400" spc="-25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algoritmos</a:t>
            </a:r>
            <a:endParaRPr lang="es-PE" sz="1400" noProof="0" dirty="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91634" y="666407"/>
            <a:ext cx="2823464" cy="379196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46675" y="4488586"/>
            <a:ext cx="19151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400" noProof="0" dirty="0">
                <a:latin typeface="Roboto"/>
                <a:cs typeface="Roboto"/>
              </a:rPr>
              <a:t>Enfoques</a:t>
            </a:r>
            <a:r>
              <a:rPr lang="es-PE" sz="1400" spc="-60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de</a:t>
            </a:r>
            <a:r>
              <a:rPr lang="es-PE" sz="1400" spc="-45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soluciones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73518" y="1764893"/>
            <a:ext cx="1482090" cy="187007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lang="es-PE" sz="1400" noProof="0" dirty="0">
                <a:solidFill>
                  <a:srgbClr val="DB4437"/>
                </a:solidFill>
                <a:latin typeface="Roboto"/>
                <a:cs typeface="Roboto"/>
              </a:rPr>
              <a:t>Redes</a:t>
            </a:r>
            <a:r>
              <a:rPr lang="es-PE" sz="1400" spc="-80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spc="-10" noProof="0" dirty="0">
                <a:solidFill>
                  <a:srgbClr val="DB4437"/>
                </a:solidFill>
                <a:latin typeface="Roboto"/>
                <a:cs typeface="Roboto"/>
              </a:rPr>
              <a:t>neuronales:</a:t>
            </a:r>
            <a:endParaRPr lang="es-PE" sz="1400" noProof="0" dirty="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lang="es-PE" sz="1400" spc="-245" noProof="0" dirty="0">
                <a:solidFill>
                  <a:srgbClr val="DB4437"/>
                </a:solidFill>
                <a:latin typeface="Roboto"/>
                <a:cs typeface="Roboto"/>
              </a:rPr>
              <a:t>-</a:t>
            </a:r>
            <a:r>
              <a:rPr lang="es-PE" sz="1400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spc="-10" noProof="0" dirty="0">
                <a:solidFill>
                  <a:srgbClr val="DB4437"/>
                </a:solidFill>
                <a:latin typeface="Roboto"/>
                <a:cs typeface="Roboto"/>
              </a:rPr>
              <a:t>Aprendizaje</a:t>
            </a:r>
            <a:endParaRPr lang="es-PE" sz="1400" noProof="0" dirty="0">
              <a:latin typeface="Roboto"/>
              <a:cs typeface="Roboto"/>
            </a:endParaRPr>
          </a:p>
          <a:p>
            <a:pPr marL="1905" algn="ctr">
              <a:lnSpc>
                <a:spcPct val="100000"/>
              </a:lnSpc>
            </a:pPr>
            <a:r>
              <a:rPr lang="es-PE" sz="1400" noProof="0" dirty="0" err="1">
                <a:solidFill>
                  <a:srgbClr val="DB4437"/>
                </a:solidFill>
                <a:latin typeface="Roboto"/>
                <a:cs typeface="Roboto"/>
              </a:rPr>
              <a:t>end</a:t>
            </a:r>
            <a:r>
              <a:rPr lang="es-PE" sz="1400" spc="-45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noProof="0" dirty="0" err="1">
                <a:solidFill>
                  <a:srgbClr val="DB4437"/>
                </a:solidFill>
                <a:latin typeface="Roboto"/>
                <a:cs typeface="Roboto"/>
              </a:rPr>
              <a:t>to</a:t>
            </a:r>
            <a:r>
              <a:rPr lang="es-PE" sz="1400" spc="-25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spc="-20" noProof="0" dirty="0" err="1">
                <a:solidFill>
                  <a:srgbClr val="DB4437"/>
                </a:solidFill>
                <a:latin typeface="Roboto"/>
                <a:cs typeface="Roboto"/>
              </a:rPr>
              <a:t>end</a:t>
            </a:r>
            <a:r>
              <a:rPr lang="es-PE" sz="1400" spc="-20" noProof="0" dirty="0">
                <a:solidFill>
                  <a:srgbClr val="DB4437"/>
                </a:solidFill>
                <a:latin typeface="Roboto"/>
                <a:cs typeface="Roboto"/>
              </a:rPr>
              <a:t>.</a:t>
            </a:r>
            <a:endParaRPr lang="es-PE" sz="1400" noProof="0" dirty="0">
              <a:latin typeface="Roboto"/>
              <a:cs typeface="Roboto"/>
            </a:endParaRPr>
          </a:p>
          <a:p>
            <a:pPr marL="123825" marR="115570" algn="ctr">
              <a:lnSpc>
                <a:spcPct val="100000"/>
              </a:lnSpc>
              <a:spcBef>
                <a:spcPts val="840"/>
              </a:spcBef>
            </a:pPr>
            <a:r>
              <a:rPr lang="es-PE" sz="1400" spc="-245" noProof="0" dirty="0">
                <a:solidFill>
                  <a:srgbClr val="DB4437"/>
                </a:solidFill>
                <a:latin typeface="Roboto"/>
                <a:cs typeface="Roboto"/>
              </a:rPr>
              <a:t>-</a:t>
            </a:r>
            <a:r>
              <a:rPr lang="es-PE" sz="1400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spc="-10" noProof="0" dirty="0">
                <a:solidFill>
                  <a:srgbClr val="DB4437"/>
                </a:solidFill>
                <a:latin typeface="Roboto"/>
                <a:cs typeface="Roboto"/>
              </a:rPr>
              <a:t>Aprenden Composiciones</a:t>
            </a:r>
            <a:endParaRPr lang="es-PE" sz="14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lang="es-PE" sz="1400" noProof="0" dirty="0">
              <a:latin typeface="Roboto"/>
              <a:cs typeface="Roboto"/>
            </a:endParaRPr>
          </a:p>
          <a:p>
            <a:pPr marL="1905" algn="ctr">
              <a:lnSpc>
                <a:spcPct val="100000"/>
              </a:lnSpc>
            </a:pPr>
            <a:r>
              <a:rPr lang="es-PE" sz="1400" b="1" noProof="0" dirty="0">
                <a:solidFill>
                  <a:srgbClr val="DB4437"/>
                </a:solidFill>
                <a:latin typeface="Roboto"/>
                <a:cs typeface="Roboto"/>
              </a:rPr>
              <a:t>-</a:t>
            </a:r>
            <a:r>
              <a:rPr lang="es-PE" sz="1400" b="1" spc="-40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b="1" noProof="0" dirty="0">
                <a:solidFill>
                  <a:srgbClr val="DB4437"/>
                </a:solidFill>
                <a:latin typeface="Roboto"/>
                <a:cs typeface="Roboto"/>
              </a:rPr>
              <a:t>NO</a:t>
            </a:r>
            <a:r>
              <a:rPr lang="es-PE" sz="1400" b="1" spc="-45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b="1" spc="-10" noProof="0" dirty="0">
                <a:solidFill>
                  <a:srgbClr val="DB4437"/>
                </a:solidFill>
                <a:latin typeface="Roboto"/>
                <a:cs typeface="Roboto"/>
              </a:rPr>
              <a:t>LINEALES</a:t>
            </a:r>
            <a:endParaRPr lang="es-PE" sz="14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9163" y="2125167"/>
            <a:ext cx="792225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4800" b="0" spc="-175" noProof="0" dirty="0" err="1">
                <a:latin typeface="Roboto"/>
                <a:cs typeface="Roboto"/>
              </a:rPr>
              <a:t>Feed</a:t>
            </a:r>
            <a:r>
              <a:rPr lang="es-PE" sz="4800" b="0" spc="-175" noProof="0" dirty="0">
                <a:latin typeface="Roboto"/>
                <a:cs typeface="Roboto"/>
              </a:rPr>
              <a:t>-</a:t>
            </a:r>
            <a:r>
              <a:rPr lang="es-PE" sz="4800" b="0" noProof="0" dirty="0">
                <a:latin typeface="Roboto"/>
                <a:cs typeface="Roboto"/>
              </a:rPr>
              <a:t>Forward</a:t>
            </a:r>
            <a:r>
              <a:rPr lang="es-PE" sz="4800" b="0" spc="-200" noProof="0" dirty="0">
                <a:latin typeface="Roboto"/>
                <a:cs typeface="Roboto"/>
              </a:rPr>
              <a:t> </a:t>
            </a:r>
            <a:r>
              <a:rPr lang="es-PE" sz="4800" b="0" spc="-10" noProof="0" dirty="0">
                <a:latin typeface="Roboto"/>
                <a:cs typeface="Roboto"/>
              </a:rPr>
              <a:t>neural</a:t>
            </a:r>
            <a:r>
              <a:rPr lang="es-PE" sz="4800" b="0" spc="-200" noProof="0" dirty="0">
                <a:latin typeface="Roboto"/>
                <a:cs typeface="Roboto"/>
              </a:rPr>
              <a:t> </a:t>
            </a:r>
            <a:r>
              <a:rPr lang="es-PE" sz="4800" b="0" spc="-10" noProof="0" dirty="0">
                <a:latin typeface="Roboto"/>
                <a:cs typeface="Roboto"/>
              </a:rPr>
              <a:t>network</a:t>
            </a:r>
            <a:endParaRPr lang="es-PE" sz="48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CE82F-165E-E5F0-6FFC-D71BF85E2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7">
            <a:extLst>
              <a:ext uri="{FF2B5EF4-FFF2-40B4-BE49-F238E27FC236}">
                <a16:creationId xmlns:a16="http://schemas.microsoft.com/office/drawing/2014/main" id="{7F18EC4B-CF8E-729B-96FB-0B5DC444AC9B}"/>
              </a:ext>
            </a:extLst>
          </p:cNvPr>
          <p:cNvGrpSpPr/>
          <p:nvPr/>
        </p:nvGrpSpPr>
        <p:grpSpPr>
          <a:xfrm>
            <a:off x="-4762" y="-4749"/>
            <a:ext cx="9153525" cy="479425"/>
            <a:chOff x="-4762" y="-4749"/>
            <a:chExt cx="9153525" cy="47942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79235AA0-7B63-3BED-F08A-4C91DD174519}"/>
                </a:ext>
              </a:extLst>
            </p:cNvPr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9144000" y="0"/>
                  </a:moveTo>
                  <a:lnTo>
                    <a:pt x="0" y="0"/>
                  </a:lnTo>
                  <a:lnTo>
                    <a:pt x="0" y="469506"/>
                  </a:lnTo>
                  <a:lnTo>
                    <a:pt x="9144000" y="46950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A51EA4F-2B11-3744-D28B-4F7594D3B5E2}"/>
                </a:ext>
              </a:extLst>
            </p:cNvPr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0" y="469506"/>
                  </a:moveTo>
                  <a:lnTo>
                    <a:pt x="9144000" y="46950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69506"/>
                  </a:lnTo>
                  <a:close/>
                </a:path>
              </a:pathLst>
            </a:custGeom>
            <a:ln w="95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51D583C6-8C65-93A3-8C84-4CA8869CB5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20" noProof="0" dirty="0" err="1"/>
              <a:t>Feed</a:t>
            </a:r>
            <a:r>
              <a:rPr lang="es-PE" spc="-20" noProof="0" dirty="0"/>
              <a:t>-</a:t>
            </a:r>
            <a:r>
              <a:rPr lang="es-PE" noProof="0" dirty="0"/>
              <a:t>Forward</a:t>
            </a:r>
            <a:r>
              <a:rPr lang="es-PE" spc="20" noProof="0" dirty="0"/>
              <a:t> </a:t>
            </a:r>
            <a:r>
              <a:rPr lang="es-PE" noProof="0" dirty="0"/>
              <a:t>neural</a:t>
            </a:r>
            <a:r>
              <a:rPr lang="es-PE" spc="5" noProof="0" dirty="0"/>
              <a:t> </a:t>
            </a:r>
            <a:r>
              <a:rPr lang="es-PE" spc="-10" noProof="0" dirty="0"/>
              <a:t>network</a:t>
            </a:r>
          </a:p>
        </p:txBody>
      </p:sp>
      <p:pic>
        <p:nvPicPr>
          <p:cNvPr id="11" name="object 11">
            <a:extLst>
              <a:ext uri="{FF2B5EF4-FFF2-40B4-BE49-F238E27FC236}">
                <a16:creationId xmlns:a16="http://schemas.microsoft.com/office/drawing/2014/main" id="{7581610C-229F-9A3A-D229-FA275952F9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22" name="Oval 1">
            <a:extLst>
              <a:ext uri="{FF2B5EF4-FFF2-40B4-BE49-F238E27FC236}">
                <a16:creationId xmlns:a16="http://schemas.microsoft.com/office/drawing/2014/main" id="{8DBBC93E-80AE-CB5A-9D40-86DEF9BD9779}"/>
              </a:ext>
            </a:extLst>
          </p:cNvPr>
          <p:cNvSpPr/>
          <p:nvPr/>
        </p:nvSpPr>
        <p:spPr>
          <a:xfrm>
            <a:off x="2464572" y="1975464"/>
            <a:ext cx="705394" cy="70539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3" name="Oval 3">
            <a:extLst>
              <a:ext uri="{FF2B5EF4-FFF2-40B4-BE49-F238E27FC236}">
                <a16:creationId xmlns:a16="http://schemas.microsoft.com/office/drawing/2014/main" id="{FF2B1781-9412-BE81-8040-EB4645A25CDE}"/>
              </a:ext>
            </a:extLst>
          </p:cNvPr>
          <p:cNvSpPr/>
          <p:nvPr/>
        </p:nvSpPr>
        <p:spPr>
          <a:xfrm>
            <a:off x="5681906" y="1975464"/>
            <a:ext cx="705394" cy="705394"/>
          </a:xfrm>
          <a:prstGeom prst="ellips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B8315D6C-308A-A1FF-79C1-DBBCA8D465E3}"/>
              </a:ext>
            </a:extLst>
          </p:cNvPr>
          <p:cNvSpPr txBox="1"/>
          <p:nvPr/>
        </p:nvSpPr>
        <p:spPr>
          <a:xfrm>
            <a:off x="2653602" y="212810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00" dirty="0"/>
              <a:t>x</a:t>
            </a:r>
          </a:p>
        </p:txBody>
      </p:sp>
      <p:cxnSp>
        <p:nvCxnSpPr>
          <p:cNvPr id="25" name="Straight Connector 6">
            <a:extLst>
              <a:ext uri="{FF2B5EF4-FFF2-40B4-BE49-F238E27FC236}">
                <a16:creationId xmlns:a16="http://schemas.microsoft.com/office/drawing/2014/main" id="{002EA8E0-572C-B4D9-6388-DDE009B48124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3169966" y="2328161"/>
            <a:ext cx="25119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9">
            <a:extLst>
              <a:ext uri="{FF2B5EF4-FFF2-40B4-BE49-F238E27FC236}">
                <a16:creationId xmlns:a16="http://schemas.microsoft.com/office/drawing/2014/main" id="{BA720461-C01F-477A-D816-01623FF7B95E}"/>
              </a:ext>
            </a:extLst>
          </p:cNvPr>
          <p:cNvSpPr txBox="1"/>
          <p:nvPr/>
        </p:nvSpPr>
        <p:spPr>
          <a:xfrm>
            <a:off x="4203002" y="1904345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00" dirty="0"/>
              <a:t>w</a:t>
            </a:r>
          </a:p>
        </p:txBody>
      </p:sp>
      <p:cxnSp>
        <p:nvCxnSpPr>
          <p:cNvPr id="27" name="Straight Connector 11">
            <a:extLst>
              <a:ext uri="{FF2B5EF4-FFF2-40B4-BE49-F238E27FC236}">
                <a16:creationId xmlns:a16="http://schemas.microsoft.com/office/drawing/2014/main" id="{C1115E0F-4122-E08A-76DC-7DE3C86F8CAE}"/>
              </a:ext>
            </a:extLst>
          </p:cNvPr>
          <p:cNvCxnSpPr>
            <a:stCxn id="23" idx="0"/>
            <a:endCxn id="23" idx="4"/>
          </p:cNvCxnSpPr>
          <p:nvPr/>
        </p:nvCxnSpPr>
        <p:spPr>
          <a:xfrm>
            <a:off x="6034603" y="1975464"/>
            <a:ext cx="0" cy="705394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12">
            <a:extLst>
              <a:ext uri="{FF2B5EF4-FFF2-40B4-BE49-F238E27FC236}">
                <a16:creationId xmlns:a16="http://schemas.microsoft.com/office/drawing/2014/main" id="{067A73A7-B62A-4C8B-03D8-F7D0803423F9}"/>
              </a:ext>
            </a:extLst>
          </p:cNvPr>
          <p:cNvSpPr txBox="1"/>
          <p:nvPr/>
        </p:nvSpPr>
        <p:spPr>
          <a:xfrm>
            <a:off x="5707269" y="212810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00" dirty="0"/>
              <a:t>b</a:t>
            </a:r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CFF0EA38-BD4E-18F7-D8C9-4E8DC7971B09}"/>
              </a:ext>
            </a:extLst>
          </p:cNvPr>
          <p:cNvSpPr txBox="1"/>
          <p:nvPr/>
        </p:nvSpPr>
        <p:spPr>
          <a:xfrm>
            <a:off x="6034602" y="206468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/>
              <a:t>y</a:t>
            </a:r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3720D79D-4731-4A48-9701-FB78D856E860}"/>
              </a:ext>
            </a:extLst>
          </p:cNvPr>
          <p:cNvSpPr txBox="1"/>
          <p:nvPr/>
        </p:nvSpPr>
        <p:spPr>
          <a:xfrm>
            <a:off x="1905000" y="1200150"/>
            <a:ext cx="1824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Neurona de entrada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DCE64395-BC6C-68B5-9BD0-DFB5E1A4BF6E}"/>
              </a:ext>
            </a:extLst>
          </p:cNvPr>
          <p:cNvSpPr txBox="1"/>
          <p:nvPr/>
        </p:nvSpPr>
        <p:spPr>
          <a:xfrm>
            <a:off x="5216109" y="1200151"/>
            <a:ext cx="163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Neurona de salida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16">
                <a:extLst>
                  <a:ext uri="{FF2B5EF4-FFF2-40B4-BE49-F238E27FC236}">
                    <a16:creationId xmlns:a16="http://schemas.microsoft.com/office/drawing/2014/main" id="{DA77D8A5-460D-1A88-6F1D-04B4A849AA7B}"/>
                  </a:ext>
                </a:extLst>
              </p:cNvPr>
              <p:cNvSpPr txBox="1"/>
              <p:nvPr/>
            </p:nvSpPr>
            <p:spPr>
              <a:xfrm>
                <a:off x="3450436" y="3113427"/>
                <a:ext cx="18683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32" name="TextBox 16">
                <a:extLst>
                  <a:ext uri="{FF2B5EF4-FFF2-40B4-BE49-F238E27FC236}">
                    <a16:creationId xmlns:a16="http://schemas.microsoft.com/office/drawing/2014/main" id="{DA77D8A5-460D-1A88-6F1D-04B4A849A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436" y="3113427"/>
                <a:ext cx="186839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17">
                <a:extLst>
                  <a:ext uri="{FF2B5EF4-FFF2-40B4-BE49-F238E27FC236}">
                    <a16:creationId xmlns:a16="http://schemas.microsoft.com/office/drawing/2014/main" id="{DC5CC823-DF76-5993-9160-0D2C19873E29}"/>
                  </a:ext>
                </a:extLst>
              </p:cNvPr>
              <p:cNvSpPr txBox="1"/>
              <p:nvPr/>
            </p:nvSpPr>
            <p:spPr>
              <a:xfrm>
                <a:off x="2946172" y="3822646"/>
                <a:ext cx="29595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s-ES_tradnl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33" name="TextBox 17">
                <a:extLst>
                  <a:ext uri="{FF2B5EF4-FFF2-40B4-BE49-F238E27FC236}">
                    <a16:creationId xmlns:a16="http://schemas.microsoft.com/office/drawing/2014/main" id="{DC5CC823-DF76-5993-9160-0D2C19873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172" y="3822646"/>
                <a:ext cx="29595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5">
            <a:extLst>
              <a:ext uri="{FF2B5EF4-FFF2-40B4-BE49-F238E27FC236}">
                <a16:creationId xmlns:a16="http://schemas.microsoft.com/office/drawing/2014/main" id="{B1D67CB7-4B0E-C0F4-CF60-22CC9BF07527}"/>
              </a:ext>
            </a:extLst>
          </p:cNvPr>
          <p:cNvSpPr txBox="1"/>
          <p:nvPr/>
        </p:nvSpPr>
        <p:spPr>
          <a:xfrm>
            <a:off x="2639174" y="2157014"/>
            <a:ext cx="32733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_tradnl" sz="2000" dirty="0"/>
              <a:t>5</a:t>
            </a:r>
          </a:p>
        </p:txBody>
      </p:sp>
      <p:sp>
        <p:nvSpPr>
          <p:cNvPr id="35" name="TextBox 9">
            <a:extLst>
              <a:ext uri="{FF2B5EF4-FFF2-40B4-BE49-F238E27FC236}">
                <a16:creationId xmlns:a16="http://schemas.microsoft.com/office/drawing/2014/main" id="{FD6510E8-24BB-6FD7-21FB-C9BE3FCFF644}"/>
              </a:ext>
            </a:extLst>
          </p:cNvPr>
          <p:cNvSpPr txBox="1"/>
          <p:nvPr/>
        </p:nvSpPr>
        <p:spPr>
          <a:xfrm>
            <a:off x="4246282" y="1916198"/>
            <a:ext cx="32733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_tradnl" sz="2000" dirty="0"/>
              <a:t>3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50723AB5-4CA0-F1D3-E89F-D139716411D0}"/>
              </a:ext>
            </a:extLst>
          </p:cNvPr>
          <p:cNvSpPr txBox="1"/>
          <p:nvPr/>
        </p:nvSpPr>
        <p:spPr>
          <a:xfrm>
            <a:off x="5765992" y="2128106"/>
            <a:ext cx="23874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_tradnl" sz="2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4503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8" grpId="0"/>
      <p:bldP spid="29" grpId="0"/>
      <p:bldP spid="32" grpId="0"/>
      <p:bldP spid="33" grpId="0"/>
      <p:bldP spid="34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AB6C5-A5CE-47CF-0E2A-72FD09AC6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7">
            <a:extLst>
              <a:ext uri="{FF2B5EF4-FFF2-40B4-BE49-F238E27FC236}">
                <a16:creationId xmlns:a16="http://schemas.microsoft.com/office/drawing/2014/main" id="{4CFFCC0B-E4E1-8F01-0C69-BEECDBE59D09}"/>
              </a:ext>
            </a:extLst>
          </p:cNvPr>
          <p:cNvGrpSpPr/>
          <p:nvPr/>
        </p:nvGrpSpPr>
        <p:grpSpPr>
          <a:xfrm>
            <a:off x="-4762" y="-4749"/>
            <a:ext cx="9153525" cy="479425"/>
            <a:chOff x="-4762" y="-4749"/>
            <a:chExt cx="9153525" cy="47942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86E0584-BF43-62CF-D70A-A0E4D2604F35}"/>
                </a:ext>
              </a:extLst>
            </p:cNvPr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9144000" y="0"/>
                  </a:moveTo>
                  <a:lnTo>
                    <a:pt x="0" y="0"/>
                  </a:lnTo>
                  <a:lnTo>
                    <a:pt x="0" y="469506"/>
                  </a:lnTo>
                  <a:lnTo>
                    <a:pt x="9144000" y="46950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25E00F13-F255-1549-A8B0-491EE7E134BB}"/>
                </a:ext>
              </a:extLst>
            </p:cNvPr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0" y="469506"/>
                  </a:moveTo>
                  <a:lnTo>
                    <a:pt x="9144000" y="46950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69506"/>
                  </a:lnTo>
                  <a:close/>
                </a:path>
              </a:pathLst>
            </a:custGeom>
            <a:ln w="95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6463322E-41CB-CB6C-5323-5A953C18B0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20" noProof="0" dirty="0" err="1"/>
              <a:t>Feed</a:t>
            </a:r>
            <a:r>
              <a:rPr lang="es-PE" spc="-20" noProof="0" dirty="0"/>
              <a:t>-</a:t>
            </a:r>
            <a:r>
              <a:rPr lang="es-PE" noProof="0" dirty="0"/>
              <a:t>Forward</a:t>
            </a:r>
            <a:r>
              <a:rPr lang="es-PE" spc="20" noProof="0" dirty="0"/>
              <a:t> </a:t>
            </a:r>
            <a:r>
              <a:rPr lang="es-PE" noProof="0" dirty="0"/>
              <a:t>neural</a:t>
            </a:r>
            <a:r>
              <a:rPr lang="es-PE" spc="5" noProof="0" dirty="0"/>
              <a:t> </a:t>
            </a:r>
            <a:r>
              <a:rPr lang="es-PE" spc="-10" noProof="0" dirty="0"/>
              <a:t>network</a:t>
            </a:r>
          </a:p>
        </p:txBody>
      </p:sp>
      <p:pic>
        <p:nvPicPr>
          <p:cNvPr id="11" name="object 11">
            <a:extLst>
              <a:ext uri="{FF2B5EF4-FFF2-40B4-BE49-F238E27FC236}">
                <a16:creationId xmlns:a16="http://schemas.microsoft.com/office/drawing/2014/main" id="{D2903CE5-A905-A9CD-22A7-273D8CBB4BB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graphicFrame>
        <p:nvGraphicFramePr>
          <p:cNvPr id="109" name="Tabla 108">
            <a:extLst>
              <a:ext uri="{FF2B5EF4-FFF2-40B4-BE49-F238E27FC236}">
                <a16:creationId xmlns:a16="http://schemas.microsoft.com/office/drawing/2014/main" id="{18FA3F53-6AD1-2884-D38E-3E0E51F4F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572852"/>
              </p:ext>
            </p:extLst>
          </p:nvPr>
        </p:nvGraphicFramePr>
        <p:xfrm>
          <a:off x="5181600" y="895350"/>
          <a:ext cx="3666368" cy="2061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3184">
                  <a:extLst>
                    <a:ext uri="{9D8B030D-6E8A-4147-A177-3AD203B41FA5}">
                      <a16:colId xmlns:a16="http://schemas.microsoft.com/office/drawing/2014/main" val="3665396146"/>
                    </a:ext>
                  </a:extLst>
                </a:gridCol>
                <a:gridCol w="1833184">
                  <a:extLst>
                    <a:ext uri="{9D8B030D-6E8A-4147-A177-3AD203B41FA5}">
                      <a16:colId xmlns:a16="http://schemas.microsoft.com/office/drawing/2014/main" val="1497712358"/>
                    </a:ext>
                  </a:extLst>
                </a:gridCol>
              </a:tblGrid>
              <a:tr h="3378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/>
                        <a:t>Fahrenheit (°F)</a:t>
                      </a:r>
                    </a:p>
                  </a:txBody>
                  <a:tcPr marL="84468" marR="84468" marT="42234" marB="422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/>
                        <a:t>Celsius (°C)</a:t>
                      </a:r>
                    </a:p>
                  </a:txBody>
                  <a:tcPr marL="84468" marR="84468" marT="42234" marB="42234" anchor="ctr"/>
                </a:tc>
                <a:extLst>
                  <a:ext uri="{0D108BD9-81ED-4DB2-BD59-A6C34878D82A}">
                    <a16:rowId xmlns:a16="http://schemas.microsoft.com/office/drawing/2014/main" val="3402450740"/>
                  </a:ext>
                </a:extLst>
              </a:tr>
              <a:tr h="3378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/>
                        <a:t>32.4</a:t>
                      </a:r>
                    </a:p>
                  </a:txBody>
                  <a:tcPr marL="84468" marR="84468" marT="42234" marB="422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/>
                        <a:t>0.2</a:t>
                      </a:r>
                    </a:p>
                  </a:txBody>
                  <a:tcPr marL="84468" marR="84468" marT="42234" marB="42234" anchor="ctr"/>
                </a:tc>
                <a:extLst>
                  <a:ext uri="{0D108BD9-81ED-4DB2-BD59-A6C34878D82A}">
                    <a16:rowId xmlns:a16="http://schemas.microsoft.com/office/drawing/2014/main" val="3232904686"/>
                  </a:ext>
                </a:extLst>
              </a:tr>
              <a:tr h="3378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 dirty="0"/>
                        <a:t>50.1</a:t>
                      </a:r>
                    </a:p>
                  </a:txBody>
                  <a:tcPr marL="84468" marR="84468" marT="42234" marB="422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/>
                        <a:t>10.4</a:t>
                      </a:r>
                    </a:p>
                  </a:txBody>
                  <a:tcPr marL="84468" marR="84468" marT="42234" marB="42234" anchor="ctr"/>
                </a:tc>
                <a:extLst>
                  <a:ext uri="{0D108BD9-81ED-4DB2-BD59-A6C34878D82A}">
                    <a16:rowId xmlns:a16="http://schemas.microsoft.com/office/drawing/2014/main" val="355623799"/>
                  </a:ext>
                </a:extLst>
              </a:tr>
              <a:tr h="3378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 dirty="0"/>
                        <a:t>67.6</a:t>
                      </a:r>
                    </a:p>
                  </a:txBody>
                  <a:tcPr marL="84468" marR="84468" marT="42234" marB="422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 dirty="0"/>
                        <a:t>19.7</a:t>
                      </a:r>
                    </a:p>
                  </a:txBody>
                  <a:tcPr marL="84468" marR="84468" marT="42234" marB="42234" anchor="ctr"/>
                </a:tc>
                <a:extLst>
                  <a:ext uri="{0D108BD9-81ED-4DB2-BD59-A6C34878D82A}">
                    <a16:rowId xmlns:a16="http://schemas.microsoft.com/office/drawing/2014/main" val="2846551738"/>
                  </a:ext>
                </a:extLst>
              </a:tr>
              <a:tr h="3378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/>
                        <a:t>85.8</a:t>
                      </a:r>
                    </a:p>
                  </a:txBody>
                  <a:tcPr marL="84468" marR="84468" marT="42234" marB="422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/>
                        <a:t>29.9</a:t>
                      </a:r>
                    </a:p>
                  </a:txBody>
                  <a:tcPr marL="84468" marR="84468" marT="42234" marB="42234" anchor="ctr"/>
                </a:tc>
                <a:extLst>
                  <a:ext uri="{0D108BD9-81ED-4DB2-BD59-A6C34878D82A}">
                    <a16:rowId xmlns:a16="http://schemas.microsoft.com/office/drawing/2014/main" val="2214495077"/>
                  </a:ext>
                </a:extLst>
              </a:tr>
              <a:tr h="3378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/>
                        <a:t>103.5</a:t>
                      </a:r>
                    </a:p>
                  </a:txBody>
                  <a:tcPr marL="84468" marR="84468" marT="42234" marB="422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700" dirty="0"/>
                        <a:t>39.4</a:t>
                      </a:r>
                    </a:p>
                  </a:txBody>
                  <a:tcPr marL="84468" marR="84468" marT="42234" marB="42234" anchor="ctr"/>
                </a:tc>
                <a:extLst>
                  <a:ext uri="{0D108BD9-81ED-4DB2-BD59-A6C34878D82A}">
                    <a16:rowId xmlns:a16="http://schemas.microsoft.com/office/drawing/2014/main" val="1356840892"/>
                  </a:ext>
                </a:extLst>
              </a:tr>
            </a:tbl>
          </a:graphicData>
        </a:graphic>
      </p:graphicFrame>
      <p:pic>
        <p:nvPicPr>
          <p:cNvPr id="111" name="Imagen 110">
            <a:extLst>
              <a:ext uri="{FF2B5EF4-FFF2-40B4-BE49-F238E27FC236}">
                <a16:creationId xmlns:a16="http://schemas.microsoft.com/office/drawing/2014/main" id="{5181E454-61CF-BF15-AD2A-8B22B053BE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62"/>
          <a:stretch>
            <a:fillRect/>
          </a:stretch>
        </p:blipFill>
        <p:spPr>
          <a:xfrm>
            <a:off x="390033" y="895350"/>
            <a:ext cx="4181967" cy="2876550"/>
          </a:xfrm>
          <a:prstGeom prst="rect">
            <a:avLst/>
          </a:prstGeom>
        </p:spPr>
      </p:pic>
      <p:grpSp>
        <p:nvGrpSpPr>
          <p:cNvPr id="146" name="Grupo 145">
            <a:extLst>
              <a:ext uri="{FF2B5EF4-FFF2-40B4-BE49-F238E27FC236}">
                <a16:creationId xmlns:a16="http://schemas.microsoft.com/office/drawing/2014/main" id="{7705BA3F-0B90-F635-4BF5-71CC3E097A7C}"/>
              </a:ext>
            </a:extLst>
          </p:cNvPr>
          <p:cNvGrpSpPr/>
          <p:nvPr/>
        </p:nvGrpSpPr>
        <p:grpSpPr>
          <a:xfrm>
            <a:off x="428133" y="4019622"/>
            <a:ext cx="4862050" cy="716824"/>
            <a:chOff x="428133" y="4019622"/>
            <a:chExt cx="4862050" cy="716824"/>
          </a:xfrm>
        </p:grpSpPr>
        <p:sp>
          <p:nvSpPr>
            <p:cNvPr id="125" name="Oval 1">
              <a:extLst>
                <a:ext uri="{FF2B5EF4-FFF2-40B4-BE49-F238E27FC236}">
                  <a16:creationId xmlns:a16="http://schemas.microsoft.com/office/drawing/2014/main" id="{D640569A-EA44-1B38-6F48-ACA5D6B9212A}"/>
                </a:ext>
              </a:extLst>
            </p:cNvPr>
            <p:cNvSpPr/>
            <p:nvPr/>
          </p:nvSpPr>
          <p:spPr>
            <a:xfrm>
              <a:off x="428133" y="4031052"/>
              <a:ext cx="705394" cy="705394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126" name="Oval 3">
              <a:extLst>
                <a:ext uri="{FF2B5EF4-FFF2-40B4-BE49-F238E27FC236}">
                  <a16:creationId xmlns:a16="http://schemas.microsoft.com/office/drawing/2014/main" id="{E5C4A472-F1D1-75D3-79F9-C1BC5E1B6071}"/>
                </a:ext>
              </a:extLst>
            </p:cNvPr>
            <p:cNvSpPr/>
            <p:nvPr/>
          </p:nvSpPr>
          <p:spPr>
            <a:xfrm>
              <a:off x="3645466" y="4031052"/>
              <a:ext cx="1644717" cy="705394"/>
            </a:xfrm>
            <a:prstGeom prst="ellipse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127" name="TextBox 5">
              <a:extLst>
                <a:ext uri="{FF2B5EF4-FFF2-40B4-BE49-F238E27FC236}">
                  <a16:creationId xmlns:a16="http://schemas.microsoft.com/office/drawing/2014/main" id="{4F4B3E66-1C9D-4BBD-07D3-80925022F35D}"/>
                </a:ext>
              </a:extLst>
            </p:cNvPr>
            <p:cNvSpPr txBox="1"/>
            <p:nvPr/>
          </p:nvSpPr>
          <p:spPr>
            <a:xfrm>
              <a:off x="617163" y="418369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000" dirty="0"/>
                <a:t>x</a:t>
              </a:r>
            </a:p>
          </p:txBody>
        </p:sp>
        <p:cxnSp>
          <p:nvCxnSpPr>
            <p:cNvPr id="128" name="Straight Connector 6">
              <a:extLst>
                <a:ext uri="{FF2B5EF4-FFF2-40B4-BE49-F238E27FC236}">
                  <a16:creationId xmlns:a16="http://schemas.microsoft.com/office/drawing/2014/main" id="{72942ADB-FD05-F0C1-01F7-DDC5E9FECB60}"/>
                </a:ext>
              </a:extLst>
            </p:cNvPr>
            <p:cNvCxnSpPr>
              <a:cxnSpLocks/>
              <a:stCxn id="125" idx="6"/>
              <a:endCxn id="126" idx="2"/>
            </p:cNvCxnSpPr>
            <p:nvPr/>
          </p:nvCxnSpPr>
          <p:spPr>
            <a:xfrm>
              <a:off x="1133527" y="4383749"/>
              <a:ext cx="2511939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Connector 11">
              <a:extLst>
                <a:ext uri="{FF2B5EF4-FFF2-40B4-BE49-F238E27FC236}">
                  <a16:creationId xmlns:a16="http://schemas.microsoft.com/office/drawing/2014/main" id="{9654F3BD-EFFB-5705-1268-EA19B84C81E2}"/>
                </a:ext>
              </a:extLst>
            </p:cNvPr>
            <p:cNvCxnSpPr>
              <a:cxnSpLocks/>
              <a:stCxn id="126" idx="0"/>
              <a:endCxn id="126" idx="4"/>
            </p:cNvCxnSpPr>
            <p:nvPr/>
          </p:nvCxnSpPr>
          <p:spPr>
            <a:xfrm>
              <a:off x="4467825" y="4031052"/>
              <a:ext cx="0" cy="705394"/>
            </a:xfrm>
            <a:prstGeom prst="line">
              <a:avLst/>
            </a:prstGeom>
            <a:ln w="2857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1" name="TextBox 12">
              <a:extLst>
                <a:ext uri="{FF2B5EF4-FFF2-40B4-BE49-F238E27FC236}">
                  <a16:creationId xmlns:a16="http://schemas.microsoft.com/office/drawing/2014/main" id="{A1318B0F-C211-F589-46D3-8200B0FE6726}"/>
                </a:ext>
              </a:extLst>
            </p:cNvPr>
            <p:cNvSpPr txBox="1"/>
            <p:nvPr/>
          </p:nvSpPr>
          <p:spPr>
            <a:xfrm>
              <a:off x="3608446" y="4209142"/>
              <a:ext cx="896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/>
                <a:t>−17.44</a:t>
              </a:r>
              <a:endParaRPr lang="es-ES_tradnl" dirty="0"/>
            </a:p>
          </p:txBody>
        </p:sp>
        <p:sp>
          <p:nvSpPr>
            <p:cNvPr id="132" name="TextBox 13">
              <a:extLst>
                <a:ext uri="{FF2B5EF4-FFF2-40B4-BE49-F238E27FC236}">
                  <a16:creationId xmlns:a16="http://schemas.microsoft.com/office/drawing/2014/main" id="{FDBD42CC-B556-9B9F-79C7-D04BFD250806}"/>
                </a:ext>
              </a:extLst>
            </p:cNvPr>
            <p:cNvSpPr txBox="1"/>
            <p:nvPr/>
          </p:nvSpPr>
          <p:spPr>
            <a:xfrm>
              <a:off x="4654397" y="4116809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400" dirty="0"/>
                <a:t>y</a:t>
              </a:r>
            </a:p>
          </p:txBody>
        </p:sp>
        <p:sp>
          <p:nvSpPr>
            <p:cNvPr id="134" name="TextBox 9">
              <a:extLst>
                <a:ext uri="{FF2B5EF4-FFF2-40B4-BE49-F238E27FC236}">
                  <a16:creationId xmlns:a16="http://schemas.microsoft.com/office/drawing/2014/main" id="{7A881279-4534-8443-6CA8-86342E3F67A7}"/>
                </a:ext>
              </a:extLst>
            </p:cNvPr>
            <p:cNvSpPr txBox="1"/>
            <p:nvPr/>
          </p:nvSpPr>
          <p:spPr>
            <a:xfrm>
              <a:off x="1905229" y="4019622"/>
              <a:ext cx="9685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2000" dirty="0"/>
                <a:t>0.5503</a:t>
              </a:r>
              <a:endParaRPr lang="es-ES_tradnl" sz="2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6">
                <a:extLst>
                  <a:ext uri="{FF2B5EF4-FFF2-40B4-BE49-F238E27FC236}">
                    <a16:creationId xmlns:a16="http://schemas.microsoft.com/office/drawing/2014/main" id="{E41B01CA-A4E7-3957-7F37-35BB7D234E06}"/>
                  </a:ext>
                </a:extLst>
              </p:cNvPr>
              <p:cNvSpPr txBox="1"/>
              <p:nvPr/>
            </p:nvSpPr>
            <p:spPr>
              <a:xfrm>
                <a:off x="5647430" y="3382076"/>
                <a:ext cx="2616614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2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sz="22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ES_tradnl" sz="2200" i="1">
                          <a:latin typeface="Cambria Math" panose="02040503050406030204" pitchFamily="18" charset="0"/>
                        </a:rPr>
                        <m:t>=0.55</m:t>
                      </m:r>
                      <m:r>
                        <a:rPr lang="es-ES" sz="2200" i="1">
                          <a:latin typeface="Cambria Math" panose="02040503050406030204" pitchFamily="18" charset="0"/>
                        </a:rPr>
                        <m:t>03</m:t>
                      </m:r>
                      <m:r>
                        <a:rPr lang="es-ES_tradnl" sz="2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200" i="1">
                          <a:latin typeface="Cambria Math" panose="02040503050406030204" pitchFamily="18" charset="0"/>
                        </a:rPr>
                        <m:t>−17.44</m:t>
                      </m:r>
                    </m:oMath>
                  </m:oMathPara>
                </a14:m>
                <a:endParaRPr lang="es-ES_tradnl" sz="2200" dirty="0"/>
              </a:p>
            </p:txBody>
          </p:sp>
        </mc:Choice>
        <mc:Fallback xmlns="">
          <p:sp>
            <p:nvSpPr>
              <p:cNvPr id="144" name="TextBox 16">
                <a:extLst>
                  <a:ext uri="{FF2B5EF4-FFF2-40B4-BE49-F238E27FC236}">
                    <a16:creationId xmlns:a16="http://schemas.microsoft.com/office/drawing/2014/main" id="{E41B01CA-A4E7-3957-7F37-35BB7D234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7430" y="3382076"/>
                <a:ext cx="2616614" cy="338554"/>
              </a:xfrm>
              <a:prstGeom prst="rect">
                <a:avLst/>
              </a:prstGeom>
              <a:blipFill>
                <a:blip r:embed="rId4"/>
                <a:stretch>
                  <a:fillRect l="-1860" t="-14545" r="-1395" b="-2909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6">
                <a:extLst>
                  <a:ext uri="{FF2B5EF4-FFF2-40B4-BE49-F238E27FC236}">
                    <a16:creationId xmlns:a16="http://schemas.microsoft.com/office/drawing/2014/main" id="{BDF05912-5970-10E4-7522-8ABFCAB2E4FE}"/>
                  </a:ext>
                </a:extLst>
              </p:cNvPr>
              <p:cNvSpPr txBox="1"/>
              <p:nvPr/>
            </p:nvSpPr>
            <p:spPr>
              <a:xfrm>
                <a:off x="5542717" y="3932143"/>
                <a:ext cx="271426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ES" sz="22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s-ES_tradnl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200" i="1">
                          <a:latin typeface="Cambria Math" panose="02040503050406030204" pitchFamily="18" charset="0"/>
                        </a:rPr>
                        <m:t>0.5556</m:t>
                      </m:r>
                      <m:r>
                        <a:rPr lang="es-ES_tradnl" sz="2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200" i="1">
                          <a:latin typeface="Cambria Math" panose="02040503050406030204" pitchFamily="18" charset="0"/>
                        </a:rPr>
                        <m:t>−17.78</m:t>
                      </m:r>
                    </m:oMath>
                  </m:oMathPara>
                </a14:m>
                <a:endParaRPr lang="es-ES_tradnl" sz="2200" dirty="0"/>
              </a:p>
            </p:txBody>
          </p:sp>
        </mc:Choice>
        <mc:Fallback xmlns="">
          <p:sp>
            <p:nvSpPr>
              <p:cNvPr id="145" name="TextBox 16">
                <a:extLst>
                  <a:ext uri="{FF2B5EF4-FFF2-40B4-BE49-F238E27FC236}">
                    <a16:creationId xmlns:a16="http://schemas.microsoft.com/office/drawing/2014/main" id="{BDF05912-5970-10E4-7522-8ABFCAB2E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717" y="3932143"/>
                <a:ext cx="2714269" cy="338554"/>
              </a:xfrm>
              <a:prstGeom prst="rect">
                <a:avLst/>
              </a:prstGeom>
              <a:blipFill>
                <a:blip r:embed="rId5"/>
                <a:stretch>
                  <a:fillRect l="-1798" r="-1573" b="-2857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102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  <p:bldP spid="1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grpSp>
        <p:nvGrpSpPr>
          <p:cNvPr id="3" name="object 3"/>
          <p:cNvGrpSpPr/>
          <p:nvPr/>
        </p:nvGrpSpPr>
        <p:grpSpPr>
          <a:xfrm>
            <a:off x="5868352" y="672909"/>
            <a:ext cx="2194560" cy="2004695"/>
            <a:chOff x="5868352" y="672909"/>
            <a:chExt cx="2194560" cy="2004695"/>
          </a:xfrm>
        </p:grpSpPr>
        <p:sp>
          <p:nvSpPr>
            <p:cNvPr id="4" name="object 4"/>
            <p:cNvSpPr/>
            <p:nvPr/>
          </p:nvSpPr>
          <p:spPr>
            <a:xfrm>
              <a:off x="5908421" y="1102741"/>
              <a:ext cx="1419860" cy="1560830"/>
            </a:xfrm>
            <a:custGeom>
              <a:avLst/>
              <a:gdLst/>
              <a:ahLst/>
              <a:cxnLst/>
              <a:rect l="l" t="t" r="r" b="b"/>
              <a:pathLst>
                <a:path w="1419859" h="1560830">
                  <a:moveTo>
                    <a:pt x="0" y="236600"/>
                  </a:moveTo>
                  <a:lnTo>
                    <a:pt x="4806" y="188914"/>
                  </a:lnTo>
                  <a:lnTo>
                    <a:pt x="18591" y="144500"/>
                  </a:lnTo>
                  <a:lnTo>
                    <a:pt x="40404" y="104309"/>
                  </a:lnTo>
                  <a:lnTo>
                    <a:pt x="69294" y="69294"/>
                  </a:lnTo>
                  <a:lnTo>
                    <a:pt x="104309" y="40404"/>
                  </a:lnTo>
                  <a:lnTo>
                    <a:pt x="144500" y="18591"/>
                  </a:lnTo>
                  <a:lnTo>
                    <a:pt x="188914" y="4806"/>
                  </a:lnTo>
                  <a:lnTo>
                    <a:pt x="236600" y="0"/>
                  </a:lnTo>
                  <a:lnTo>
                    <a:pt x="1183004" y="0"/>
                  </a:lnTo>
                  <a:lnTo>
                    <a:pt x="1230691" y="4806"/>
                  </a:lnTo>
                  <a:lnTo>
                    <a:pt x="1275105" y="18591"/>
                  </a:lnTo>
                  <a:lnTo>
                    <a:pt x="1315296" y="40404"/>
                  </a:lnTo>
                  <a:lnTo>
                    <a:pt x="1350311" y="69294"/>
                  </a:lnTo>
                  <a:lnTo>
                    <a:pt x="1379201" y="104309"/>
                  </a:lnTo>
                  <a:lnTo>
                    <a:pt x="1401014" y="144500"/>
                  </a:lnTo>
                  <a:lnTo>
                    <a:pt x="1414799" y="188914"/>
                  </a:lnTo>
                  <a:lnTo>
                    <a:pt x="1419605" y="236600"/>
                  </a:lnTo>
                  <a:lnTo>
                    <a:pt x="1419605" y="1323975"/>
                  </a:lnTo>
                  <a:lnTo>
                    <a:pt x="1414799" y="1371661"/>
                  </a:lnTo>
                  <a:lnTo>
                    <a:pt x="1401014" y="1416075"/>
                  </a:lnTo>
                  <a:lnTo>
                    <a:pt x="1379201" y="1456266"/>
                  </a:lnTo>
                  <a:lnTo>
                    <a:pt x="1350311" y="1491281"/>
                  </a:lnTo>
                  <a:lnTo>
                    <a:pt x="1315296" y="1520171"/>
                  </a:lnTo>
                  <a:lnTo>
                    <a:pt x="1275105" y="1541984"/>
                  </a:lnTo>
                  <a:lnTo>
                    <a:pt x="1230691" y="1555769"/>
                  </a:lnTo>
                  <a:lnTo>
                    <a:pt x="1183004" y="1560576"/>
                  </a:lnTo>
                  <a:lnTo>
                    <a:pt x="236600" y="1560576"/>
                  </a:lnTo>
                  <a:lnTo>
                    <a:pt x="188914" y="1555769"/>
                  </a:lnTo>
                  <a:lnTo>
                    <a:pt x="144500" y="1541984"/>
                  </a:lnTo>
                  <a:lnTo>
                    <a:pt x="104309" y="1520171"/>
                  </a:lnTo>
                  <a:lnTo>
                    <a:pt x="69294" y="1491281"/>
                  </a:lnTo>
                  <a:lnTo>
                    <a:pt x="40404" y="1456266"/>
                  </a:lnTo>
                  <a:lnTo>
                    <a:pt x="18591" y="1416075"/>
                  </a:lnTo>
                  <a:lnTo>
                    <a:pt x="4806" y="1371661"/>
                  </a:lnTo>
                  <a:lnTo>
                    <a:pt x="0" y="1323975"/>
                  </a:lnTo>
                  <a:lnTo>
                    <a:pt x="0" y="236600"/>
                  </a:lnTo>
                  <a:close/>
                </a:path>
              </a:pathLst>
            </a:custGeom>
            <a:ln w="28575">
              <a:solidFill>
                <a:srgbClr val="1A227D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5877814" y="682396"/>
              <a:ext cx="2175510" cy="396240"/>
            </a:xfrm>
            <a:custGeom>
              <a:avLst/>
              <a:gdLst/>
              <a:ahLst/>
              <a:cxnLst/>
              <a:rect l="l" t="t" r="r" b="b"/>
              <a:pathLst>
                <a:path w="2175509" h="396240">
                  <a:moveTo>
                    <a:pt x="725106" y="0"/>
                  </a:moveTo>
                  <a:lnTo>
                    <a:pt x="0" y="0"/>
                  </a:lnTo>
                  <a:lnTo>
                    <a:pt x="0" y="396214"/>
                  </a:lnTo>
                  <a:lnTo>
                    <a:pt x="725106" y="396214"/>
                  </a:lnTo>
                  <a:lnTo>
                    <a:pt x="725106" y="0"/>
                  </a:lnTo>
                  <a:close/>
                </a:path>
                <a:path w="2175509" h="396240">
                  <a:moveTo>
                    <a:pt x="1450289" y="0"/>
                  </a:moveTo>
                  <a:lnTo>
                    <a:pt x="725157" y="0"/>
                  </a:lnTo>
                  <a:lnTo>
                    <a:pt x="725157" y="396214"/>
                  </a:lnTo>
                  <a:lnTo>
                    <a:pt x="1450289" y="396214"/>
                  </a:lnTo>
                  <a:lnTo>
                    <a:pt x="1450289" y="0"/>
                  </a:lnTo>
                  <a:close/>
                </a:path>
                <a:path w="2175509" h="396240">
                  <a:moveTo>
                    <a:pt x="2175459" y="0"/>
                  </a:moveTo>
                  <a:lnTo>
                    <a:pt x="1450340" y="0"/>
                  </a:lnTo>
                  <a:lnTo>
                    <a:pt x="1450340" y="396214"/>
                  </a:lnTo>
                  <a:lnTo>
                    <a:pt x="2175459" y="396214"/>
                  </a:lnTo>
                  <a:lnTo>
                    <a:pt x="2175459" y="0"/>
                  </a:lnTo>
                  <a:close/>
                </a:path>
              </a:pathLst>
            </a:custGeom>
            <a:solidFill>
              <a:srgbClr val="6EA8DC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5873115" y="677672"/>
              <a:ext cx="2185035" cy="1990725"/>
            </a:xfrm>
            <a:custGeom>
              <a:avLst/>
              <a:gdLst/>
              <a:ahLst/>
              <a:cxnLst/>
              <a:rect l="l" t="t" r="r" b="b"/>
              <a:pathLst>
                <a:path w="2185034" h="1990725">
                  <a:moveTo>
                    <a:pt x="729868" y="0"/>
                  </a:moveTo>
                  <a:lnTo>
                    <a:pt x="729868" y="1990470"/>
                  </a:lnTo>
                </a:path>
                <a:path w="2185034" h="1990725">
                  <a:moveTo>
                    <a:pt x="1455039" y="0"/>
                  </a:moveTo>
                  <a:lnTo>
                    <a:pt x="1455039" y="1990470"/>
                  </a:lnTo>
                </a:path>
                <a:path w="2185034" h="1990725">
                  <a:moveTo>
                    <a:pt x="0" y="400938"/>
                  </a:moveTo>
                  <a:lnTo>
                    <a:pt x="2184908" y="400938"/>
                  </a:lnTo>
                </a:path>
                <a:path w="2185034" h="1990725">
                  <a:moveTo>
                    <a:pt x="0" y="797178"/>
                  </a:moveTo>
                  <a:lnTo>
                    <a:pt x="2184908" y="797178"/>
                  </a:lnTo>
                </a:path>
                <a:path w="2185034" h="1990725">
                  <a:moveTo>
                    <a:pt x="0" y="1193291"/>
                  </a:moveTo>
                  <a:lnTo>
                    <a:pt x="2184908" y="1193291"/>
                  </a:lnTo>
                </a:path>
                <a:path w="2185034" h="1990725">
                  <a:moveTo>
                    <a:pt x="0" y="1589532"/>
                  </a:moveTo>
                  <a:lnTo>
                    <a:pt x="2184908" y="1589532"/>
                  </a:lnTo>
                </a:path>
                <a:path w="2185034" h="1990725">
                  <a:moveTo>
                    <a:pt x="4699" y="0"/>
                  </a:moveTo>
                  <a:lnTo>
                    <a:pt x="4699" y="1990470"/>
                  </a:lnTo>
                </a:path>
                <a:path w="2185034" h="1990725">
                  <a:moveTo>
                    <a:pt x="2180082" y="0"/>
                  </a:moveTo>
                  <a:lnTo>
                    <a:pt x="2180082" y="1990470"/>
                  </a:lnTo>
                </a:path>
                <a:path w="2185034" h="1990725">
                  <a:moveTo>
                    <a:pt x="0" y="4699"/>
                  </a:moveTo>
                  <a:lnTo>
                    <a:pt x="2184908" y="4699"/>
                  </a:lnTo>
                </a:path>
                <a:path w="2185034" h="1990725">
                  <a:moveTo>
                    <a:pt x="0" y="1985771"/>
                  </a:moveTo>
                  <a:lnTo>
                    <a:pt x="2184908" y="1985771"/>
                  </a:lnTo>
                </a:path>
              </a:pathLst>
            </a:custGeom>
            <a:ln w="9525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-4749"/>
            <a:ext cx="9153525" cy="479425"/>
            <a:chOff x="-4762" y="-4749"/>
            <a:chExt cx="9153525" cy="479425"/>
          </a:xfrm>
        </p:grpSpPr>
        <p:sp>
          <p:nvSpPr>
            <p:cNvPr id="8" name="object 8"/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9144000" y="0"/>
                  </a:moveTo>
                  <a:lnTo>
                    <a:pt x="0" y="0"/>
                  </a:lnTo>
                  <a:lnTo>
                    <a:pt x="0" y="469506"/>
                  </a:lnTo>
                  <a:lnTo>
                    <a:pt x="9144000" y="46950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0" y="469506"/>
                  </a:moveTo>
                  <a:lnTo>
                    <a:pt x="9144000" y="46950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69506"/>
                  </a:lnTo>
                  <a:close/>
                </a:path>
              </a:pathLst>
            </a:custGeom>
            <a:ln w="95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20" noProof="0" dirty="0" err="1"/>
              <a:t>Feed</a:t>
            </a:r>
            <a:r>
              <a:rPr lang="es-PE" spc="-20" noProof="0" dirty="0"/>
              <a:t>-</a:t>
            </a:r>
            <a:r>
              <a:rPr lang="es-PE" noProof="0" dirty="0"/>
              <a:t>Forward</a:t>
            </a:r>
            <a:r>
              <a:rPr lang="es-PE" spc="20" noProof="0" dirty="0"/>
              <a:t> </a:t>
            </a:r>
            <a:r>
              <a:rPr lang="es-PE" noProof="0" dirty="0"/>
              <a:t>neural</a:t>
            </a:r>
            <a:r>
              <a:rPr lang="es-PE" spc="5" noProof="0" dirty="0"/>
              <a:t> </a:t>
            </a:r>
            <a:r>
              <a:rPr lang="es-PE" spc="-10" noProof="0" dirty="0"/>
              <a:t>network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78409" y="691642"/>
            <a:ext cx="4034154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z="1600" b="1" noProof="0" dirty="0">
                <a:latin typeface="Roboto"/>
                <a:cs typeface="Roboto"/>
              </a:rPr>
              <a:t>¿Por</a:t>
            </a:r>
            <a:r>
              <a:rPr lang="es-PE" sz="1600" b="1" spc="-20" noProof="0" dirty="0">
                <a:latin typeface="Roboto"/>
                <a:cs typeface="Roboto"/>
              </a:rPr>
              <a:t> </a:t>
            </a:r>
            <a:r>
              <a:rPr lang="es-PE" sz="1600" b="1" noProof="0" dirty="0">
                <a:latin typeface="Roboto"/>
                <a:cs typeface="Roboto"/>
              </a:rPr>
              <a:t>qué</a:t>
            </a:r>
            <a:r>
              <a:rPr lang="es-PE" sz="1600" b="1" spc="-5" noProof="0" dirty="0">
                <a:latin typeface="Roboto"/>
                <a:cs typeface="Roboto"/>
              </a:rPr>
              <a:t> </a:t>
            </a:r>
            <a:r>
              <a:rPr lang="es-PE" sz="1600" b="1" noProof="0" dirty="0">
                <a:latin typeface="Roboto"/>
                <a:cs typeface="Roboto"/>
              </a:rPr>
              <a:t>necesitamos</a:t>
            </a:r>
            <a:r>
              <a:rPr lang="es-PE" sz="1600" b="1" spc="5" noProof="0" dirty="0">
                <a:latin typeface="Roboto"/>
                <a:cs typeface="Roboto"/>
              </a:rPr>
              <a:t> </a:t>
            </a:r>
            <a:r>
              <a:rPr lang="es-PE" sz="1600" b="1" noProof="0" dirty="0">
                <a:latin typeface="Roboto"/>
                <a:cs typeface="Roboto"/>
              </a:rPr>
              <a:t>modelos</a:t>
            </a:r>
            <a:r>
              <a:rPr lang="es-PE" sz="1600" b="1" spc="-15" noProof="0" dirty="0">
                <a:latin typeface="Roboto"/>
                <a:cs typeface="Roboto"/>
              </a:rPr>
              <a:t> </a:t>
            </a:r>
            <a:r>
              <a:rPr lang="es-PE" sz="1600" b="1" noProof="0" dirty="0">
                <a:latin typeface="Roboto"/>
                <a:cs typeface="Roboto"/>
              </a:rPr>
              <a:t>no</a:t>
            </a:r>
            <a:r>
              <a:rPr lang="es-PE" sz="1600" b="1" spc="-30" noProof="0" dirty="0">
                <a:latin typeface="Roboto"/>
                <a:cs typeface="Roboto"/>
              </a:rPr>
              <a:t> </a:t>
            </a:r>
            <a:r>
              <a:rPr lang="es-PE" sz="1600" b="1" spc="-10" noProof="0" dirty="0">
                <a:latin typeface="Roboto"/>
                <a:cs typeface="Roboto"/>
              </a:rPr>
              <a:t>lineales?</a:t>
            </a:r>
            <a:endParaRPr lang="es-PE" sz="16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lang="es-PE" sz="1600" noProof="0" dirty="0">
              <a:latin typeface="Roboto"/>
              <a:cs typeface="Roboto"/>
            </a:endParaRPr>
          </a:p>
          <a:p>
            <a:pPr marL="139065">
              <a:lnSpc>
                <a:spcPct val="100000"/>
              </a:lnSpc>
              <a:tabLst>
                <a:tab pos="469265" algn="l"/>
              </a:tabLst>
            </a:pPr>
            <a:r>
              <a:rPr lang="es-PE" sz="1600" spc="-350" noProof="0" dirty="0">
                <a:latin typeface="Roboto"/>
                <a:cs typeface="Roboto"/>
              </a:rPr>
              <a:t>-</a:t>
            </a:r>
            <a:r>
              <a:rPr lang="es-PE" sz="1600" noProof="0" dirty="0">
                <a:latin typeface="Roboto"/>
                <a:cs typeface="Roboto"/>
              </a:rPr>
              <a:t>	Caso</a:t>
            </a:r>
            <a:r>
              <a:rPr lang="es-PE" sz="1600" spc="-55" noProof="0" dirty="0">
                <a:latin typeface="Roboto"/>
                <a:cs typeface="Roboto"/>
              </a:rPr>
              <a:t> </a:t>
            </a:r>
            <a:r>
              <a:rPr lang="es-PE" sz="1600" noProof="0" dirty="0">
                <a:latin typeface="Roboto"/>
                <a:cs typeface="Roboto"/>
              </a:rPr>
              <a:t>simple:</a:t>
            </a:r>
            <a:r>
              <a:rPr lang="es-PE" sz="1600" spc="-40" noProof="0" dirty="0">
                <a:latin typeface="Roboto"/>
                <a:cs typeface="Roboto"/>
              </a:rPr>
              <a:t> </a:t>
            </a:r>
            <a:r>
              <a:rPr lang="es-PE" sz="1600" spc="-10" noProof="0" dirty="0">
                <a:latin typeface="Roboto"/>
                <a:cs typeface="Roboto"/>
              </a:rPr>
              <a:t>Compuerta</a:t>
            </a:r>
            <a:r>
              <a:rPr lang="es-PE" sz="1600" spc="-50" noProof="0" dirty="0">
                <a:latin typeface="Roboto"/>
                <a:cs typeface="Roboto"/>
              </a:rPr>
              <a:t> </a:t>
            </a:r>
            <a:r>
              <a:rPr lang="es-PE" sz="1600" spc="-25" noProof="0" dirty="0">
                <a:latin typeface="Roboto"/>
                <a:cs typeface="Roboto"/>
              </a:rPr>
              <a:t>XOR</a:t>
            </a:r>
            <a:endParaRPr lang="es-PE" sz="1600" noProof="0" dirty="0">
              <a:latin typeface="Roboto"/>
              <a:cs typeface="Roboto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6808" y="1580641"/>
            <a:ext cx="3253867" cy="140017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99463" y="1834387"/>
            <a:ext cx="269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z="1600" b="1" spc="-25" noProof="0" dirty="0">
                <a:latin typeface="Roboto"/>
                <a:cs typeface="Roboto"/>
              </a:rPr>
              <a:t>X1</a:t>
            </a:r>
            <a:endParaRPr lang="es-PE" sz="1600" noProof="0" dirty="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9463" y="2422905"/>
            <a:ext cx="269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z="1600" b="1" spc="-25" noProof="0" dirty="0">
                <a:latin typeface="Roboto"/>
                <a:cs typeface="Roboto"/>
              </a:rPr>
              <a:t>X2</a:t>
            </a:r>
            <a:endParaRPr lang="es-PE" sz="1600" noProof="0" dirty="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80178" y="2135504"/>
            <a:ext cx="1504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z="1600" b="1" spc="-50" noProof="0" dirty="0">
                <a:latin typeface="Roboto"/>
                <a:cs typeface="Roboto"/>
              </a:rPr>
              <a:t>S</a:t>
            </a:r>
            <a:endParaRPr lang="es-PE" sz="1600" noProof="0" dirty="0">
              <a:latin typeface="Roboto"/>
              <a:cs typeface="Roboto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253371"/>
              </p:ext>
            </p:extLst>
          </p:nvPr>
        </p:nvGraphicFramePr>
        <p:xfrm>
          <a:off x="6076060" y="784986"/>
          <a:ext cx="1706244" cy="1876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370">
                <a:tc>
                  <a:txBody>
                    <a:bodyPr/>
                    <a:lstStyle/>
                    <a:p>
                      <a:pPr marL="55880">
                        <a:lnSpc>
                          <a:spcPts val="1550"/>
                        </a:lnSpc>
                      </a:pPr>
                      <a:r>
                        <a:rPr lang="es-PE" sz="1400" b="1" spc="-25" noProof="0" dirty="0">
                          <a:latin typeface="Arial"/>
                          <a:cs typeface="Arial"/>
                        </a:rPr>
                        <a:t>X1</a:t>
                      </a:r>
                      <a:endParaRPr lang="es-PE" sz="1400" noProof="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6EA8DC"/>
                    </a:solidFill>
                  </a:tcPr>
                </a:tc>
                <a:tc>
                  <a:txBody>
                    <a:bodyPr/>
                    <a:lstStyle/>
                    <a:p>
                      <a:pPr marL="170815" algn="ctr">
                        <a:lnSpc>
                          <a:spcPts val="1550"/>
                        </a:lnSpc>
                      </a:pPr>
                      <a:r>
                        <a:rPr lang="es-PE" sz="1400" b="1" spc="-25" noProof="0" dirty="0">
                          <a:latin typeface="Arial"/>
                          <a:cs typeface="Arial"/>
                        </a:rPr>
                        <a:t>X2</a:t>
                      </a:r>
                      <a:endParaRPr lang="es-PE" sz="1400" noProof="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6EA8DC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550"/>
                        </a:lnSpc>
                      </a:pPr>
                      <a:r>
                        <a:rPr lang="es-PE" sz="1400" b="1" spc="-50" noProof="0" dirty="0">
                          <a:latin typeface="Arial"/>
                          <a:cs typeface="Arial"/>
                        </a:rPr>
                        <a:t>S</a:t>
                      </a:r>
                      <a:endParaRPr lang="es-PE" sz="1400" noProof="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6EA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0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L="17081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0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0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0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L="17081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1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1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1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L="17081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0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1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1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L="17081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1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s-PE" sz="1400" spc="-50" noProof="0" dirty="0">
                          <a:latin typeface="Arial MT"/>
                          <a:cs typeface="Arial MT"/>
                        </a:rPr>
                        <a:t>0</a:t>
                      </a:r>
                      <a:endParaRPr lang="es-PE" sz="14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636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475399" y="3147872"/>
            <a:ext cx="4361180" cy="1720850"/>
            <a:chOff x="475399" y="3147872"/>
            <a:chExt cx="4361180" cy="172085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399" y="3147872"/>
              <a:ext cx="4360672" cy="17208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05226" y="3366630"/>
              <a:ext cx="798055" cy="17374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2994" y="3604386"/>
              <a:ext cx="636587" cy="17373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3083" y="4077373"/>
              <a:ext cx="385927" cy="17374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16632" y="4383760"/>
              <a:ext cx="683526" cy="1750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76880" y="4638001"/>
              <a:ext cx="660882" cy="175044"/>
            </a:xfrm>
            <a:prstGeom prst="rect">
              <a:avLst/>
            </a:prstGeom>
          </p:spPr>
        </p:pic>
      </p:grpSp>
      <p:sp>
        <p:nvSpPr>
          <p:cNvPr id="25" name="object 25"/>
          <p:cNvSpPr/>
          <p:nvPr/>
        </p:nvSpPr>
        <p:spPr>
          <a:xfrm>
            <a:off x="6027546" y="1122552"/>
            <a:ext cx="1179830" cy="291465"/>
          </a:xfrm>
          <a:custGeom>
            <a:avLst/>
            <a:gdLst/>
            <a:ahLst/>
            <a:cxnLst/>
            <a:rect l="l" t="t" r="r" b="b"/>
            <a:pathLst>
              <a:path w="1179829" h="291465">
                <a:moveTo>
                  <a:pt x="0" y="48513"/>
                </a:moveTo>
                <a:lnTo>
                  <a:pt x="3811" y="29628"/>
                </a:lnTo>
                <a:lnTo>
                  <a:pt x="14208" y="14208"/>
                </a:lnTo>
                <a:lnTo>
                  <a:pt x="29628" y="3811"/>
                </a:lnTo>
                <a:lnTo>
                  <a:pt x="48513" y="0"/>
                </a:lnTo>
                <a:lnTo>
                  <a:pt x="1130807" y="0"/>
                </a:lnTo>
                <a:lnTo>
                  <a:pt x="1149693" y="3811"/>
                </a:lnTo>
                <a:lnTo>
                  <a:pt x="1165113" y="14208"/>
                </a:lnTo>
                <a:lnTo>
                  <a:pt x="1175510" y="29628"/>
                </a:lnTo>
                <a:lnTo>
                  <a:pt x="1179322" y="48513"/>
                </a:lnTo>
                <a:lnTo>
                  <a:pt x="1179322" y="242443"/>
                </a:lnTo>
                <a:lnTo>
                  <a:pt x="1175510" y="261328"/>
                </a:lnTo>
                <a:lnTo>
                  <a:pt x="1165113" y="276748"/>
                </a:lnTo>
                <a:lnTo>
                  <a:pt x="1149693" y="287145"/>
                </a:lnTo>
                <a:lnTo>
                  <a:pt x="1130807" y="290957"/>
                </a:lnTo>
                <a:lnTo>
                  <a:pt x="48513" y="290957"/>
                </a:lnTo>
                <a:lnTo>
                  <a:pt x="29628" y="287145"/>
                </a:lnTo>
                <a:lnTo>
                  <a:pt x="14208" y="276748"/>
                </a:lnTo>
                <a:lnTo>
                  <a:pt x="3811" y="261328"/>
                </a:lnTo>
                <a:lnTo>
                  <a:pt x="0" y="242443"/>
                </a:lnTo>
                <a:lnTo>
                  <a:pt x="0" y="48513"/>
                </a:lnTo>
                <a:close/>
              </a:path>
            </a:pathLst>
          </a:custGeom>
          <a:ln w="28575">
            <a:solidFill>
              <a:srgbClr val="0E9D57"/>
            </a:solidFill>
          </a:ln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26" name="object 26"/>
          <p:cNvSpPr txBox="1"/>
          <p:nvPr/>
        </p:nvSpPr>
        <p:spPr>
          <a:xfrm>
            <a:off x="5459221" y="1083309"/>
            <a:ext cx="22097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s-PE" sz="1400" b="1" spc="-25" noProof="0" dirty="0">
                <a:solidFill>
                  <a:srgbClr val="0E9D57"/>
                </a:solidFill>
                <a:latin typeface="Roboto"/>
                <a:cs typeface="Roboto"/>
              </a:rPr>
              <a:t>X</a:t>
            </a:r>
            <a:r>
              <a:rPr lang="es-PE" sz="1350" b="1" spc="-37" baseline="-21604" noProof="0" dirty="0">
                <a:solidFill>
                  <a:srgbClr val="0E9D57"/>
                </a:solidFill>
                <a:latin typeface="Roboto"/>
                <a:cs typeface="Roboto"/>
              </a:rPr>
              <a:t>i</a:t>
            </a:r>
            <a:endParaRPr lang="es-PE" sz="1350" baseline="-21604" noProof="0" dirty="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55332" y="2733802"/>
            <a:ext cx="1390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400" b="1" spc="-50" noProof="0" dirty="0">
                <a:solidFill>
                  <a:srgbClr val="1A227D"/>
                </a:solidFill>
                <a:latin typeface="Roboto"/>
                <a:cs typeface="Roboto"/>
              </a:rPr>
              <a:t>X</a:t>
            </a:r>
            <a:endParaRPr lang="es-PE" sz="1400" noProof="0" dirty="0">
              <a:latin typeface="Roboto"/>
              <a:cs typeface="Robo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423340" y="1167828"/>
            <a:ext cx="505459" cy="1428750"/>
            <a:chOff x="7423340" y="1167828"/>
            <a:chExt cx="505459" cy="1428750"/>
          </a:xfrm>
        </p:grpSpPr>
        <p:sp>
          <p:nvSpPr>
            <p:cNvPr id="29" name="object 29"/>
            <p:cNvSpPr/>
            <p:nvPr/>
          </p:nvSpPr>
          <p:spPr>
            <a:xfrm>
              <a:off x="7437628" y="1182116"/>
              <a:ext cx="476884" cy="1400175"/>
            </a:xfrm>
            <a:custGeom>
              <a:avLst/>
              <a:gdLst/>
              <a:ahLst/>
              <a:cxnLst/>
              <a:rect l="l" t="t" r="r" b="b"/>
              <a:pathLst>
                <a:path w="476884" h="1400175">
                  <a:moveTo>
                    <a:pt x="0" y="79501"/>
                  </a:moveTo>
                  <a:lnTo>
                    <a:pt x="6240" y="48541"/>
                  </a:lnTo>
                  <a:lnTo>
                    <a:pt x="23256" y="23272"/>
                  </a:lnTo>
                  <a:lnTo>
                    <a:pt x="48488" y="6242"/>
                  </a:lnTo>
                  <a:lnTo>
                    <a:pt x="79375" y="0"/>
                  </a:lnTo>
                  <a:lnTo>
                    <a:pt x="397255" y="0"/>
                  </a:lnTo>
                  <a:lnTo>
                    <a:pt x="428142" y="6242"/>
                  </a:lnTo>
                  <a:lnTo>
                    <a:pt x="453374" y="23272"/>
                  </a:lnTo>
                  <a:lnTo>
                    <a:pt x="470390" y="48541"/>
                  </a:lnTo>
                  <a:lnTo>
                    <a:pt x="476630" y="79501"/>
                  </a:lnTo>
                  <a:lnTo>
                    <a:pt x="476630" y="1320673"/>
                  </a:lnTo>
                  <a:lnTo>
                    <a:pt x="470390" y="1351559"/>
                  </a:lnTo>
                  <a:lnTo>
                    <a:pt x="453374" y="1376791"/>
                  </a:lnTo>
                  <a:lnTo>
                    <a:pt x="428142" y="1393807"/>
                  </a:lnTo>
                  <a:lnTo>
                    <a:pt x="397255" y="1400048"/>
                  </a:lnTo>
                  <a:lnTo>
                    <a:pt x="79375" y="1400048"/>
                  </a:lnTo>
                  <a:lnTo>
                    <a:pt x="48488" y="1393807"/>
                  </a:lnTo>
                  <a:lnTo>
                    <a:pt x="23256" y="1376791"/>
                  </a:lnTo>
                  <a:lnTo>
                    <a:pt x="6240" y="1351559"/>
                  </a:lnTo>
                  <a:lnTo>
                    <a:pt x="0" y="1320673"/>
                  </a:lnTo>
                  <a:lnTo>
                    <a:pt x="0" y="79501"/>
                  </a:lnTo>
                  <a:close/>
                </a:path>
              </a:pathLst>
            </a:custGeom>
            <a:ln w="28575">
              <a:solidFill>
                <a:srgbClr val="1A227D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30" name="object 30"/>
            <p:cNvSpPr/>
            <p:nvPr/>
          </p:nvSpPr>
          <p:spPr>
            <a:xfrm>
              <a:off x="7530211" y="1511554"/>
              <a:ext cx="304165" cy="683895"/>
            </a:xfrm>
            <a:custGeom>
              <a:avLst/>
              <a:gdLst/>
              <a:ahLst/>
              <a:cxnLst/>
              <a:rect l="l" t="t" r="r" b="b"/>
              <a:pathLst>
                <a:path w="304165" h="683894">
                  <a:moveTo>
                    <a:pt x="0" y="50673"/>
                  </a:moveTo>
                  <a:lnTo>
                    <a:pt x="3988" y="30968"/>
                  </a:lnTo>
                  <a:lnTo>
                    <a:pt x="14858" y="14859"/>
                  </a:lnTo>
                  <a:lnTo>
                    <a:pt x="30968" y="3988"/>
                  </a:lnTo>
                  <a:lnTo>
                    <a:pt x="50673" y="0"/>
                  </a:lnTo>
                  <a:lnTo>
                    <a:pt x="253111" y="0"/>
                  </a:lnTo>
                  <a:lnTo>
                    <a:pt x="272796" y="3988"/>
                  </a:lnTo>
                  <a:lnTo>
                    <a:pt x="288861" y="14858"/>
                  </a:lnTo>
                  <a:lnTo>
                    <a:pt x="299688" y="30968"/>
                  </a:lnTo>
                  <a:lnTo>
                    <a:pt x="303657" y="50673"/>
                  </a:lnTo>
                  <a:lnTo>
                    <a:pt x="303657" y="633095"/>
                  </a:lnTo>
                  <a:lnTo>
                    <a:pt x="299688" y="652799"/>
                  </a:lnTo>
                  <a:lnTo>
                    <a:pt x="288861" y="668909"/>
                  </a:lnTo>
                  <a:lnTo>
                    <a:pt x="272796" y="679779"/>
                  </a:lnTo>
                  <a:lnTo>
                    <a:pt x="253111" y="683768"/>
                  </a:lnTo>
                  <a:lnTo>
                    <a:pt x="50673" y="683768"/>
                  </a:lnTo>
                  <a:lnTo>
                    <a:pt x="30968" y="679779"/>
                  </a:lnTo>
                  <a:lnTo>
                    <a:pt x="14859" y="668909"/>
                  </a:lnTo>
                  <a:lnTo>
                    <a:pt x="3988" y="652799"/>
                  </a:lnTo>
                  <a:lnTo>
                    <a:pt x="0" y="633095"/>
                  </a:lnTo>
                  <a:lnTo>
                    <a:pt x="0" y="50673"/>
                  </a:lnTo>
                  <a:close/>
                </a:path>
              </a:pathLst>
            </a:custGeom>
            <a:ln w="28575">
              <a:solidFill>
                <a:srgbClr val="DB4437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175117" y="1252220"/>
            <a:ext cx="1155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1400" b="1" spc="-50" noProof="0" dirty="0">
                <a:solidFill>
                  <a:srgbClr val="1A227D"/>
                </a:solidFill>
                <a:latin typeface="Roboto"/>
                <a:cs typeface="Roboto"/>
              </a:rPr>
              <a:t>y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027546" y="2314067"/>
            <a:ext cx="386080" cy="268605"/>
          </a:xfrm>
          <a:custGeom>
            <a:avLst/>
            <a:gdLst/>
            <a:ahLst/>
            <a:cxnLst/>
            <a:rect l="l" t="t" r="r" b="b"/>
            <a:pathLst>
              <a:path w="386079" h="268605">
                <a:moveTo>
                  <a:pt x="0" y="44703"/>
                </a:moveTo>
                <a:lnTo>
                  <a:pt x="3520" y="27324"/>
                </a:lnTo>
                <a:lnTo>
                  <a:pt x="13112" y="13112"/>
                </a:lnTo>
                <a:lnTo>
                  <a:pt x="27324" y="3520"/>
                </a:lnTo>
                <a:lnTo>
                  <a:pt x="44703" y="0"/>
                </a:lnTo>
                <a:lnTo>
                  <a:pt x="341122" y="0"/>
                </a:lnTo>
                <a:lnTo>
                  <a:pt x="358501" y="3520"/>
                </a:lnTo>
                <a:lnTo>
                  <a:pt x="372713" y="13112"/>
                </a:lnTo>
                <a:lnTo>
                  <a:pt x="382305" y="27324"/>
                </a:lnTo>
                <a:lnTo>
                  <a:pt x="385825" y="44703"/>
                </a:lnTo>
                <a:lnTo>
                  <a:pt x="385825" y="223519"/>
                </a:lnTo>
                <a:lnTo>
                  <a:pt x="382305" y="240899"/>
                </a:lnTo>
                <a:lnTo>
                  <a:pt x="372713" y="255111"/>
                </a:lnTo>
                <a:lnTo>
                  <a:pt x="358501" y="264703"/>
                </a:lnTo>
                <a:lnTo>
                  <a:pt x="341122" y="268224"/>
                </a:lnTo>
                <a:lnTo>
                  <a:pt x="44703" y="268224"/>
                </a:lnTo>
                <a:lnTo>
                  <a:pt x="27324" y="264703"/>
                </a:lnTo>
                <a:lnTo>
                  <a:pt x="13112" y="255111"/>
                </a:lnTo>
                <a:lnTo>
                  <a:pt x="3520" y="240899"/>
                </a:lnTo>
                <a:lnTo>
                  <a:pt x="0" y="223519"/>
                </a:lnTo>
                <a:lnTo>
                  <a:pt x="0" y="44703"/>
                </a:lnTo>
                <a:close/>
              </a:path>
            </a:pathLst>
          </a:custGeom>
          <a:ln w="28575">
            <a:solidFill>
              <a:srgbClr val="F4B400"/>
            </a:solidFill>
          </a:ln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3" name="object 33"/>
          <p:cNvSpPr txBox="1"/>
          <p:nvPr/>
        </p:nvSpPr>
        <p:spPr>
          <a:xfrm>
            <a:off x="5962777" y="2776474"/>
            <a:ext cx="3403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s-PE" sz="2100" b="1" baseline="13888" noProof="0" dirty="0">
                <a:solidFill>
                  <a:srgbClr val="F4B400"/>
                </a:solidFill>
                <a:latin typeface="Roboto"/>
                <a:cs typeface="Roboto"/>
              </a:rPr>
              <a:t>X</a:t>
            </a:r>
            <a:r>
              <a:rPr lang="es-PE" sz="900" b="1" noProof="0" dirty="0">
                <a:solidFill>
                  <a:srgbClr val="F4B400"/>
                </a:solidFill>
                <a:latin typeface="Roboto"/>
                <a:cs typeface="Roboto"/>
              </a:rPr>
              <a:t>i</a:t>
            </a:r>
            <a:r>
              <a:rPr lang="es-PE" sz="900" b="1" spc="10" noProof="0" dirty="0">
                <a:solidFill>
                  <a:srgbClr val="F4B400"/>
                </a:solidFill>
                <a:latin typeface="Roboto"/>
                <a:cs typeface="Roboto"/>
              </a:rPr>
              <a:t> </a:t>
            </a:r>
            <a:r>
              <a:rPr lang="es-PE" sz="900" b="1" noProof="0" dirty="0">
                <a:solidFill>
                  <a:srgbClr val="F4B400"/>
                </a:solidFill>
                <a:latin typeface="Roboto"/>
                <a:cs typeface="Roboto"/>
              </a:rPr>
              <a:t>, </a:t>
            </a:r>
            <a:r>
              <a:rPr lang="es-PE" sz="900" b="1" spc="-50" noProof="0" dirty="0">
                <a:solidFill>
                  <a:srgbClr val="F4B400"/>
                </a:solidFill>
                <a:latin typeface="Roboto"/>
                <a:cs typeface="Roboto"/>
              </a:rPr>
              <a:t>j</a:t>
            </a:r>
            <a:endParaRPr lang="es-PE" sz="900" noProof="0" dirty="0">
              <a:latin typeface="Roboto"/>
              <a:cs typeface="Robot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987796" y="1529714"/>
            <a:ext cx="1268730" cy="683895"/>
          </a:xfrm>
          <a:custGeom>
            <a:avLst/>
            <a:gdLst/>
            <a:ahLst/>
            <a:cxnLst/>
            <a:rect l="l" t="t" r="r" b="b"/>
            <a:pathLst>
              <a:path w="1268729" h="683894">
                <a:moveTo>
                  <a:pt x="0" y="113919"/>
                </a:moveTo>
                <a:lnTo>
                  <a:pt x="8961" y="69544"/>
                </a:lnTo>
                <a:lnTo>
                  <a:pt x="33400" y="33337"/>
                </a:lnTo>
                <a:lnTo>
                  <a:pt x="69651" y="8941"/>
                </a:lnTo>
                <a:lnTo>
                  <a:pt x="114045" y="0"/>
                </a:lnTo>
                <a:lnTo>
                  <a:pt x="1154810" y="0"/>
                </a:lnTo>
                <a:lnTo>
                  <a:pt x="1199132" y="8941"/>
                </a:lnTo>
                <a:lnTo>
                  <a:pt x="1235344" y="33337"/>
                </a:lnTo>
                <a:lnTo>
                  <a:pt x="1259770" y="69544"/>
                </a:lnTo>
                <a:lnTo>
                  <a:pt x="1268729" y="113919"/>
                </a:lnTo>
                <a:lnTo>
                  <a:pt x="1268729" y="569722"/>
                </a:lnTo>
                <a:lnTo>
                  <a:pt x="1259770" y="614043"/>
                </a:lnTo>
                <a:lnTo>
                  <a:pt x="1235344" y="650255"/>
                </a:lnTo>
                <a:lnTo>
                  <a:pt x="1199132" y="674681"/>
                </a:lnTo>
                <a:lnTo>
                  <a:pt x="1154810" y="683641"/>
                </a:lnTo>
                <a:lnTo>
                  <a:pt x="114045" y="683641"/>
                </a:lnTo>
                <a:lnTo>
                  <a:pt x="69651" y="674681"/>
                </a:lnTo>
                <a:lnTo>
                  <a:pt x="33400" y="650255"/>
                </a:lnTo>
                <a:lnTo>
                  <a:pt x="8961" y="614043"/>
                </a:lnTo>
                <a:lnTo>
                  <a:pt x="0" y="569722"/>
                </a:lnTo>
                <a:lnTo>
                  <a:pt x="0" y="113919"/>
                </a:lnTo>
                <a:close/>
              </a:path>
            </a:pathLst>
          </a:custGeom>
          <a:ln w="28575">
            <a:solidFill>
              <a:srgbClr val="DB4437"/>
            </a:solidFill>
          </a:ln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5" name="object 35"/>
          <p:cNvSpPr txBox="1"/>
          <p:nvPr/>
        </p:nvSpPr>
        <p:spPr>
          <a:xfrm>
            <a:off x="5484240" y="1768602"/>
            <a:ext cx="2654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s-PE" sz="1400" b="1" spc="-25" noProof="0" dirty="0">
                <a:solidFill>
                  <a:srgbClr val="DB4437"/>
                </a:solidFill>
                <a:latin typeface="Roboto"/>
                <a:cs typeface="Roboto"/>
              </a:rPr>
              <a:t>X</a:t>
            </a:r>
            <a:r>
              <a:rPr lang="es-PE" sz="1350" b="1" spc="-37" baseline="-21604" noProof="0" dirty="0">
                <a:solidFill>
                  <a:srgbClr val="DB4437"/>
                </a:solidFill>
                <a:latin typeface="Roboto"/>
                <a:cs typeface="Roboto"/>
              </a:rPr>
              <a:t>B</a:t>
            </a:r>
            <a:endParaRPr lang="es-PE" sz="1350" baseline="-21604" noProof="0" dirty="0">
              <a:latin typeface="Roboto"/>
              <a:cs typeface="Robo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33333" y="1665224"/>
            <a:ext cx="1155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1400" b="1" spc="-50" noProof="0" dirty="0">
                <a:solidFill>
                  <a:srgbClr val="DB4437"/>
                </a:solidFill>
                <a:latin typeface="Roboto"/>
                <a:cs typeface="Roboto"/>
              </a:rPr>
              <a:t>y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23250" y="1767332"/>
            <a:ext cx="10160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PE" sz="900" b="1" spc="-50" noProof="0" dirty="0">
                <a:solidFill>
                  <a:srgbClr val="DB4437"/>
                </a:solidFill>
                <a:latin typeface="Roboto"/>
                <a:cs typeface="Roboto"/>
              </a:rPr>
              <a:t>B</a:t>
            </a:r>
            <a:endParaRPr lang="es-PE" sz="900" noProof="0" dirty="0">
              <a:latin typeface="Roboto"/>
              <a:cs typeface="Roboto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97523" y="3210801"/>
            <a:ext cx="1630679" cy="15011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20" noProof="0" dirty="0" err="1"/>
              <a:t>Feed</a:t>
            </a:r>
            <a:r>
              <a:rPr lang="es-PE" spc="-20" noProof="0" dirty="0"/>
              <a:t>-</a:t>
            </a:r>
            <a:r>
              <a:rPr lang="es-PE" noProof="0" dirty="0"/>
              <a:t>Forward</a:t>
            </a:r>
            <a:r>
              <a:rPr lang="es-PE" spc="20" noProof="0" dirty="0"/>
              <a:t> </a:t>
            </a:r>
            <a:r>
              <a:rPr lang="es-PE" noProof="0" dirty="0"/>
              <a:t>neural</a:t>
            </a:r>
            <a:r>
              <a:rPr lang="es-PE" spc="5" noProof="0" dirty="0"/>
              <a:t> </a:t>
            </a:r>
            <a:r>
              <a:rPr lang="es-PE" spc="-10" noProof="0" dirty="0"/>
              <a:t>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2015" y="738378"/>
            <a:ext cx="26777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 indent="-32258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35280" algn="l"/>
              </a:tabLst>
            </a:pPr>
            <a:r>
              <a:rPr lang="es-PE" sz="1500" spc="-10" noProof="0" dirty="0">
                <a:latin typeface="Roboto"/>
                <a:cs typeface="Roboto"/>
              </a:rPr>
              <a:t>Arquitectura:</a:t>
            </a:r>
            <a:r>
              <a:rPr lang="es-PE" sz="1500" spc="-40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Modelo</a:t>
            </a:r>
            <a:r>
              <a:rPr lang="es-PE" sz="1500" spc="-40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Lineal</a:t>
            </a:r>
            <a:endParaRPr lang="es-PE" sz="1500" noProof="0" dirty="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6396" y="1045679"/>
            <a:ext cx="5684138" cy="2884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2015" y="1582673"/>
            <a:ext cx="35318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 indent="-32258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35280" algn="l"/>
              </a:tabLst>
            </a:pPr>
            <a:r>
              <a:rPr lang="es-PE" sz="1500" noProof="0" dirty="0" err="1">
                <a:latin typeface="Roboto"/>
                <a:cs typeface="Roboto"/>
              </a:rPr>
              <a:t>Loss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spc="-10" noProof="0" dirty="0" err="1">
                <a:latin typeface="Roboto"/>
                <a:cs typeface="Roboto"/>
              </a:rPr>
              <a:t>function</a:t>
            </a:r>
            <a:r>
              <a:rPr lang="es-PE" sz="1500" spc="-10" noProof="0" dirty="0">
                <a:latin typeface="Roboto"/>
                <a:cs typeface="Roboto"/>
              </a:rPr>
              <a:t>: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Error</a:t>
            </a:r>
            <a:r>
              <a:rPr lang="es-PE" sz="1500" spc="-40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cuadrático</a:t>
            </a:r>
            <a:r>
              <a:rPr lang="es-PE" sz="1500" spc="-50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medio</a:t>
            </a:r>
            <a:endParaRPr lang="es-PE" sz="1500" noProof="0" dirty="0">
              <a:latin typeface="Roboto"/>
              <a:cs typeface="Roboto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6396" y="1773961"/>
            <a:ext cx="5684138" cy="64716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2015" y="2447925"/>
            <a:ext cx="29006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 indent="-32258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35280" algn="l"/>
              </a:tabLst>
            </a:pPr>
            <a:r>
              <a:rPr lang="es-PE" sz="1500" spc="-10" noProof="0" dirty="0">
                <a:latin typeface="Roboto"/>
                <a:cs typeface="Roboto"/>
              </a:rPr>
              <a:t>Optimizador:</a:t>
            </a:r>
            <a:r>
              <a:rPr lang="es-PE" sz="1500" spc="-45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Solución</a:t>
            </a:r>
            <a:r>
              <a:rPr lang="es-PE" sz="1500" spc="-45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cerrada</a:t>
            </a:r>
            <a:endParaRPr lang="es-PE" sz="1500" noProof="0" dirty="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2236" y="2784703"/>
            <a:ext cx="2976499" cy="92153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8878" y="3916413"/>
            <a:ext cx="4076700" cy="7334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60C6A22E-0EAF-AD88-46EA-92194EE7429C}"/>
                  </a:ext>
                </a:extLst>
              </p14:cNvPr>
              <p14:cNvContentPartPr/>
              <p14:nvPr/>
            </p14:nvContentPartPr>
            <p14:xfrm>
              <a:off x="3862440" y="3424320"/>
              <a:ext cx="360" cy="360"/>
            </p14:xfrm>
          </p:contentPart>
        </mc:Choice>
        <mc:Fallback xmlns=""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60C6A22E-0EAF-AD88-46EA-92194EE7429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53080" y="34149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74A4C-41A9-AA3E-7B7D-009E46FF3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7">
            <a:extLst>
              <a:ext uri="{FF2B5EF4-FFF2-40B4-BE49-F238E27FC236}">
                <a16:creationId xmlns:a16="http://schemas.microsoft.com/office/drawing/2014/main" id="{F481C5FE-4DCD-613A-3BC0-0237EE958086}"/>
              </a:ext>
            </a:extLst>
          </p:cNvPr>
          <p:cNvGrpSpPr/>
          <p:nvPr/>
        </p:nvGrpSpPr>
        <p:grpSpPr>
          <a:xfrm>
            <a:off x="-4762" y="-4749"/>
            <a:ext cx="9153525" cy="479425"/>
            <a:chOff x="-4762" y="-4749"/>
            <a:chExt cx="9153525" cy="47942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00747FFF-2CD9-6364-6E01-950EC1EAE320}"/>
                </a:ext>
              </a:extLst>
            </p:cNvPr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9144000" y="0"/>
                  </a:moveTo>
                  <a:lnTo>
                    <a:pt x="0" y="0"/>
                  </a:lnTo>
                  <a:lnTo>
                    <a:pt x="0" y="469506"/>
                  </a:lnTo>
                  <a:lnTo>
                    <a:pt x="9144000" y="46950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2E18E82-00F9-552E-396E-A6C38740B352}"/>
                </a:ext>
              </a:extLst>
            </p:cNvPr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0" y="469506"/>
                  </a:moveTo>
                  <a:lnTo>
                    <a:pt x="9144000" y="46950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69506"/>
                  </a:lnTo>
                  <a:close/>
                </a:path>
              </a:pathLst>
            </a:custGeom>
            <a:ln w="95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F0C1CAB4-2659-A8FB-C4FD-81E24AA116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pc="-20" noProof="0" dirty="0" err="1"/>
              <a:t>Feed</a:t>
            </a:r>
            <a:r>
              <a:rPr lang="es-PE" spc="-20" noProof="0" dirty="0"/>
              <a:t>-</a:t>
            </a:r>
            <a:r>
              <a:rPr lang="es-PE" noProof="0" dirty="0"/>
              <a:t>Forward</a:t>
            </a:r>
            <a:r>
              <a:rPr lang="es-PE" spc="20" noProof="0" dirty="0"/>
              <a:t> </a:t>
            </a:r>
            <a:r>
              <a:rPr lang="es-PE" noProof="0" dirty="0"/>
              <a:t>neural</a:t>
            </a:r>
            <a:r>
              <a:rPr lang="es-PE" spc="5" noProof="0" dirty="0"/>
              <a:t> </a:t>
            </a:r>
            <a:r>
              <a:rPr lang="es-PE" spc="-10" noProof="0" dirty="0"/>
              <a:t>network</a:t>
            </a:r>
          </a:p>
        </p:txBody>
      </p:sp>
      <p:pic>
        <p:nvPicPr>
          <p:cNvPr id="11" name="object 11">
            <a:extLst>
              <a:ext uri="{FF2B5EF4-FFF2-40B4-BE49-F238E27FC236}">
                <a16:creationId xmlns:a16="http://schemas.microsoft.com/office/drawing/2014/main" id="{A3466474-522D-3A2D-D541-311E3FC55C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pic>
        <p:nvPicPr>
          <p:cNvPr id="4" name="object 38">
            <a:extLst>
              <a:ext uri="{FF2B5EF4-FFF2-40B4-BE49-F238E27FC236}">
                <a16:creationId xmlns:a16="http://schemas.microsoft.com/office/drawing/2014/main" id="{D9DE1C30-24FC-E36E-5F4C-12698B1D2B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1427" y="1184923"/>
            <a:ext cx="3048000" cy="29718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BF53C1B-2AD1-C841-FAD6-396BE2FAE9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807"/>
          <a:stretch>
            <a:fillRect/>
          </a:stretch>
        </p:blipFill>
        <p:spPr>
          <a:xfrm>
            <a:off x="381000" y="992384"/>
            <a:ext cx="4267200" cy="3164339"/>
          </a:xfrm>
          <a:prstGeom prst="rect">
            <a:avLst/>
          </a:prstGeom>
        </p:spPr>
      </p:pic>
      <p:sp>
        <p:nvSpPr>
          <p:cNvPr id="12" name="TextBox 14">
            <a:extLst>
              <a:ext uri="{FF2B5EF4-FFF2-40B4-BE49-F238E27FC236}">
                <a16:creationId xmlns:a16="http://schemas.microsoft.com/office/drawing/2014/main" id="{E46EC764-28C9-FDD2-709C-D43BBF03F90B}"/>
              </a:ext>
            </a:extLst>
          </p:cNvPr>
          <p:cNvSpPr txBox="1"/>
          <p:nvPr/>
        </p:nvSpPr>
        <p:spPr>
          <a:xfrm>
            <a:off x="1579561" y="429355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Lineal o Constante</a:t>
            </a: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573D6783-A914-B38F-3900-5BB6F98F16B8}"/>
              </a:ext>
            </a:extLst>
          </p:cNvPr>
          <p:cNvSpPr txBox="1"/>
          <p:nvPr/>
        </p:nvSpPr>
        <p:spPr>
          <a:xfrm>
            <a:off x="6168227" y="4275573"/>
            <a:ext cx="1146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No lineal</a:t>
            </a:r>
          </a:p>
        </p:txBody>
      </p:sp>
    </p:spTree>
    <p:extLst>
      <p:ext uri="{BB962C8B-B14F-4D97-AF65-F5344CB8AC3E}">
        <p14:creationId xmlns:p14="http://schemas.microsoft.com/office/powerpoint/2010/main" val="2104164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66E5F3A6-016B-CC34-3232-71A4567BF21A}"/>
              </a:ext>
            </a:extLst>
          </p:cNvPr>
          <p:cNvGrpSpPr/>
          <p:nvPr/>
        </p:nvGrpSpPr>
        <p:grpSpPr>
          <a:xfrm>
            <a:off x="2753457" y="853757"/>
            <a:ext cx="645005" cy="3609243"/>
            <a:chOff x="3825888" y="1138342"/>
            <a:chExt cx="705394" cy="4812324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45D219D-8289-5D8A-C91D-830A59FA520A}"/>
                </a:ext>
              </a:extLst>
            </p:cNvPr>
            <p:cNvGrpSpPr/>
            <p:nvPr/>
          </p:nvGrpSpPr>
          <p:grpSpPr>
            <a:xfrm>
              <a:off x="3825888" y="1138342"/>
              <a:ext cx="705394" cy="4812324"/>
              <a:chOff x="3825888" y="1138342"/>
              <a:chExt cx="705394" cy="4812324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0E59B35E-9543-5154-6DB8-9405A8C36B4B}"/>
                  </a:ext>
                </a:extLst>
              </p:cNvPr>
              <p:cNvGrpSpPr/>
              <p:nvPr/>
            </p:nvGrpSpPr>
            <p:grpSpPr>
              <a:xfrm>
                <a:off x="3825888" y="1138342"/>
                <a:ext cx="705394" cy="4812324"/>
                <a:chOff x="4124272" y="1022838"/>
                <a:chExt cx="705394" cy="4812324"/>
              </a:xfrm>
            </p:grpSpPr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05088654-759A-29AC-D762-BE8A99FE8F81}"/>
                    </a:ext>
                  </a:extLst>
                </p:cNvPr>
                <p:cNvSpPr/>
                <p:nvPr/>
              </p:nvSpPr>
              <p:spPr>
                <a:xfrm>
                  <a:off x="4124272" y="1022838"/>
                  <a:ext cx="705394" cy="705394"/>
                </a:xfrm>
                <a:prstGeom prst="ellips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/>
                </a:p>
              </p:txBody>
            </p:sp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4C1BF3D-68BE-8B27-5BAC-1E9491ACF3EE}"/>
                    </a:ext>
                  </a:extLst>
                </p:cNvPr>
                <p:cNvSpPr/>
                <p:nvPr/>
              </p:nvSpPr>
              <p:spPr>
                <a:xfrm>
                  <a:off x="4124272" y="2391668"/>
                  <a:ext cx="705394" cy="705394"/>
                </a:xfrm>
                <a:prstGeom prst="ellips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5135142F-9ECD-A52E-8F1F-541E2F90160C}"/>
                    </a:ext>
                  </a:extLst>
                </p:cNvPr>
                <p:cNvSpPr/>
                <p:nvPr/>
              </p:nvSpPr>
              <p:spPr>
                <a:xfrm>
                  <a:off x="4124272" y="3760718"/>
                  <a:ext cx="705394" cy="705394"/>
                </a:xfrm>
                <a:prstGeom prst="ellips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308F2528-BD36-2D95-ACA4-25F725A471E8}"/>
                    </a:ext>
                  </a:extLst>
                </p:cNvPr>
                <p:cNvSpPr/>
                <p:nvPr/>
              </p:nvSpPr>
              <p:spPr>
                <a:xfrm>
                  <a:off x="4124272" y="5129768"/>
                  <a:ext cx="705394" cy="705394"/>
                </a:xfrm>
                <a:prstGeom prst="ellips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/>
                </a:p>
              </p:txBody>
            </p:sp>
          </p:grp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16F70758-521A-FDB1-11C7-8BD6945CF02F}"/>
                  </a:ext>
                </a:extLst>
              </p:cNvPr>
              <p:cNvCxnSpPr>
                <a:stCxn id="6" idx="0"/>
                <a:endCxn id="6" idx="4"/>
              </p:cNvCxnSpPr>
              <p:nvPr/>
            </p:nvCxnSpPr>
            <p:spPr>
              <a:xfrm>
                <a:off x="4178585" y="1138342"/>
                <a:ext cx="0" cy="705394"/>
              </a:xfrm>
              <a:prstGeom prst="line">
                <a:avLst/>
              </a:prstGeom>
              <a:ln w="19050" cap="flat" cmpd="sng" algn="ctr">
                <a:solidFill>
                  <a:srgbClr val="7030A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FE3AD1A5-0FE7-BE73-D5BC-C66DE4765549}"/>
                  </a:ext>
                </a:extLst>
              </p:cNvPr>
              <p:cNvCxnSpPr>
                <a:cxnSpLocks/>
                <a:stCxn id="7" idx="0"/>
                <a:endCxn id="7" idx="4"/>
              </p:cNvCxnSpPr>
              <p:nvPr/>
            </p:nvCxnSpPr>
            <p:spPr>
              <a:xfrm>
                <a:off x="4178585" y="2507172"/>
                <a:ext cx="0" cy="705394"/>
              </a:xfrm>
              <a:prstGeom prst="line">
                <a:avLst/>
              </a:prstGeom>
              <a:ln w="19050" cap="flat" cmpd="sng" algn="ctr">
                <a:solidFill>
                  <a:srgbClr val="7030A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2DEB1A0-1294-1373-EC48-324EFEE762DB}"/>
                  </a:ext>
                </a:extLst>
              </p:cNvPr>
              <p:cNvCxnSpPr>
                <a:cxnSpLocks/>
                <a:stCxn id="8" idx="0"/>
                <a:endCxn id="8" idx="4"/>
              </p:cNvCxnSpPr>
              <p:nvPr/>
            </p:nvCxnSpPr>
            <p:spPr>
              <a:xfrm>
                <a:off x="4178585" y="3876222"/>
                <a:ext cx="0" cy="705394"/>
              </a:xfrm>
              <a:prstGeom prst="line">
                <a:avLst/>
              </a:prstGeom>
              <a:ln w="19050" cap="flat" cmpd="sng" algn="ctr">
                <a:solidFill>
                  <a:srgbClr val="7030A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64676FC-C6CD-C1D3-73A3-CFB106141C3B}"/>
                </a:ext>
              </a:extLst>
            </p:cNvPr>
            <p:cNvCxnSpPr>
              <a:cxnSpLocks/>
              <a:stCxn id="9" idx="0"/>
              <a:endCxn id="9" idx="4"/>
            </p:cNvCxnSpPr>
            <p:nvPr/>
          </p:nvCxnSpPr>
          <p:spPr>
            <a:xfrm>
              <a:off x="4178585" y="5245272"/>
              <a:ext cx="0" cy="705394"/>
            </a:xfrm>
            <a:prstGeom prst="line">
              <a:avLst/>
            </a:prstGeom>
            <a:ln w="19050" cap="flat" cmpd="sng" algn="ctr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B39B995-433A-5F6C-FA2C-DABD5AA498C3}"/>
              </a:ext>
            </a:extLst>
          </p:cNvPr>
          <p:cNvGrpSpPr/>
          <p:nvPr/>
        </p:nvGrpSpPr>
        <p:grpSpPr>
          <a:xfrm>
            <a:off x="1017640" y="1880135"/>
            <a:ext cx="529046" cy="1556486"/>
            <a:chOff x="2021305" y="2111600"/>
            <a:chExt cx="705394" cy="2075314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3C908437-912B-E0BD-5342-C0EAD1BC9F82}"/>
                </a:ext>
              </a:extLst>
            </p:cNvPr>
            <p:cNvSpPr/>
            <p:nvPr/>
          </p:nvSpPr>
          <p:spPr>
            <a:xfrm>
              <a:off x="2021305" y="2111600"/>
              <a:ext cx="705394" cy="705394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69AEA1A-8A76-11D6-4AFD-36AAB3B15A18}"/>
                </a:ext>
              </a:extLst>
            </p:cNvPr>
            <p:cNvSpPr/>
            <p:nvPr/>
          </p:nvSpPr>
          <p:spPr>
            <a:xfrm>
              <a:off x="2021305" y="3481520"/>
              <a:ext cx="705394" cy="705394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83A768-D7BF-4A10-DE8E-59A8C3296273}"/>
              </a:ext>
            </a:extLst>
          </p:cNvPr>
          <p:cNvGrpSpPr/>
          <p:nvPr/>
        </p:nvGrpSpPr>
        <p:grpSpPr>
          <a:xfrm>
            <a:off x="6100354" y="1366645"/>
            <a:ext cx="529046" cy="2582621"/>
            <a:chOff x="5497281" y="2497546"/>
            <a:chExt cx="705394" cy="344349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20DACD4-06DD-1FC9-389A-AEBA57645CF2}"/>
                </a:ext>
              </a:extLst>
            </p:cNvPr>
            <p:cNvSpPr/>
            <p:nvPr/>
          </p:nvSpPr>
          <p:spPr>
            <a:xfrm>
              <a:off x="5497281" y="2497546"/>
              <a:ext cx="705394" cy="705394"/>
            </a:xfrm>
            <a:prstGeom prst="ellips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7762C06-0ECE-D6F8-C4B8-44F20D49DB03}"/>
                </a:ext>
              </a:extLst>
            </p:cNvPr>
            <p:cNvSpPr/>
            <p:nvPr/>
          </p:nvSpPr>
          <p:spPr>
            <a:xfrm>
              <a:off x="5497281" y="3866596"/>
              <a:ext cx="705394" cy="705394"/>
            </a:xfrm>
            <a:prstGeom prst="ellips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2CC20EF-6612-A91C-83ED-6677F1507A8F}"/>
                </a:ext>
              </a:extLst>
            </p:cNvPr>
            <p:cNvSpPr/>
            <p:nvPr/>
          </p:nvSpPr>
          <p:spPr>
            <a:xfrm>
              <a:off x="5497281" y="5235646"/>
              <a:ext cx="705394" cy="705394"/>
            </a:xfrm>
            <a:prstGeom prst="ellips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E1F1D0C6-DADC-CDE1-993A-6B6A36CC21FF}"/>
              </a:ext>
            </a:extLst>
          </p:cNvPr>
          <p:cNvSpPr/>
          <p:nvPr/>
        </p:nvSpPr>
        <p:spPr>
          <a:xfrm>
            <a:off x="7546552" y="2394893"/>
            <a:ext cx="529046" cy="529046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97C2FE1-0688-0CDC-5DB0-5221D8DC92BA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>
          <a:xfrm flipV="1">
            <a:off x="1546686" y="1118280"/>
            <a:ext cx="1206771" cy="10263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093847A-89DF-31D1-F5E3-4B2F7427059A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1544801" y="2144415"/>
            <a:ext cx="1208656" cy="4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F131B79-6AFB-F0AF-468C-0E9ECA941430}"/>
              </a:ext>
            </a:extLst>
          </p:cNvPr>
          <p:cNvSpPr txBox="1"/>
          <p:nvPr/>
        </p:nvSpPr>
        <p:spPr>
          <a:xfrm>
            <a:off x="1932550" y="1361025"/>
            <a:ext cx="2920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222444-4C1D-38AD-BC24-C85F6EA04CAA}"/>
              </a:ext>
            </a:extLst>
          </p:cNvPr>
          <p:cNvSpPr txBox="1"/>
          <p:nvPr/>
        </p:nvSpPr>
        <p:spPr>
          <a:xfrm>
            <a:off x="2787584" y="955542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5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D48175-87A0-0D5D-A966-1E279BFF3CCA}"/>
              </a:ext>
            </a:extLst>
          </p:cNvPr>
          <p:cNvSpPr txBox="1"/>
          <p:nvPr/>
        </p:nvSpPr>
        <p:spPr>
          <a:xfrm>
            <a:off x="3042971" y="954280"/>
            <a:ext cx="38095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350" dirty="0"/>
              <a:t>16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218B06C-D38D-3CE1-7AF0-C49DD6D795DB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 flipV="1">
            <a:off x="1546686" y="1118280"/>
            <a:ext cx="1206771" cy="205381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412510B-D115-07C2-B986-8C9E758F47E7}"/>
              </a:ext>
            </a:extLst>
          </p:cNvPr>
          <p:cNvSpPr txBox="1"/>
          <p:nvPr/>
        </p:nvSpPr>
        <p:spPr>
          <a:xfrm>
            <a:off x="2284716" y="1746027"/>
            <a:ext cx="2920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9C9165-5F2C-0B9D-B3FF-A35C1890570B}"/>
              </a:ext>
            </a:extLst>
          </p:cNvPr>
          <p:cNvSpPr txBox="1"/>
          <p:nvPr/>
        </p:nvSpPr>
        <p:spPr>
          <a:xfrm>
            <a:off x="1156418" y="1994373"/>
            <a:ext cx="2920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61A204-E763-750B-87D8-FC29E3DB6C44}"/>
              </a:ext>
            </a:extLst>
          </p:cNvPr>
          <p:cNvSpPr txBox="1"/>
          <p:nvPr/>
        </p:nvSpPr>
        <p:spPr>
          <a:xfrm>
            <a:off x="1163858" y="3020996"/>
            <a:ext cx="2920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A1D00C-6EEE-7A7F-7B87-AC2DCFD789DA}"/>
              </a:ext>
            </a:extLst>
          </p:cNvPr>
          <p:cNvSpPr txBox="1"/>
          <p:nvPr/>
        </p:nvSpPr>
        <p:spPr>
          <a:xfrm>
            <a:off x="1816713" y="1867124"/>
            <a:ext cx="4523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1.5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D02E703-33F5-D25C-3808-7987F26E9B61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 flipV="1">
            <a:off x="1546686" y="2144903"/>
            <a:ext cx="1206771" cy="102719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C79B832-671A-2448-6B72-0ED2E85AF7D5}"/>
              </a:ext>
            </a:extLst>
          </p:cNvPr>
          <p:cNvSpPr txBox="1"/>
          <p:nvPr/>
        </p:nvSpPr>
        <p:spPr>
          <a:xfrm>
            <a:off x="2259260" y="2446185"/>
            <a:ext cx="5164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-2.7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300043-B37B-60BD-E1CE-8372D3FAD1F4}"/>
              </a:ext>
            </a:extLst>
          </p:cNvPr>
          <p:cNvSpPr txBox="1"/>
          <p:nvPr/>
        </p:nvSpPr>
        <p:spPr>
          <a:xfrm>
            <a:off x="2715449" y="2006061"/>
            <a:ext cx="4251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50" dirty="0"/>
              <a:t>1.1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3C51F7-B815-B060-D261-18DCBEC8367D}"/>
              </a:ext>
            </a:extLst>
          </p:cNvPr>
          <p:cNvSpPr txBox="1"/>
          <p:nvPr/>
        </p:nvSpPr>
        <p:spPr>
          <a:xfrm>
            <a:off x="3020169" y="2003619"/>
            <a:ext cx="4251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50" dirty="0"/>
              <a:t>4.4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CB5F2BF-BF67-5A42-6DF5-FC8C6C177020}"/>
              </a:ext>
            </a:extLst>
          </p:cNvPr>
          <p:cNvCxnSpPr>
            <a:cxnSpLocks/>
            <a:stCxn id="2" idx="6"/>
            <a:endCxn id="8" idx="2"/>
          </p:cNvCxnSpPr>
          <p:nvPr/>
        </p:nvCxnSpPr>
        <p:spPr>
          <a:xfrm>
            <a:off x="1546686" y="2144658"/>
            <a:ext cx="1206771" cy="102703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51259A9-AAAE-22E5-40CC-23318CD708BD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 flipV="1">
            <a:off x="1546686" y="3171690"/>
            <a:ext cx="1206771" cy="40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D7C39FFA-AFC1-FA48-7143-EC1646FC5327}"/>
              </a:ext>
            </a:extLst>
          </p:cNvPr>
          <p:cNvSpPr txBox="1"/>
          <p:nvPr/>
        </p:nvSpPr>
        <p:spPr>
          <a:xfrm>
            <a:off x="2057151" y="2837992"/>
            <a:ext cx="5164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-1.3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E074B90-A39F-38CE-2466-178E223FAE33}"/>
              </a:ext>
            </a:extLst>
          </p:cNvPr>
          <p:cNvSpPr txBox="1"/>
          <p:nvPr/>
        </p:nvSpPr>
        <p:spPr>
          <a:xfrm>
            <a:off x="1848771" y="3113212"/>
            <a:ext cx="2920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0F20188-BE5A-C67D-0591-CC4A4480D41B}"/>
              </a:ext>
            </a:extLst>
          </p:cNvPr>
          <p:cNvSpPr txBox="1"/>
          <p:nvPr/>
        </p:nvSpPr>
        <p:spPr>
          <a:xfrm>
            <a:off x="2808836" y="3026145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5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C430473-EB60-AFD9-65C6-266C66CF8A25}"/>
              </a:ext>
            </a:extLst>
          </p:cNvPr>
          <p:cNvSpPr txBox="1"/>
          <p:nvPr/>
        </p:nvSpPr>
        <p:spPr>
          <a:xfrm>
            <a:off x="3032137" y="3018479"/>
            <a:ext cx="4251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50" dirty="0"/>
              <a:t>0.8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B844020-3C92-DE0F-9C2D-49510A19B13D}"/>
              </a:ext>
            </a:extLst>
          </p:cNvPr>
          <p:cNvCxnSpPr>
            <a:cxnSpLocks/>
            <a:stCxn id="2" idx="6"/>
            <a:endCxn id="9" idx="2"/>
          </p:cNvCxnSpPr>
          <p:nvPr/>
        </p:nvCxnSpPr>
        <p:spPr>
          <a:xfrm>
            <a:off x="1546686" y="2144658"/>
            <a:ext cx="1206771" cy="20538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8FFF555-72EA-460D-B98B-85FFF88BE990}"/>
              </a:ext>
            </a:extLst>
          </p:cNvPr>
          <p:cNvCxnSpPr>
            <a:cxnSpLocks/>
            <a:stCxn id="3" idx="6"/>
            <a:endCxn id="9" idx="2"/>
          </p:cNvCxnSpPr>
          <p:nvPr/>
        </p:nvCxnSpPr>
        <p:spPr>
          <a:xfrm>
            <a:off x="1546686" y="3172098"/>
            <a:ext cx="1206771" cy="102638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6AEC942F-D2C7-D286-83AA-09AC232FFCA2}"/>
              </a:ext>
            </a:extLst>
          </p:cNvPr>
          <p:cNvSpPr txBox="1"/>
          <p:nvPr/>
        </p:nvSpPr>
        <p:spPr>
          <a:xfrm>
            <a:off x="2380922" y="3467448"/>
            <a:ext cx="2920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43AA216-F11D-87E6-8964-5076268C2C09}"/>
              </a:ext>
            </a:extLst>
          </p:cNvPr>
          <p:cNvSpPr txBox="1"/>
          <p:nvPr/>
        </p:nvSpPr>
        <p:spPr>
          <a:xfrm>
            <a:off x="1783968" y="3711597"/>
            <a:ext cx="5164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-3.5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B143FDD-97E6-CF56-5562-718A53A80C51}"/>
              </a:ext>
            </a:extLst>
          </p:cNvPr>
          <p:cNvSpPr txBox="1"/>
          <p:nvPr/>
        </p:nvSpPr>
        <p:spPr>
          <a:xfrm>
            <a:off x="2713559" y="4055197"/>
            <a:ext cx="4251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50" dirty="0"/>
              <a:t>4.2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E7AD884-F3DD-7F77-DF46-B927B505FAFA}"/>
              </a:ext>
            </a:extLst>
          </p:cNvPr>
          <p:cNvSpPr txBox="1"/>
          <p:nvPr/>
        </p:nvSpPr>
        <p:spPr>
          <a:xfrm>
            <a:off x="3020169" y="4049658"/>
            <a:ext cx="4251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50" dirty="0"/>
              <a:t>4.7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33F5679-72ED-FE46-4632-B5C62DE1680F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3398462" y="1118280"/>
            <a:ext cx="1029081" cy="5306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7F367D4-C9ED-E6CB-FAA7-D90A7F58FF42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3398462" y="1647325"/>
            <a:ext cx="1024780" cy="4975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B029DF03-AABD-5058-F7D3-676D1045CACC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 flipV="1">
            <a:off x="3398462" y="1647325"/>
            <a:ext cx="1024780" cy="152436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347A7DD-C7AF-5348-1164-609D7429550B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 flipV="1">
            <a:off x="3398462" y="1647325"/>
            <a:ext cx="1024780" cy="255115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B0073B89-4B44-EC84-A435-93390E10E34B}"/>
              </a:ext>
            </a:extLst>
          </p:cNvPr>
          <p:cNvSpPr txBox="1"/>
          <p:nvPr/>
        </p:nvSpPr>
        <p:spPr>
          <a:xfrm>
            <a:off x="3817065" y="1094042"/>
            <a:ext cx="3561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-1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23DA7F5-8C55-D568-270E-1CA2AACA8D1D}"/>
              </a:ext>
            </a:extLst>
          </p:cNvPr>
          <p:cNvSpPr txBox="1"/>
          <p:nvPr/>
        </p:nvSpPr>
        <p:spPr>
          <a:xfrm>
            <a:off x="3503006" y="1666728"/>
            <a:ext cx="4523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2.3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8D58F1C-2548-6BA9-AD9C-724CE965F6FE}"/>
              </a:ext>
            </a:extLst>
          </p:cNvPr>
          <p:cNvSpPr txBox="1"/>
          <p:nvPr/>
        </p:nvSpPr>
        <p:spPr>
          <a:xfrm>
            <a:off x="3437118" y="2466187"/>
            <a:ext cx="2920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5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259F8A1-9400-738E-9623-0157CCF0267C}"/>
              </a:ext>
            </a:extLst>
          </p:cNvPr>
          <p:cNvSpPr txBox="1"/>
          <p:nvPr/>
        </p:nvSpPr>
        <p:spPr>
          <a:xfrm>
            <a:off x="3747186" y="3233996"/>
            <a:ext cx="5164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500" dirty="0"/>
              <a:t>-5.2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CEB2F83-EDC9-FCDA-D233-12AEC50F0BFB}"/>
              </a:ext>
            </a:extLst>
          </p:cNvPr>
          <p:cNvGrpSpPr/>
          <p:nvPr/>
        </p:nvGrpSpPr>
        <p:grpSpPr>
          <a:xfrm>
            <a:off x="4423242" y="1382802"/>
            <a:ext cx="1076421" cy="2582621"/>
            <a:chOff x="5897657" y="1843736"/>
            <a:chExt cx="705394" cy="344349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514DB06-5C1B-7D20-CBFE-BD695470E3C8}"/>
                </a:ext>
              </a:extLst>
            </p:cNvPr>
            <p:cNvGrpSpPr/>
            <p:nvPr/>
          </p:nvGrpSpPr>
          <p:grpSpPr>
            <a:xfrm>
              <a:off x="5897657" y="1843736"/>
              <a:ext cx="705394" cy="3443494"/>
              <a:chOff x="5497281" y="2497546"/>
              <a:chExt cx="705394" cy="3443494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4781AA6-E614-2D7C-6879-0920A26A4703}"/>
                  </a:ext>
                </a:extLst>
              </p:cNvPr>
              <p:cNvSpPr/>
              <p:nvPr/>
            </p:nvSpPr>
            <p:spPr>
              <a:xfrm>
                <a:off x="5497281" y="2497546"/>
                <a:ext cx="705394" cy="705394"/>
              </a:xfrm>
              <a:prstGeom prst="ellipse">
                <a:avLst/>
              </a:prstGeom>
              <a:ln>
                <a:solidFill>
                  <a:srgbClr val="7030A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_tradnl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7737A72-E283-2D43-D9AC-5865334CC980}"/>
                  </a:ext>
                </a:extLst>
              </p:cNvPr>
              <p:cNvSpPr/>
              <p:nvPr/>
            </p:nvSpPr>
            <p:spPr>
              <a:xfrm>
                <a:off x="5497281" y="3866596"/>
                <a:ext cx="705394" cy="705394"/>
              </a:xfrm>
              <a:prstGeom prst="ellipse">
                <a:avLst/>
              </a:prstGeom>
              <a:ln>
                <a:solidFill>
                  <a:srgbClr val="7030A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_tradnl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811D12D-BB84-2ABB-4729-D8D794247F0B}"/>
                  </a:ext>
                </a:extLst>
              </p:cNvPr>
              <p:cNvSpPr/>
              <p:nvPr/>
            </p:nvSpPr>
            <p:spPr>
              <a:xfrm>
                <a:off x="5497281" y="5235646"/>
                <a:ext cx="705394" cy="705394"/>
              </a:xfrm>
              <a:prstGeom prst="ellipse">
                <a:avLst/>
              </a:prstGeom>
              <a:ln>
                <a:solidFill>
                  <a:srgbClr val="7030A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_tradnl" dirty="0"/>
              </a:p>
            </p:txBody>
          </p:sp>
        </p:grp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8CC1D745-695F-DF86-DD58-61A7909FD501}"/>
                </a:ext>
              </a:extLst>
            </p:cNvPr>
            <p:cNvCxnSpPr>
              <a:cxnSpLocks/>
              <a:stCxn id="10" idx="0"/>
              <a:endCxn id="10" idx="4"/>
            </p:cNvCxnSpPr>
            <p:nvPr/>
          </p:nvCxnSpPr>
          <p:spPr>
            <a:xfrm>
              <a:off x="6250354" y="1843736"/>
              <a:ext cx="0" cy="705394"/>
            </a:xfrm>
            <a:prstGeom prst="line">
              <a:avLst/>
            </a:prstGeom>
            <a:ln w="19050" cap="flat" cmpd="sng" algn="ctr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28834CFB-6153-DE58-468A-B867CF52D9A9}"/>
              </a:ext>
            </a:extLst>
          </p:cNvPr>
          <p:cNvSpPr txBox="1"/>
          <p:nvPr/>
        </p:nvSpPr>
        <p:spPr>
          <a:xfrm>
            <a:off x="4580066" y="1497284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50" dirty="0"/>
              <a:t>2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A28C9E0-7100-2FA6-218C-9146B19FEFD0}"/>
              </a:ext>
            </a:extLst>
          </p:cNvPr>
          <p:cNvSpPr txBox="1"/>
          <p:nvPr/>
        </p:nvSpPr>
        <p:spPr>
          <a:xfrm>
            <a:off x="4869287" y="1504585"/>
            <a:ext cx="69285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350" dirty="0"/>
              <a:t>-24.32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75F9D92-3AA4-C2DC-DD55-E3A82296C2EC}"/>
              </a:ext>
            </a:extLst>
          </p:cNvPr>
          <p:cNvSpPr txBox="1"/>
          <p:nvPr/>
        </p:nvSpPr>
        <p:spPr>
          <a:xfrm>
            <a:off x="7674499" y="2421997"/>
            <a:ext cx="31931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100" dirty="0"/>
              <a:t>y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35435EC-66E3-EFE9-3371-00B475251312}"/>
              </a:ext>
            </a:extLst>
          </p:cNvPr>
          <p:cNvCxnSpPr>
            <a:cxnSpLocks/>
            <a:stCxn id="11" idx="0"/>
            <a:endCxn id="11" idx="4"/>
          </p:cNvCxnSpPr>
          <p:nvPr/>
        </p:nvCxnSpPr>
        <p:spPr>
          <a:xfrm>
            <a:off x="4961453" y="2409590"/>
            <a:ext cx="0" cy="529046"/>
          </a:xfrm>
          <a:prstGeom prst="line">
            <a:avLst/>
          </a:prstGeom>
          <a:ln w="1905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053F35B-CBF3-340A-0EBD-6066F19DE8DF}"/>
              </a:ext>
            </a:extLst>
          </p:cNvPr>
          <p:cNvCxnSpPr>
            <a:cxnSpLocks/>
            <a:stCxn id="12" idx="0"/>
            <a:endCxn id="12" idx="4"/>
          </p:cNvCxnSpPr>
          <p:nvPr/>
        </p:nvCxnSpPr>
        <p:spPr>
          <a:xfrm>
            <a:off x="4961453" y="3436377"/>
            <a:ext cx="0" cy="529046"/>
          </a:xfrm>
          <a:prstGeom prst="line">
            <a:avLst/>
          </a:prstGeom>
          <a:ln w="1905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BAC6D7C-2AE1-498C-319A-D8C874A4E8EF}"/>
              </a:ext>
            </a:extLst>
          </p:cNvPr>
          <p:cNvCxnSpPr>
            <a:cxnSpLocks/>
            <a:stCxn id="16" idx="0"/>
            <a:endCxn id="16" idx="4"/>
          </p:cNvCxnSpPr>
          <p:nvPr/>
        </p:nvCxnSpPr>
        <p:spPr>
          <a:xfrm>
            <a:off x="6364877" y="1366645"/>
            <a:ext cx="0" cy="529046"/>
          </a:xfrm>
          <a:prstGeom prst="line">
            <a:avLst/>
          </a:prstGeom>
          <a:ln w="1905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4BE91D9-233B-1302-4DF8-18065D0D0363}"/>
              </a:ext>
            </a:extLst>
          </p:cNvPr>
          <p:cNvCxnSpPr>
            <a:cxnSpLocks/>
            <a:stCxn id="17" idx="0"/>
            <a:endCxn id="17" idx="4"/>
          </p:cNvCxnSpPr>
          <p:nvPr/>
        </p:nvCxnSpPr>
        <p:spPr>
          <a:xfrm>
            <a:off x="6364877" y="2393433"/>
            <a:ext cx="0" cy="529046"/>
          </a:xfrm>
          <a:prstGeom prst="line">
            <a:avLst/>
          </a:prstGeom>
          <a:ln w="1905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60217A1-61D9-DFEA-9B80-2AA1DE65AA2A}"/>
              </a:ext>
            </a:extLst>
          </p:cNvPr>
          <p:cNvCxnSpPr>
            <a:cxnSpLocks/>
            <a:stCxn id="18" idx="0"/>
            <a:endCxn id="18" idx="4"/>
          </p:cNvCxnSpPr>
          <p:nvPr/>
        </p:nvCxnSpPr>
        <p:spPr>
          <a:xfrm>
            <a:off x="6364877" y="3420220"/>
            <a:ext cx="0" cy="529046"/>
          </a:xfrm>
          <a:prstGeom prst="line">
            <a:avLst/>
          </a:prstGeom>
          <a:ln w="1905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E1AFE0FC-88EE-94CC-7C17-AF8AC8264732}"/>
              </a:ext>
            </a:extLst>
          </p:cNvPr>
          <p:cNvCxnSpPr>
            <a:cxnSpLocks/>
            <a:stCxn id="6" idx="5"/>
            <a:endCxn id="11" idx="2"/>
          </p:cNvCxnSpPr>
          <p:nvPr/>
        </p:nvCxnSpPr>
        <p:spPr>
          <a:xfrm>
            <a:off x="3304003" y="1305326"/>
            <a:ext cx="1119239" cy="13687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B36038BD-0354-6F05-B8FB-550A2D1F11E5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3398462" y="2190751"/>
            <a:ext cx="1024780" cy="48336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5F4D281D-CAA0-D6CE-9869-B9CEB4C51FAB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3398462" y="2674113"/>
            <a:ext cx="1024780" cy="55988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D9DFD44-FB6F-967A-50FA-96E6EF8196C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3398462" y="2674113"/>
            <a:ext cx="1024780" cy="14660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3B7995A3-DD03-1321-E953-9856083C276F}"/>
              </a:ext>
            </a:extLst>
          </p:cNvPr>
          <p:cNvCxnSpPr>
            <a:cxnSpLocks/>
            <a:stCxn id="10" idx="6"/>
            <a:endCxn id="16" idx="2"/>
          </p:cNvCxnSpPr>
          <p:nvPr/>
        </p:nvCxnSpPr>
        <p:spPr>
          <a:xfrm flipV="1">
            <a:off x="5499663" y="1631168"/>
            <a:ext cx="600691" cy="1615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0212013-E1FB-69EC-BBF4-5CF77B95010C}"/>
              </a:ext>
            </a:extLst>
          </p:cNvPr>
          <p:cNvCxnSpPr>
            <a:cxnSpLocks/>
            <a:stCxn id="11" idx="6"/>
            <a:endCxn id="16" idx="2"/>
          </p:cNvCxnSpPr>
          <p:nvPr/>
        </p:nvCxnSpPr>
        <p:spPr>
          <a:xfrm flipV="1">
            <a:off x="5499663" y="1631168"/>
            <a:ext cx="600691" cy="104294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64F0E02A-1E49-232D-BBFE-6EFF67E3692A}"/>
              </a:ext>
            </a:extLst>
          </p:cNvPr>
          <p:cNvCxnSpPr>
            <a:cxnSpLocks/>
            <a:stCxn id="12" idx="7"/>
            <a:endCxn id="16" idx="2"/>
          </p:cNvCxnSpPr>
          <p:nvPr/>
        </p:nvCxnSpPr>
        <p:spPr>
          <a:xfrm flipV="1">
            <a:off x="5342025" y="1631168"/>
            <a:ext cx="758329" cy="188268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54394808-7F9F-8853-116B-A9B9D56676C3}"/>
              </a:ext>
            </a:extLst>
          </p:cNvPr>
          <p:cNvCxnSpPr>
            <a:cxnSpLocks/>
            <a:stCxn id="10" idx="5"/>
            <a:endCxn id="17" idx="2"/>
          </p:cNvCxnSpPr>
          <p:nvPr/>
        </p:nvCxnSpPr>
        <p:spPr>
          <a:xfrm>
            <a:off x="5342025" y="1834371"/>
            <a:ext cx="758329" cy="8235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11C8A4E-F2BB-DC20-7F0D-714BF24209FC}"/>
              </a:ext>
            </a:extLst>
          </p:cNvPr>
          <p:cNvCxnSpPr>
            <a:cxnSpLocks/>
            <a:stCxn id="11" idx="6"/>
            <a:endCxn id="17" idx="2"/>
          </p:cNvCxnSpPr>
          <p:nvPr/>
        </p:nvCxnSpPr>
        <p:spPr>
          <a:xfrm flipV="1">
            <a:off x="5499663" y="2657956"/>
            <a:ext cx="600691" cy="1615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DF454B35-4CE7-53DA-1343-BA90432F4AEB}"/>
              </a:ext>
            </a:extLst>
          </p:cNvPr>
          <p:cNvCxnSpPr>
            <a:cxnSpLocks/>
            <a:stCxn id="12" idx="7"/>
            <a:endCxn id="17" idx="2"/>
          </p:cNvCxnSpPr>
          <p:nvPr/>
        </p:nvCxnSpPr>
        <p:spPr>
          <a:xfrm flipV="1">
            <a:off x="5342025" y="2657956"/>
            <a:ext cx="758329" cy="85589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0B6204F9-BE9B-6CCE-2A3C-44BF6E8C4C3D}"/>
              </a:ext>
            </a:extLst>
          </p:cNvPr>
          <p:cNvCxnSpPr>
            <a:cxnSpLocks/>
            <a:stCxn id="10" idx="5"/>
            <a:endCxn id="18" idx="2"/>
          </p:cNvCxnSpPr>
          <p:nvPr/>
        </p:nvCxnSpPr>
        <p:spPr>
          <a:xfrm>
            <a:off x="5342025" y="1834371"/>
            <a:ext cx="758329" cy="185037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7F734BA9-BE33-5F99-0DD3-16C20B4A9B7F}"/>
              </a:ext>
            </a:extLst>
          </p:cNvPr>
          <p:cNvCxnSpPr>
            <a:cxnSpLocks/>
            <a:stCxn id="11" idx="6"/>
            <a:endCxn id="18" idx="2"/>
          </p:cNvCxnSpPr>
          <p:nvPr/>
        </p:nvCxnSpPr>
        <p:spPr>
          <a:xfrm>
            <a:off x="5499663" y="2674113"/>
            <a:ext cx="600691" cy="101063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150DA997-FFFC-D351-363E-D3F57D7CFCB7}"/>
              </a:ext>
            </a:extLst>
          </p:cNvPr>
          <p:cNvCxnSpPr>
            <a:cxnSpLocks/>
            <a:stCxn id="12" idx="6"/>
            <a:endCxn id="18" idx="2"/>
          </p:cNvCxnSpPr>
          <p:nvPr/>
        </p:nvCxnSpPr>
        <p:spPr>
          <a:xfrm flipV="1">
            <a:off x="5499663" y="3684743"/>
            <a:ext cx="600691" cy="1615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6002D6B0-2493-70A2-E9D7-D6BDAB34D67A}"/>
              </a:ext>
            </a:extLst>
          </p:cNvPr>
          <p:cNvCxnSpPr>
            <a:cxnSpLocks/>
            <a:stCxn id="16" idx="6"/>
            <a:endCxn id="19" idx="2"/>
          </p:cNvCxnSpPr>
          <p:nvPr/>
        </p:nvCxnSpPr>
        <p:spPr>
          <a:xfrm>
            <a:off x="6629400" y="1631168"/>
            <a:ext cx="917152" cy="10282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2C2D77B1-77A2-34F0-545B-7788FCAE87F6}"/>
              </a:ext>
            </a:extLst>
          </p:cNvPr>
          <p:cNvCxnSpPr>
            <a:cxnSpLocks/>
            <a:stCxn id="17" idx="6"/>
            <a:endCxn id="19" idx="2"/>
          </p:cNvCxnSpPr>
          <p:nvPr/>
        </p:nvCxnSpPr>
        <p:spPr>
          <a:xfrm>
            <a:off x="6629400" y="2657956"/>
            <a:ext cx="917152" cy="14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01B2002B-38E1-DDFB-7EEA-11C3B11BB836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>
          <a:xfrm flipV="1">
            <a:off x="6629400" y="2659416"/>
            <a:ext cx="917152" cy="10253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02825750-FA9B-9962-6627-4D9C0E432E0E}"/>
              </a:ext>
            </a:extLst>
          </p:cNvPr>
          <p:cNvCxnSpPr>
            <a:cxnSpLocks/>
            <a:stCxn id="12" idx="2"/>
            <a:endCxn id="6" idx="5"/>
          </p:cNvCxnSpPr>
          <p:nvPr/>
        </p:nvCxnSpPr>
        <p:spPr>
          <a:xfrm flipH="1" flipV="1">
            <a:off x="3304003" y="1305326"/>
            <a:ext cx="1119239" cy="239557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0757B2EA-325D-E4D5-FC6C-8693E7BB65E8}"/>
              </a:ext>
            </a:extLst>
          </p:cNvPr>
          <p:cNvCxnSpPr>
            <a:cxnSpLocks/>
            <a:stCxn id="12" idx="2"/>
          </p:cNvCxnSpPr>
          <p:nvPr/>
        </p:nvCxnSpPr>
        <p:spPr>
          <a:xfrm flipH="1" flipV="1">
            <a:off x="3375033" y="2198900"/>
            <a:ext cx="1048209" cy="150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31BCAD6F-8101-F740-D901-A5B2505B4F4E}"/>
              </a:ext>
            </a:extLst>
          </p:cNvPr>
          <p:cNvCxnSpPr>
            <a:cxnSpLocks/>
            <a:stCxn id="12" idx="2"/>
          </p:cNvCxnSpPr>
          <p:nvPr/>
        </p:nvCxnSpPr>
        <p:spPr>
          <a:xfrm flipH="1" flipV="1">
            <a:off x="3399346" y="3233996"/>
            <a:ext cx="1023896" cy="46690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2F652942-F454-0C78-75A9-9B99539489A0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3387670" y="3700900"/>
            <a:ext cx="1035572" cy="453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50FF707A-EF32-7875-967E-703A55A5E623}"/>
              </a:ext>
            </a:extLst>
          </p:cNvPr>
          <p:cNvSpPr txBox="1"/>
          <p:nvPr/>
        </p:nvSpPr>
        <p:spPr>
          <a:xfrm>
            <a:off x="637045" y="770842"/>
            <a:ext cx="1326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accent1"/>
                </a:solidFill>
              </a:rPr>
              <a:t>Capa de entrada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B061138E-B9A8-4843-E6BD-CD2F8D9CC417}"/>
              </a:ext>
            </a:extLst>
          </p:cNvPr>
          <p:cNvSpPr txBox="1"/>
          <p:nvPr/>
        </p:nvSpPr>
        <p:spPr>
          <a:xfrm>
            <a:off x="4114515" y="725896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rgbClr val="7030A0"/>
                </a:solidFill>
              </a:rPr>
              <a:t>Capas ocultas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45A6AE8-052C-5CB5-58B3-5443B92ACE4B}"/>
              </a:ext>
            </a:extLst>
          </p:cNvPr>
          <p:cNvSpPr txBox="1"/>
          <p:nvPr/>
        </p:nvSpPr>
        <p:spPr>
          <a:xfrm>
            <a:off x="7239000" y="770842"/>
            <a:ext cx="1205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rgbClr val="00B050"/>
                </a:solidFill>
              </a:rPr>
              <a:t>Capa de salida</a:t>
            </a: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6547A268-0019-D6B6-082A-24B0C3BA752D}"/>
              </a:ext>
            </a:extLst>
          </p:cNvPr>
          <p:cNvSpPr txBox="1">
            <a:spLocks/>
          </p:cNvSpPr>
          <p:nvPr/>
        </p:nvSpPr>
        <p:spPr>
          <a:xfrm>
            <a:off x="78739" y="38012"/>
            <a:ext cx="5211445" cy="363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065" rIns="0" bIns="0" rtlCol="0" anchor="b" anchorCtr="0">
            <a:sp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5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l">
              <a:lnSpc>
                <a:spcPct val="100000"/>
              </a:lnSpc>
              <a:spcBef>
                <a:spcPts val="95"/>
              </a:spcBef>
            </a:pPr>
            <a:r>
              <a:rPr lang="es-PE" sz="2200" spc="-2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Feed</a:t>
            </a:r>
            <a:r>
              <a:rPr lang="es-PE" sz="2200" spc="-2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  <a:r>
              <a:rPr lang="es-PE" sz="2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Forward</a:t>
            </a:r>
            <a:r>
              <a:rPr lang="es-PE" sz="2200" spc="2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PE" sz="2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neural</a:t>
            </a:r>
            <a:r>
              <a:rPr lang="es-PE" sz="2200" spc="5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PE" sz="2200" spc="-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network</a:t>
            </a:r>
          </a:p>
        </p:txBody>
      </p:sp>
    </p:spTree>
    <p:extLst>
      <p:ext uri="{BB962C8B-B14F-4D97-AF65-F5344CB8AC3E}">
        <p14:creationId xmlns:p14="http://schemas.microsoft.com/office/powerpoint/2010/main" val="289468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7" grpId="0"/>
      <p:bldP spid="38" grpId="0"/>
      <p:bldP spid="39" grpId="0"/>
      <p:bldP spid="46" grpId="0"/>
      <p:bldP spid="47" grpId="0"/>
      <p:bldP spid="48" grpId="0"/>
      <p:bldP spid="49" grpId="0"/>
      <p:bldP spid="53" grpId="0"/>
      <p:bldP spid="57" grpId="0"/>
      <p:bldP spid="58" grpId="0"/>
      <p:bldP spid="74" grpId="0"/>
      <p:bldP spid="75" grpId="0"/>
      <p:bldP spid="76" grpId="0"/>
      <p:bldP spid="77" grpId="0"/>
      <p:bldP spid="84" grpId="0"/>
      <p:bldP spid="85" grpId="0"/>
      <p:bldP spid="86" grpId="0"/>
      <p:bldP spid="87" grpId="0"/>
      <p:bldP spid="117" grpId="0"/>
      <p:bldP spid="118" grpId="0"/>
      <p:bldP spid="119" grpId="0"/>
      <p:bldP spid="120" grpId="0"/>
      <p:bldP spid="124" grpId="0"/>
      <p:bldP spid="125" grpId="0"/>
      <p:bldP spid="1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" name="object 3"/>
          <p:cNvSpPr txBox="1"/>
          <p:nvPr/>
        </p:nvSpPr>
        <p:spPr>
          <a:xfrm>
            <a:off x="3311905" y="4977307"/>
            <a:ext cx="25196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5"/>
              </a:lnSpc>
            </a:pPr>
            <a:r>
              <a:rPr lang="es-PE" sz="800" noProof="0" dirty="0">
                <a:solidFill>
                  <a:srgbClr val="008000"/>
                </a:solidFill>
                <a:latin typeface="Calibri"/>
                <a:cs typeface="Calibri"/>
              </a:rPr>
              <a:t>Datos</a:t>
            </a:r>
            <a:r>
              <a:rPr lang="es-PE" sz="800" spc="-35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s-PE" sz="800" noProof="0" dirty="0">
                <a:solidFill>
                  <a:srgbClr val="008000"/>
                </a:solidFill>
                <a:latin typeface="Calibri"/>
                <a:cs typeface="Calibri"/>
              </a:rPr>
              <a:t>elaborados</a:t>
            </a:r>
            <a:r>
              <a:rPr lang="es-PE" sz="800" spc="-1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s-PE" sz="800" noProof="0" dirty="0">
                <a:solidFill>
                  <a:srgbClr val="008000"/>
                </a:solidFill>
                <a:latin typeface="Calibri"/>
                <a:cs typeface="Calibri"/>
              </a:rPr>
              <a:t>por</a:t>
            </a:r>
            <a:r>
              <a:rPr lang="es-PE" sz="800" spc="-3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s-PE" sz="800" noProof="0" dirty="0">
                <a:solidFill>
                  <a:srgbClr val="008000"/>
                </a:solidFill>
                <a:latin typeface="Calibri"/>
                <a:cs typeface="Calibri"/>
              </a:rPr>
              <a:t>BCP</a:t>
            </a:r>
            <a:r>
              <a:rPr lang="es-PE" sz="800" spc="-4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s-PE" sz="800" noProof="0" dirty="0">
                <a:solidFill>
                  <a:srgbClr val="008000"/>
                </a:solidFill>
                <a:latin typeface="Calibri"/>
                <a:cs typeface="Calibri"/>
              </a:rPr>
              <a:t>únicamente</a:t>
            </a:r>
            <a:r>
              <a:rPr lang="es-PE" sz="800" spc="-25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s-PE" sz="800" noProof="0" dirty="0">
                <a:solidFill>
                  <a:srgbClr val="008000"/>
                </a:solidFill>
                <a:latin typeface="Calibri"/>
                <a:cs typeface="Calibri"/>
              </a:rPr>
              <a:t>para</a:t>
            </a:r>
            <a:r>
              <a:rPr lang="es-PE" sz="800" spc="-3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s-PE" sz="800" noProof="0" dirty="0">
                <a:solidFill>
                  <a:srgbClr val="008000"/>
                </a:solidFill>
                <a:latin typeface="Calibri"/>
                <a:cs typeface="Calibri"/>
              </a:rPr>
              <a:t>fines</a:t>
            </a:r>
            <a:r>
              <a:rPr lang="es-PE" sz="800" spc="-1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s-PE" sz="800" noProof="0" dirty="0">
                <a:solidFill>
                  <a:srgbClr val="008000"/>
                </a:solidFill>
                <a:latin typeface="Calibri"/>
                <a:cs typeface="Calibri"/>
              </a:rPr>
              <a:t>del</a:t>
            </a:r>
            <a:r>
              <a:rPr lang="es-PE" sz="800" spc="-3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s-PE" sz="800" spc="-10" noProof="0" dirty="0">
                <a:solidFill>
                  <a:srgbClr val="008000"/>
                </a:solidFill>
                <a:latin typeface="Calibri"/>
                <a:cs typeface="Calibri"/>
              </a:rPr>
              <a:t>negocio</a:t>
            </a:r>
            <a:endParaRPr lang="es-PE" sz="800" noProof="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2921" y="1685925"/>
            <a:ext cx="9144000" cy="3457575"/>
            <a:chOff x="0" y="1686036"/>
            <a:chExt cx="9144000" cy="3457575"/>
          </a:xfrm>
        </p:grpSpPr>
        <p:sp>
          <p:nvSpPr>
            <p:cNvPr id="5" name="object 5"/>
            <p:cNvSpPr/>
            <p:nvPr/>
          </p:nvSpPr>
          <p:spPr>
            <a:xfrm>
              <a:off x="0" y="1794637"/>
              <a:ext cx="9144000" cy="3348990"/>
            </a:xfrm>
            <a:custGeom>
              <a:avLst/>
              <a:gdLst/>
              <a:ahLst/>
              <a:cxnLst/>
              <a:rect l="l" t="t" r="r" b="b"/>
              <a:pathLst>
                <a:path w="9144000" h="3348990">
                  <a:moveTo>
                    <a:pt x="0" y="3348862"/>
                  </a:moveTo>
                  <a:lnTo>
                    <a:pt x="9144000" y="334886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348862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686036"/>
              <a:ext cx="9144000" cy="1086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76567" y="3004438"/>
              <a:ext cx="1707514" cy="965200"/>
            </a:xfrm>
            <a:custGeom>
              <a:avLst/>
              <a:gdLst/>
              <a:ahLst/>
              <a:cxnLst/>
              <a:rect l="l" t="t" r="r" b="b"/>
              <a:pathLst>
                <a:path w="1707514" h="965200">
                  <a:moveTo>
                    <a:pt x="76136" y="887272"/>
                  </a:moveTo>
                  <a:lnTo>
                    <a:pt x="42811" y="888517"/>
                  </a:lnTo>
                  <a:lnTo>
                    <a:pt x="30683" y="562737"/>
                  </a:lnTo>
                  <a:lnTo>
                    <a:pt x="30670" y="562356"/>
                  </a:lnTo>
                  <a:lnTo>
                    <a:pt x="21145" y="562737"/>
                  </a:lnTo>
                  <a:lnTo>
                    <a:pt x="33248" y="887272"/>
                  </a:lnTo>
                  <a:lnTo>
                    <a:pt x="33299" y="888873"/>
                  </a:lnTo>
                  <a:lnTo>
                    <a:pt x="0" y="890104"/>
                  </a:lnTo>
                  <a:lnTo>
                    <a:pt x="40906" y="964831"/>
                  </a:lnTo>
                  <a:lnTo>
                    <a:pt x="69634" y="901560"/>
                  </a:lnTo>
                  <a:lnTo>
                    <a:pt x="76136" y="887272"/>
                  </a:lnTo>
                  <a:close/>
                </a:path>
                <a:path w="1707514" h="965200">
                  <a:moveTo>
                    <a:pt x="1707057" y="531368"/>
                  </a:moveTo>
                  <a:lnTo>
                    <a:pt x="1673809" y="531368"/>
                  </a:lnTo>
                  <a:lnTo>
                    <a:pt x="1672450" y="0"/>
                  </a:lnTo>
                  <a:lnTo>
                    <a:pt x="1662925" y="0"/>
                  </a:lnTo>
                  <a:lnTo>
                    <a:pt x="1664284" y="531368"/>
                  </a:lnTo>
                  <a:lnTo>
                    <a:pt x="1630921" y="531368"/>
                  </a:lnTo>
                  <a:lnTo>
                    <a:pt x="1669275" y="607568"/>
                  </a:lnTo>
                  <a:lnTo>
                    <a:pt x="1700758" y="544068"/>
                  </a:lnTo>
                  <a:lnTo>
                    <a:pt x="1707057" y="531368"/>
                  </a:lnTo>
                  <a:close/>
                </a:path>
              </a:pathLst>
            </a:custGeom>
            <a:solidFill>
              <a:srgbClr val="DB4437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50875" y="893826"/>
            <a:ext cx="15843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3200" spc="-10" noProof="0" dirty="0"/>
              <a:t>Neurona</a:t>
            </a:r>
            <a:endParaRPr lang="es-PE" sz="3200" noProof="0" dirty="0"/>
          </a:p>
        </p:txBody>
      </p:sp>
      <p:sp>
        <p:nvSpPr>
          <p:cNvPr id="9" name="object 9"/>
          <p:cNvSpPr txBox="1"/>
          <p:nvPr/>
        </p:nvSpPr>
        <p:spPr>
          <a:xfrm>
            <a:off x="242315" y="3552850"/>
            <a:ext cx="2110105" cy="625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indent="1354455">
              <a:lnSpc>
                <a:spcPct val="140600"/>
              </a:lnSpc>
              <a:spcBef>
                <a:spcPts val="95"/>
              </a:spcBef>
            </a:pPr>
            <a:r>
              <a:rPr lang="es-PE" sz="1400" spc="-20" noProof="0" dirty="0">
                <a:solidFill>
                  <a:srgbClr val="DB4437"/>
                </a:solidFill>
                <a:latin typeface="Roboto"/>
                <a:cs typeface="Roboto"/>
              </a:rPr>
              <a:t>Neurona </a:t>
            </a:r>
            <a:r>
              <a:rPr lang="es-PE" sz="1400" noProof="0" dirty="0">
                <a:solidFill>
                  <a:srgbClr val="DB4437"/>
                </a:solidFill>
                <a:latin typeface="Roboto"/>
                <a:cs typeface="Roboto"/>
              </a:rPr>
              <a:t>Fila</a:t>
            </a:r>
            <a:r>
              <a:rPr lang="es-PE" sz="1400" spc="-55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noProof="0" dirty="0">
                <a:solidFill>
                  <a:srgbClr val="DB4437"/>
                </a:solidFill>
                <a:latin typeface="Roboto"/>
                <a:cs typeface="Roboto"/>
              </a:rPr>
              <a:t>i</a:t>
            </a:r>
            <a:r>
              <a:rPr lang="es-PE" sz="1400" spc="-55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noProof="0" dirty="0">
                <a:solidFill>
                  <a:srgbClr val="DB4437"/>
                </a:solidFill>
                <a:latin typeface="Roboto"/>
                <a:cs typeface="Roboto"/>
              </a:rPr>
              <a:t>del</a:t>
            </a:r>
            <a:r>
              <a:rPr lang="es-PE" sz="1400" spc="-70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noProof="0" dirty="0" err="1">
                <a:solidFill>
                  <a:srgbClr val="DB4437"/>
                </a:solidFill>
                <a:latin typeface="Roboto"/>
                <a:cs typeface="Roboto"/>
              </a:rPr>
              <a:t>dataset</a:t>
            </a:r>
            <a:r>
              <a:rPr lang="es-PE" sz="1400" spc="80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2100" spc="-75" baseline="27777" noProof="0" dirty="0">
                <a:solidFill>
                  <a:srgbClr val="DB4437"/>
                </a:solidFill>
                <a:latin typeface="Roboto"/>
                <a:cs typeface="Roboto"/>
              </a:rPr>
              <a:t>1</a:t>
            </a:r>
            <a:endParaRPr lang="es-PE" sz="2100" baseline="27777" noProof="0" dirty="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88642" y="2122423"/>
            <a:ext cx="76200" cy="516890"/>
          </a:xfrm>
          <a:custGeom>
            <a:avLst/>
            <a:gdLst/>
            <a:ahLst/>
            <a:cxnLst/>
            <a:rect l="l" t="t" r="r" b="b"/>
            <a:pathLst>
              <a:path w="76200" h="516889">
                <a:moveTo>
                  <a:pt x="42914" y="76103"/>
                </a:moveTo>
                <a:lnTo>
                  <a:pt x="33388" y="76294"/>
                </a:lnTo>
                <a:lnTo>
                  <a:pt x="41782" y="516381"/>
                </a:lnTo>
                <a:lnTo>
                  <a:pt x="51310" y="516381"/>
                </a:lnTo>
                <a:lnTo>
                  <a:pt x="42931" y="76962"/>
                </a:lnTo>
                <a:lnTo>
                  <a:pt x="42914" y="76103"/>
                </a:lnTo>
                <a:close/>
              </a:path>
              <a:path w="76200" h="516889">
                <a:moveTo>
                  <a:pt x="36702" y="0"/>
                </a:moveTo>
                <a:lnTo>
                  <a:pt x="0" y="76962"/>
                </a:lnTo>
                <a:lnTo>
                  <a:pt x="33388" y="76294"/>
                </a:lnTo>
                <a:lnTo>
                  <a:pt x="33146" y="63626"/>
                </a:lnTo>
                <a:lnTo>
                  <a:pt x="42671" y="63373"/>
                </a:lnTo>
                <a:lnTo>
                  <a:pt x="69883" y="63373"/>
                </a:lnTo>
                <a:lnTo>
                  <a:pt x="36702" y="0"/>
                </a:lnTo>
                <a:close/>
              </a:path>
              <a:path w="76200" h="516889">
                <a:moveTo>
                  <a:pt x="42671" y="63373"/>
                </a:moveTo>
                <a:lnTo>
                  <a:pt x="33146" y="63626"/>
                </a:lnTo>
                <a:lnTo>
                  <a:pt x="33372" y="75437"/>
                </a:lnTo>
                <a:lnTo>
                  <a:pt x="33388" y="76294"/>
                </a:lnTo>
                <a:lnTo>
                  <a:pt x="42914" y="76103"/>
                </a:lnTo>
                <a:lnTo>
                  <a:pt x="42676" y="63626"/>
                </a:lnTo>
                <a:lnTo>
                  <a:pt x="42671" y="63373"/>
                </a:lnTo>
                <a:close/>
              </a:path>
              <a:path w="76200" h="516889">
                <a:moveTo>
                  <a:pt x="69883" y="63373"/>
                </a:moveTo>
                <a:lnTo>
                  <a:pt x="42671" y="63373"/>
                </a:lnTo>
                <a:lnTo>
                  <a:pt x="42902" y="75437"/>
                </a:lnTo>
                <a:lnTo>
                  <a:pt x="42914" y="76103"/>
                </a:lnTo>
                <a:lnTo>
                  <a:pt x="76200" y="75437"/>
                </a:lnTo>
                <a:lnTo>
                  <a:pt x="69883" y="63373"/>
                </a:lnTo>
                <a:close/>
              </a:path>
            </a:pathLst>
          </a:custGeom>
          <a:solidFill>
            <a:srgbClr val="DB4437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1" name="object 11"/>
          <p:cNvSpPr txBox="1"/>
          <p:nvPr/>
        </p:nvSpPr>
        <p:spPr>
          <a:xfrm>
            <a:off x="1837182" y="1853895"/>
            <a:ext cx="6000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1400" spc="-10" noProof="0" dirty="0" err="1">
                <a:solidFill>
                  <a:srgbClr val="DB4437"/>
                </a:solidFill>
                <a:latin typeface="Roboto"/>
                <a:cs typeface="Roboto"/>
              </a:rPr>
              <a:t>Layer</a:t>
            </a:r>
            <a:r>
              <a:rPr lang="es-PE" sz="1400" spc="-70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spc="-50" noProof="0" dirty="0">
                <a:solidFill>
                  <a:srgbClr val="DB4437"/>
                </a:solidFill>
                <a:latin typeface="Roboto"/>
                <a:cs typeface="Roboto"/>
              </a:rPr>
              <a:t>1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19555" y="2340864"/>
            <a:ext cx="1569085" cy="963294"/>
          </a:xfrm>
          <a:custGeom>
            <a:avLst/>
            <a:gdLst/>
            <a:ahLst/>
            <a:cxnLst/>
            <a:rect l="l" t="t" r="r" b="b"/>
            <a:pathLst>
              <a:path w="1569085" h="963295">
                <a:moveTo>
                  <a:pt x="0" y="481711"/>
                </a:moveTo>
                <a:lnTo>
                  <a:pt x="8507" y="410522"/>
                </a:lnTo>
                <a:lnTo>
                  <a:pt x="33218" y="342577"/>
                </a:lnTo>
                <a:lnTo>
                  <a:pt x="72920" y="278623"/>
                </a:lnTo>
                <a:lnTo>
                  <a:pt x="98014" y="248375"/>
                </a:lnTo>
                <a:lnTo>
                  <a:pt x="126399" y="219403"/>
                </a:lnTo>
                <a:lnTo>
                  <a:pt x="157924" y="191802"/>
                </a:lnTo>
                <a:lnTo>
                  <a:pt x="192439" y="165663"/>
                </a:lnTo>
                <a:lnTo>
                  <a:pt x="229790" y="141081"/>
                </a:lnTo>
                <a:lnTo>
                  <a:pt x="269827" y="118147"/>
                </a:lnTo>
                <a:lnTo>
                  <a:pt x="312396" y="96956"/>
                </a:lnTo>
                <a:lnTo>
                  <a:pt x="357347" y="77600"/>
                </a:lnTo>
                <a:lnTo>
                  <a:pt x="404528" y="60173"/>
                </a:lnTo>
                <a:lnTo>
                  <a:pt x="453787" y="44767"/>
                </a:lnTo>
                <a:lnTo>
                  <a:pt x="504973" y="31476"/>
                </a:lnTo>
                <a:lnTo>
                  <a:pt x="557932" y="20393"/>
                </a:lnTo>
                <a:lnTo>
                  <a:pt x="612514" y="11610"/>
                </a:lnTo>
                <a:lnTo>
                  <a:pt x="668567" y="5222"/>
                </a:lnTo>
                <a:lnTo>
                  <a:pt x="725939" y="1321"/>
                </a:lnTo>
                <a:lnTo>
                  <a:pt x="784478" y="0"/>
                </a:lnTo>
                <a:lnTo>
                  <a:pt x="843034" y="1321"/>
                </a:lnTo>
                <a:lnTo>
                  <a:pt x="900418" y="5222"/>
                </a:lnTo>
                <a:lnTo>
                  <a:pt x="956482" y="11610"/>
                </a:lnTo>
                <a:lnTo>
                  <a:pt x="1011071" y="20393"/>
                </a:lnTo>
                <a:lnTo>
                  <a:pt x="1064036" y="31476"/>
                </a:lnTo>
                <a:lnTo>
                  <a:pt x="1115225" y="44767"/>
                </a:lnTo>
                <a:lnTo>
                  <a:pt x="1164485" y="60173"/>
                </a:lnTo>
                <a:lnTo>
                  <a:pt x="1211666" y="77600"/>
                </a:lnTo>
                <a:lnTo>
                  <a:pt x="1256615" y="96956"/>
                </a:lnTo>
                <a:lnTo>
                  <a:pt x="1299182" y="118147"/>
                </a:lnTo>
                <a:lnTo>
                  <a:pt x="1339215" y="141081"/>
                </a:lnTo>
                <a:lnTo>
                  <a:pt x="1376561" y="165663"/>
                </a:lnTo>
                <a:lnTo>
                  <a:pt x="1411070" y="191802"/>
                </a:lnTo>
                <a:lnTo>
                  <a:pt x="1442590" y="219403"/>
                </a:lnTo>
                <a:lnTo>
                  <a:pt x="1470970" y="248375"/>
                </a:lnTo>
                <a:lnTo>
                  <a:pt x="1496057" y="278623"/>
                </a:lnTo>
                <a:lnTo>
                  <a:pt x="1517701" y="310055"/>
                </a:lnTo>
                <a:lnTo>
                  <a:pt x="1550050" y="376097"/>
                </a:lnTo>
                <a:lnTo>
                  <a:pt x="1566806" y="445757"/>
                </a:lnTo>
                <a:lnTo>
                  <a:pt x="1568958" y="481711"/>
                </a:lnTo>
                <a:lnTo>
                  <a:pt x="1566806" y="517648"/>
                </a:lnTo>
                <a:lnTo>
                  <a:pt x="1550050" y="587278"/>
                </a:lnTo>
                <a:lnTo>
                  <a:pt x="1517701" y="653298"/>
                </a:lnTo>
                <a:lnTo>
                  <a:pt x="1496057" y="684720"/>
                </a:lnTo>
                <a:lnTo>
                  <a:pt x="1470970" y="714959"/>
                </a:lnTo>
                <a:lnTo>
                  <a:pt x="1442590" y="743923"/>
                </a:lnTo>
                <a:lnTo>
                  <a:pt x="1411070" y="771518"/>
                </a:lnTo>
                <a:lnTo>
                  <a:pt x="1376561" y="797651"/>
                </a:lnTo>
                <a:lnTo>
                  <a:pt x="1339215" y="822229"/>
                </a:lnTo>
                <a:lnTo>
                  <a:pt x="1299182" y="845159"/>
                </a:lnTo>
                <a:lnTo>
                  <a:pt x="1256615" y="866347"/>
                </a:lnTo>
                <a:lnTo>
                  <a:pt x="1211666" y="885700"/>
                </a:lnTo>
                <a:lnTo>
                  <a:pt x="1164485" y="903125"/>
                </a:lnTo>
                <a:lnTo>
                  <a:pt x="1115225" y="918529"/>
                </a:lnTo>
                <a:lnTo>
                  <a:pt x="1064036" y="931819"/>
                </a:lnTo>
                <a:lnTo>
                  <a:pt x="1011071" y="942902"/>
                </a:lnTo>
                <a:lnTo>
                  <a:pt x="956482" y="951684"/>
                </a:lnTo>
                <a:lnTo>
                  <a:pt x="900418" y="958072"/>
                </a:lnTo>
                <a:lnTo>
                  <a:pt x="843034" y="961973"/>
                </a:lnTo>
                <a:lnTo>
                  <a:pt x="784478" y="963294"/>
                </a:lnTo>
                <a:lnTo>
                  <a:pt x="725939" y="961973"/>
                </a:lnTo>
                <a:lnTo>
                  <a:pt x="668567" y="958072"/>
                </a:lnTo>
                <a:lnTo>
                  <a:pt x="612514" y="951684"/>
                </a:lnTo>
                <a:lnTo>
                  <a:pt x="557932" y="942902"/>
                </a:lnTo>
                <a:lnTo>
                  <a:pt x="504973" y="931819"/>
                </a:lnTo>
                <a:lnTo>
                  <a:pt x="453787" y="918529"/>
                </a:lnTo>
                <a:lnTo>
                  <a:pt x="404528" y="903125"/>
                </a:lnTo>
                <a:lnTo>
                  <a:pt x="357347" y="885700"/>
                </a:lnTo>
                <a:lnTo>
                  <a:pt x="312396" y="866347"/>
                </a:lnTo>
                <a:lnTo>
                  <a:pt x="269827" y="845159"/>
                </a:lnTo>
                <a:lnTo>
                  <a:pt x="229790" y="822229"/>
                </a:lnTo>
                <a:lnTo>
                  <a:pt x="192439" y="797651"/>
                </a:lnTo>
                <a:lnTo>
                  <a:pt x="157924" y="771518"/>
                </a:lnTo>
                <a:lnTo>
                  <a:pt x="126399" y="743923"/>
                </a:lnTo>
                <a:lnTo>
                  <a:pt x="98014" y="714959"/>
                </a:lnTo>
                <a:lnTo>
                  <a:pt x="72920" y="684720"/>
                </a:lnTo>
                <a:lnTo>
                  <a:pt x="51272" y="653298"/>
                </a:lnTo>
                <a:lnTo>
                  <a:pt x="18913" y="587278"/>
                </a:lnTo>
                <a:lnTo>
                  <a:pt x="2152" y="517648"/>
                </a:lnTo>
                <a:lnTo>
                  <a:pt x="0" y="481711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3" name="object 13"/>
          <p:cNvSpPr txBox="1"/>
          <p:nvPr/>
        </p:nvSpPr>
        <p:spPr>
          <a:xfrm>
            <a:off x="1790192" y="2644521"/>
            <a:ext cx="1017905" cy="335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>
              <a:lnSpc>
                <a:spcPts val="1220"/>
              </a:lnSpc>
              <a:spcBef>
                <a:spcPts val="100"/>
              </a:spcBef>
              <a:tabLst>
                <a:tab pos="597535" algn="l"/>
              </a:tabLst>
            </a:pPr>
            <a:r>
              <a:rPr lang="es-PE" sz="900" spc="-25" noProof="0" dirty="0">
                <a:latin typeface="Arial MT"/>
                <a:cs typeface="Arial MT"/>
              </a:rPr>
              <a:t>(1)</a:t>
            </a:r>
            <a:r>
              <a:rPr lang="es-PE" sz="900" noProof="0" dirty="0">
                <a:latin typeface="Arial MT"/>
                <a:cs typeface="Arial MT"/>
              </a:rPr>
              <a:t>	</a:t>
            </a:r>
            <a:r>
              <a:rPr lang="es-PE" sz="2100" baseline="-15873" noProof="0" dirty="0">
                <a:latin typeface="Arial MT"/>
                <a:cs typeface="Arial MT"/>
              </a:rPr>
              <a:t>a</a:t>
            </a:r>
            <a:r>
              <a:rPr lang="es-PE" sz="2100" spc="150" baseline="-15873" noProof="0" dirty="0">
                <a:latin typeface="Arial MT"/>
                <a:cs typeface="Arial MT"/>
              </a:rPr>
              <a:t>  </a:t>
            </a:r>
            <a:r>
              <a:rPr lang="es-PE" sz="900" spc="-25" noProof="0" dirty="0">
                <a:latin typeface="Arial MT"/>
                <a:cs typeface="Arial MT"/>
              </a:rPr>
              <a:t>(1)</a:t>
            </a:r>
            <a:endParaRPr lang="es-PE" sz="900" noProof="0" dirty="0">
              <a:latin typeface="Arial MT"/>
              <a:cs typeface="Arial MT"/>
            </a:endParaRPr>
          </a:p>
          <a:p>
            <a:pPr marL="50800">
              <a:lnSpc>
                <a:spcPts val="1220"/>
              </a:lnSpc>
              <a:tabLst>
                <a:tab pos="696595" algn="l"/>
              </a:tabLst>
            </a:pPr>
            <a:r>
              <a:rPr lang="es-PE" sz="2100" spc="-30" baseline="13888" noProof="0" dirty="0">
                <a:latin typeface="Arial MT"/>
                <a:cs typeface="Arial MT"/>
              </a:rPr>
              <a:t>Z</a:t>
            </a:r>
            <a:r>
              <a:rPr lang="es-PE" sz="900" spc="-20" noProof="0" dirty="0">
                <a:latin typeface="Arial MT"/>
                <a:cs typeface="Arial MT"/>
              </a:rPr>
              <a:t>i,1</a:t>
            </a:r>
            <a:r>
              <a:rPr lang="es-PE" sz="900" noProof="0" dirty="0">
                <a:latin typeface="Arial MT"/>
                <a:cs typeface="Arial MT"/>
              </a:rPr>
              <a:t>	</a:t>
            </a:r>
            <a:r>
              <a:rPr lang="es-PE" sz="900" spc="-25" noProof="0" dirty="0">
                <a:latin typeface="Arial MT"/>
                <a:cs typeface="Arial MT"/>
              </a:rPr>
              <a:t>i,1</a:t>
            </a:r>
            <a:endParaRPr lang="es-PE" sz="900" noProof="0" dirty="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04033" y="2340864"/>
            <a:ext cx="0" cy="963294"/>
          </a:xfrm>
          <a:custGeom>
            <a:avLst/>
            <a:gdLst/>
            <a:ahLst/>
            <a:cxnLst/>
            <a:rect l="l" t="t" r="r" b="b"/>
            <a:pathLst>
              <a:path h="963295">
                <a:moveTo>
                  <a:pt x="0" y="0"/>
                </a:moveTo>
                <a:lnTo>
                  <a:pt x="0" y="963294"/>
                </a:lnTo>
              </a:path>
            </a:pathLst>
          </a:custGeom>
          <a:ln w="19050">
            <a:solidFill>
              <a:srgbClr val="424242"/>
            </a:solidFill>
          </a:ln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5" name="object 15"/>
          <p:cNvSpPr txBox="1"/>
          <p:nvPr/>
        </p:nvSpPr>
        <p:spPr>
          <a:xfrm>
            <a:off x="182879" y="2189860"/>
            <a:ext cx="361315" cy="128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69850">
              <a:lnSpc>
                <a:spcPct val="150100"/>
              </a:lnSpc>
              <a:spcBef>
                <a:spcPts val="100"/>
              </a:spcBef>
            </a:pPr>
            <a:r>
              <a:rPr lang="es-PE" sz="2250" spc="-37" baseline="12962" noProof="0" dirty="0">
                <a:latin typeface="Roboto"/>
                <a:cs typeface="Roboto"/>
              </a:rPr>
              <a:t>X</a:t>
            </a:r>
            <a:r>
              <a:rPr lang="es-PE" sz="1000" spc="-25" noProof="0" dirty="0">
                <a:latin typeface="Roboto"/>
                <a:cs typeface="Roboto"/>
              </a:rPr>
              <a:t>i,1 </a:t>
            </a:r>
            <a:r>
              <a:rPr lang="es-PE" sz="2250" spc="-37" baseline="12962" noProof="0" dirty="0">
                <a:latin typeface="Roboto"/>
                <a:cs typeface="Roboto"/>
              </a:rPr>
              <a:t>X</a:t>
            </a:r>
            <a:r>
              <a:rPr lang="es-PE" sz="1000" spc="-25" noProof="0" dirty="0">
                <a:latin typeface="Roboto"/>
                <a:cs typeface="Roboto"/>
              </a:rPr>
              <a:t>i,2</a:t>
            </a:r>
            <a:endParaRPr lang="es-PE" sz="1000" noProof="0" dirty="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25"/>
              </a:spcBef>
            </a:pPr>
            <a:r>
              <a:rPr lang="es-PE" sz="1000" spc="-50" noProof="0" dirty="0">
                <a:latin typeface="Roboto"/>
                <a:cs typeface="Roboto"/>
              </a:rPr>
              <a:t>…</a:t>
            </a:r>
            <a:endParaRPr lang="es-PE" sz="1000" noProof="0" dirty="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75"/>
              </a:spcBef>
            </a:pPr>
            <a:r>
              <a:rPr lang="es-PE" sz="2250" spc="-30" baseline="12962" noProof="0" dirty="0" err="1">
                <a:latin typeface="Roboto"/>
                <a:cs typeface="Roboto"/>
              </a:rPr>
              <a:t>X</a:t>
            </a:r>
            <a:r>
              <a:rPr lang="es-PE" sz="1000" spc="-20" noProof="0" dirty="0" err="1">
                <a:latin typeface="Roboto"/>
                <a:cs typeface="Roboto"/>
              </a:rPr>
              <a:t>i,m</a:t>
            </a:r>
            <a:endParaRPr lang="es-PE" sz="1000" noProof="0" dirty="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5099" y="2395982"/>
            <a:ext cx="7951470" cy="1446530"/>
            <a:chOff x="465099" y="2395982"/>
            <a:chExt cx="7951470" cy="1446530"/>
          </a:xfrm>
        </p:grpSpPr>
        <p:sp>
          <p:nvSpPr>
            <p:cNvPr id="17" name="object 17"/>
            <p:cNvSpPr/>
            <p:nvPr/>
          </p:nvSpPr>
          <p:spPr>
            <a:xfrm>
              <a:off x="465099" y="2395981"/>
              <a:ext cx="3457575" cy="932180"/>
            </a:xfrm>
            <a:custGeom>
              <a:avLst/>
              <a:gdLst/>
              <a:ahLst/>
              <a:cxnLst/>
              <a:rect l="l" t="t" r="r" b="b"/>
              <a:pathLst>
                <a:path w="3457575" h="932179">
                  <a:moveTo>
                    <a:pt x="1054455" y="426593"/>
                  </a:moveTo>
                  <a:lnTo>
                    <a:pt x="1037336" y="407289"/>
                  </a:lnTo>
                  <a:lnTo>
                    <a:pt x="997940" y="362839"/>
                  </a:lnTo>
                  <a:lnTo>
                    <a:pt x="987882" y="387921"/>
                  </a:lnTo>
                  <a:lnTo>
                    <a:pt x="980795" y="383794"/>
                  </a:lnTo>
                  <a:lnTo>
                    <a:pt x="980300" y="391718"/>
                  </a:lnTo>
                  <a:lnTo>
                    <a:pt x="3543" y="0"/>
                  </a:lnTo>
                  <a:lnTo>
                    <a:pt x="0" y="8890"/>
                  </a:lnTo>
                  <a:lnTo>
                    <a:pt x="979678" y="401662"/>
                  </a:lnTo>
                  <a:lnTo>
                    <a:pt x="979182" y="409651"/>
                  </a:lnTo>
                  <a:lnTo>
                    <a:pt x="976223" y="417042"/>
                  </a:lnTo>
                  <a:lnTo>
                    <a:pt x="2070" y="357251"/>
                  </a:lnTo>
                  <a:lnTo>
                    <a:pt x="1473" y="366776"/>
                  </a:lnTo>
                  <a:lnTo>
                    <a:pt x="969645" y="426072"/>
                  </a:lnTo>
                  <a:lnTo>
                    <a:pt x="971270" y="429437"/>
                  </a:lnTo>
                  <a:lnTo>
                    <a:pt x="969619" y="433578"/>
                  </a:lnTo>
                  <a:lnTo>
                    <a:pt x="973124" y="433298"/>
                  </a:lnTo>
                  <a:lnTo>
                    <a:pt x="977201" y="441782"/>
                  </a:lnTo>
                  <a:lnTo>
                    <a:pt x="976147" y="458851"/>
                  </a:lnTo>
                  <a:lnTo>
                    <a:pt x="9906" y="923544"/>
                  </a:lnTo>
                  <a:lnTo>
                    <a:pt x="14033" y="932180"/>
                  </a:lnTo>
                  <a:lnTo>
                    <a:pt x="987818" y="463880"/>
                  </a:lnTo>
                  <a:lnTo>
                    <a:pt x="1002258" y="493903"/>
                  </a:lnTo>
                  <a:lnTo>
                    <a:pt x="1036523" y="449707"/>
                  </a:lnTo>
                  <a:lnTo>
                    <a:pt x="1054455" y="426593"/>
                  </a:lnTo>
                  <a:close/>
                </a:path>
                <a:path w="3457575" h="932179">
                  <a:moveTo>
                    <a:pt x="3457422" y="419100"/>
                  </a:moveTo>
                  <a:lnTo>
                    <a:pt x="3449739" y="415417"/>
                  </a:lnTo>
                  <a:lnTo>
                    <a:pt x="3380587" y="382270"/>
                  </a:lnTo>
                  <a:lnTo>
                    <a:pt x="3381184" y="415417"/>
                  </a:lnTo>
                  <a:lnTo>
                    <a:pt x="3381197" y="415645"/>
                  </a:lnTo>
                  <a:lnTo>
                    <a:pt x="2623413" y="429260"/>
                  </a:lnTo>
                  <a:lnTo>
                    <a:pt x="2623540" y="438785"/>
                  </a:lnTo>
                  <a:lnTo>
                    <a:pt x="3381362" y="425170"/>
                  </a:lnTo>
                  <a:lnTo>
                    <a:pt x="3381984" y="458470"/>
                  </a:lnTo>
                  <a:lnTo>
                    <a:pt x="3457422" y="41910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5805" y="2638717"/>
              <a:ext cx="4380484" cy="67572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569079" y="3235071"/>
              <a:ext cx="76200" cy="607695"/>
            </a:xfrm>
            <a:custGeom>
              <a:avLst/>
              <a:gdLst/>
              <a:ahLst/>
              <a:cxnLst/>
              <a:rect l="l" t="t" r="r" b="b"/>
              <a:pathLst>
                <a:path w="76200" h="607695">
                  <a:moveTo>
                    <a:pt x="33371" y="531368"/>
                  </a:moveTo>
                  <a:lnTo>
                    <a:pt x="0" y="531368"/>
                  </a:lnTo>
                  <a:lnTo>
                    <a:pt x="38354" y="607441"/>
                  </a:lnTo>
                  <a:lnTo>
                    <a:pt x="69839" y="543941"/>
                  </a:lnTo>
                  <a:lnTo>
                    <a:pt x="33400" y="543941"/>
                  </a:lnTo>
                  <a:lnTo>
                    <a:pt x="33371" y="531368"/>
                  </a:lnTo>
                  <a:close/>
                </a:path>
                <a:path w="76200" h="607695">
                  <a:moveTo>
                    <a:pt x="41656" y="0"/>
                  </a:moveTo>
                  <a:lnTo>
                    <a:pt x="32131" y="0"/>
                  </a:lnTo>
                  <a:lnTo>
                    <a:pt x="33371" y="531368"/>
                  </a:lnTo>
                  <a:lnTo>
                    <a:pt x="33400" y="543941"/>
                  </a:lnTo>
                  <a:lnTo>
                    <a:pt x="42925" y="543941"/>
                  </a:lnTo>
                  <a:lnTo>
                    <a:pt x="41656" y="0"/>
                  </a:lnTo>
                  <a:close/>
                </a:path>
                <a:path w="76200" h="607695">
                  <a:moveTo>
                    <a:pt x="76074" y="531368"/>
                  </a:moveTo>
                  <a:lnTo>
                    <a:pt x="42896" y="531368"/>
                  </a:lnTo>
                  <a:lnTo>
                    <a:pt x="42925" y="543941"/>
                  </a:lnTo>
                  <a:lnTo>
                    <a:pt x="69839" y="543941"/>
                  </a:lnTo>
                  <a:lnTo>
                    <a:pt x="76074" y="531368"/>
                  </a:lnTo>
                  <a:close/>
                </a:path>
              </a:pathLst>
            </a:custGeom>
            <a:solidFill>
              <a:srgbClr val="DB4437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683634" y="3858869"/>
            <a:ext cx="17945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1400" spc="-10" noProof="0" dirty="0">
                <a:solidFill>
                  <a:srgbClr val="DB4437"/>
                </a:solidFill>
                <a:latin typeface="Roboto"/>
                <a:cs typeface="Roboto"/>
              </a:rPr>
              <a:t>Función</a:t>
            </a:r>
            <a:r>
              <a:rPr lang="es-PE" sz="1400" spc="-45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noProof="0" dirty="0">
                <a:solidFill>
                  <a:srgbClr val="DB4437"/>
                </a:solidFill>
                <a:latin typeface="Roboto"/>
                <a:cs typeface="Roboto"/>
              </a:rPr>
              <a:t>de</a:t>
            </a:r>
            <a:r>
              <a:rPr lang="es-PE" sz="1400" spc="-45" noProof="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PE" sz="1400" spc="-10" noProof="0" dirty="0">
                <a:solidFill>
                  <a:srgbClr val="DB4437"/>
                </a:solidFill>
                <a:latin typeface="Roboto"/>
                <a:cs typeface="Roboto"/>
              </a:rPr>
              <a:t>activación: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23842" y="4072839"/>
            <a:ext cx="101282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00"/>
              </a:spcBef>
              <a:buChar char="-"/>
              <a:tabLst>
                <a:tab pos="329565" algn="l"/>
              </a:tabLst>
            </a:pPr>
            <a:r>
              <a:rPr lang="es-PE" sz="1400" spc="-10" noProof="0" dirty="0" err="1">
                <a:solidFill>
                  <a:srgbClr val="DB4437"/>
                </a:solidFill>
                <a:latin typeface="Roboto"/>
                <a:cs typeface="Roboto"/>
              </a:rPr>
              <a:t>Sigmoid</a:t>
            </a:r>
            <a:endParaRPr lang="es-PE" sz="1400" noProof="0" dirty="0">
              <a:latin typeface="Roboto"/>
              <a:cs typeface="Roboto"/>
            </a:endParaRPr>
          </a:p>
          <a:p>
            <a:pPr marL="329565" indent="-316865">
              <a:lnSpc>
                <a:spcPct val="100000"/>
              </a:lnSpc>
              <a:buChar char="-"/>
              <a:tabLst>
                <a:tab pos="329565" algn="l"/>
              </a:tabLst>
            </a:pPr>
            <a:r>
              <a:rPr lang="es-PE" sz="1400" spc="-20" noProof="0" dirty="0" err="1">
                <a:solidFill>
                  <a:srgbClr val="DB4437"/>
                </a:solidFill>
                <a:latin typeface="Roboto"/>
                <a:cs typeface="Roboto"/>
              </a:rPr>
              <a:t>ReLU</a:t>
            </a:r>
            <a:endParaRPr lang="es-PE" sz="1400" noProof="0" dirty="0">
              <a:latin typeface="Roboto"/>
              <a:cs typeface="Roboto"/>
            </a:endParaRPr>
          </a:p>
          <a:p>
            <a:pPr marL="329565" indent="-316865">
              <a:lnSpc>
                <a:spcPct val="100000"/>
              </a:lnSpc>
              <a:buChar char="-"/>
              <a:tabLst>
                <a:tab pos="329565" algn="l"/>
              </a:tabLst>
            </a:pPr>
            <a:r>
              <a:rPr lang="es-PE" sz="1400" spc="-20" noProof="0" dirty="0" err="1">
                <a:solidFill>
                  <a:srgbClr val="DB4437"/>
                </a:solidFill>
                <a:latin typeface="Roboto"/>
                <a:cs typeface="Roboto"/>
              </a:rPr>
              <a:t>Tanh</a:t>
            </a:r>
            <a:endParaRPr lang="es-PE" sz="1400" noProof="0" dirty="0">
              <a:latin typeface="Roboto"/>
              <a:cs typeface="Roboto"/>
            </a:endParaRPr>
          </a:p>
          <a:p>
            <a:pPr marL="329565" indent="-316865">
              <a:lnSpc>
                <a:spcPct val="100000"/>
              </a:lnSpc>
              <a:buChar char="-"/>
              <a:tabLst>
                <a:tab pos="329565" algn="l"/>
              </a:tabLst>
            </a:pPr>
            <a:r>
              <a:rPr lang="es-PE" sz="1400" spc="-10" noProof="0" dirty="0">
                <a:solidFill>
                  <a:srgbClr val="DB4437"/>
                </a:solidFill>
                <a:latin typeface="Roboto"/>
                <a:cs typeface="Roboto"/>
              </a:rPr>
              <a:t>Softmax</a:t>
            </a:r>
            <a:endParaRPr lang="es-PE" sz="1400" noProof="0" dirty="0">
              <a:latin typeface="Roboto"/>
              <a:cs typeface="Roboto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24" name="Elipse 23">
            <a:extLst>
              <a:ext uri="{FF2B5EF4-FFF2-40B4-BE49-F238E27FC236}">
                <a16:creationId xmlns:a16="http://schemas.microsoft.com/office/drawing/2014/main" id="{13A44C76-FDFA-D06A-931D-8BC013F2BFC2}"/>
              </a:ext>
            </a:extLst>
          </p:cNvPr>
          <p:cNvSpPr/>
          <p:nvPr/>
        </p:nvSpPr>
        <p:spPr>
          <a:xfrm>
            <a:off x="149859" y="2547327"/>
            <a:ext cx="361315" cy="356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2B9B8922-ADD1-4CE8-10EB-DD9A639784C7}"/>
              </a:ext>
            </a:extLst>
          </p:cNvPr>
          <p:cNvSpPr/>
          <p:nvPr/>
        </p:nvSpPr>
        <p:spPr>
          <a:xfrm>
            <a:off x="149858" y="2189733"/>
            <a:ext cx="361315" cy="356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E50D0F9-243D-88B5-7C9D-E47F771D5215}"/>
              </a:ext>
            </a:extLst>
          </p:cNvPr>
          <p:cNvSpPr/>
          <p:nvPr/>
        </p:nvSpPr>
        <p:spPr>
          <a:xfrm>
            <a:off x="176935" y="3141157"/>
            <a:ext cx="361315" cy="356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noProof="0" dirty="0" err="1"/>
              <a:t>Layer</a:t>
            </a:r>
            <a:r>
              <a:rPr lang="es-PE" spc="-35" noProof="0" dirty="0"/>
              <a:t> </a:t>
            </a:r>
            <a:r>
              <a:rPr lang="es-PE" noProof="0" dirty="0"/>
              <a:t>Lineal</a:t>
            </a:r>
            <a:r>
              <a:rPr lang="es-PE" spc="-20" noProof="0" dirty="0"/>
              <a:t> </a:t>
            </a:r>
            <a:r>
              <a:rPr lang="es-PE" noProof="0" dirty="0"/>
              <a:t>con</a:t>
            </a:r>
            <a:r>
              <a:rPr lang="es-PE" spc="-20" noProof="0" dirty="0"/>
              <a:t> </a:t>
            </a:r>
            <a:r>
              <a:rPr lang="es-PE" noProof="0" dirty="0"/>
              <a:t>función</a:t>
            </a:r>
            <a:r>
              <a:rPr lang="es-PE" spc="-10" noProof="0" dirty="0"/>
              <a:t> </a:t>
            </a:r>
            <a:r>
              <a:rPr lang="es-PE" noProof="0" dirty="0"/>
              <a:t>de</a:t>
            </a:r>
            <a:r>
              <a:rPr lang="es-PE" spc="-40" noProof="0" dirty="0"/>
              <a:t> </a:t>
            </a:r>
            <a:r>
              <a:rPr lang="es-PE" spc="-10" noProof="0" dirty="0"/>
              <a:t>activación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96047" y="657161"/>
            <a:ext cx="1448435" cy="2501265"/>
            <a:chOff x="1396047" y="657161"/>
            <a:chExt cx="1448435" cy="2501265"/>
          </a:xfrm>
        </p:grpSpPr>
        <p:sp>
          <p:nvSpPr>
            <p:cNvPr id="5" name="object 5"/>
            <p:cNvSpPr/>
            <p:nvPr/>
          </p:nvSpPr>
          <p:spPr>
            <a:xfrm>
              <a:off x="1410335" y="671448"/>
              <a:ext cx="1419860" cy="2472690"/>
            </a:xfrm>
            <a:custGeom>
              <a:avLst/>
              <a:gdLst/>
              <a:ahLst/>
              <a:cxnLst/>
              <a:rect l="l" t="t" r="r" b="b"/>
              <a:pathLst>
                <a:path w="1419860" h="2472690">
                  <a:moveTo>
                    <a:pt x="0" y="2472563"/>
                  </a:moveTo>
                  <a:lnTo>
                    <a:pt x="1419860" y="2472563"/>
                  </a:lnTo>
                  <a:lnTo>
                    <a:pt x="1419860" y="0"/>
                  </a:lnTo>
                  <a:lnTo>
                    <a:pt x="0" y="0"/>
                  </a:lnTo>
                  <a:lnTo>
                    <a:pt x="0" y="2472563"/>
                  </a:lnTo>
                  <a:close/>
                </a:path>
              </a:pathLst>
            </a:custGeom>
            <a:ln w="28575">
              <a:solidFill>
                <a:srgbClr val="0E9D57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519555" y="792479"/>
              <a:ext cx="1191895" cy="675640"/>
            </a:xfrm>
            <a:custGeom>
              <a:avLst/>
              <a:gdLst/>
              <a:ahLst/>
              <a:cxnLst/>
              <a:rect l="l" t="t" r="r" b="b"/>
              <a:pathLst>
                <a:path w="1191895" h="675640">
                  <a:moveTo>
                    <a:pt x="0" y="337693"/>
                  </a:moveTo>
                  <a:lnTo>
                    <a:pt x="12107" y="269618"/>
                  </a:lnTo>
                  <a:lnTo>
                    <a:pt x="46831" y="206222"/>
                  </a:lnTo>
                  <a:lnTo>
                    <a:pt x="71924" y="176701"/>
                  </a:lnTo>
                  <a:lnTo>
                    <a:pt x="101771" y="148859"/>
                  </a:lnTo>
                  <a:lnTo>
                    <a:pt x="136073" y="122863"/>
                  </a:lnTo>
                  <a:lnTo>
                    <a:pt x="174529" y="98885"/>
                  </a:lnTo>
                  <a:lnTo>
                    <a:pt x="216840" y="77093"/>
                  </a:lnTo>
                  <a:lnTo>
                    <a:pt x="262706" y="57656"/>
                  </a:lnTo>
                  <a:lnTo>
                    <a:pt x="311827" y="40745"/>
                  </a:lnTo>
                  <a:lnTo>
                    <a:pt x="363902" y="26529"/>
                  </a:lnTo>
                  <a:lnTo>
                    <a:pt x="418633" y="15176"/>
                  </a:lnTo>
                  <a:lnTo>
                    <a:pt x="475719" y="6858"/>
                  </a:lnTo>
                  <a:lnTo>
                    <a:pt x="534860" y="1742"/>
                  </a:lnTo>
                  <a:lnTo>
                    <a:pt x="595757" y="0"/>
                  </a:lnTo>
                  <a:lnTo>
                    <a:pt x="656675" y="1742"/>
                  </a:lnTo>
                  <a:lnTo>
                    <a:pt x="715836" y="6858"/>
                  </a:lnTo>
                  <a:lnTo>
                    <a:pt x="772939" y="15176"/>
                  </a:lnTo>
                  <a:lnTo>
                    <a:pt x="827684" y="26529"/>
                  </a:lnTo>
                  <a:lnTo>
                    <a:pt x="879772" y="40745"/>
                  </a:lnTo>
                  <a:lnTo>
                    <a:pt x="928903" y="57656"/>
                  </a:lnTo>
                  <a:lnTo>
                    <a:pt x="974777" y="77093"/>
                  </a:lnTo>
                  <a:lnTo>
                    <a:pt x="1017095" y="98885"/>
                  </a:lnTo>
                  <a:lnTo>
                    <a:pt x="1055556" y="122863"/>
                  </a:lnTo>
                  <a:lnTo>
                    <a:pt x="1089862" y="148859"/>
                  </a:lnTo>
                  <a:lnTo>
                    <a:pt x="1119712" y="176701"/>
                  </a:lnTo>
                  <a:lnTo>
                    <a:pt x="1144807" y="206222"/>
                  </a:lnTo>
                  <a:lnTo>
                    <a:pt x="1179533" y="269618"/>
                  </a:lnTo>
                  <a:lnTo>
                    <a:pt x="1191640" y="337693"/>
                  </a:lnTo>
                  <a:lnTo>
                    <a:pt x="1188564" y="372231"/>
                  </a:lnTo>
                  <a:lnTo>
                    <a:pt x="1164847" y="438146"/>
                  </a:lnTo>
                  <a:lnTo>
                    <a:pt x="1119712" y="498713"/>
                  </a:lnTo>
                  <a:lnTo>
                    <a:pt x="1089862" y="526567"/>
                  </a:lnTo>
                  <a:lnTo>
                    <a:pt x="1055556" y="552573"/>
                  </a:lnTo>
                  <a:lnTo>
                    <a:pt x="1017095" y="576564"/>
                  </a:lnTo>
                  <a:lnTo>
                    <a:pt x="974777" y="598368"/>
                  </a:lnTo>
                  <a:lnTo>
                    <a:pt x="928903" y="617816"/>
                  </a:lnTo>
                  <a:lnTo>
                    <a:pt x="879772" y="634737"/>
                  </a:lnTo>
                  <a:lnTo>
                    <a:pt x="827684" y="648964"/>
                  </a:lnTo>
                  <a:lnTo>
                    <a:pt x="772939" y="660324"/>
                  </a:lnTo>
                  <a:lnTo>
                    <a:pt x="715836" y="668649"/>
                  </a:lnTo>
                  <a:lnTo>
                    <a:pt x="656675" y="673768"/>
                  </a:lnTo>
                  <a:lnTo>
                    <a:pt x="595757" y="675513"/>
                  </a:lnTo>
                  <a:lnTo>
                    <a:pt x="534860" y="673768"/>
                  </a:lnTo>
                  <a:lnTo>
                    <a:pt x="475719" y="668649"/>
                  </a:lnTo>
                  <a:lnTo>
                    <a:pt x="418633" y="660324"/>
                  </a:lnTo>
                  <a:lnTo>
                    <a:pt x="363902" y="648964"/>
                  </a:lnTo>
                  <a:lnTo>
                    <a:pt x="311827" y="634737"/>
                  </a:lnTo>
                  <a:lnTo>
                    <a:pt x="262706" y="617816"/>
                  </a:lnTo>
                  <a:lnTo>
                    <a:pt x="216840" y="598368"/>
                  </a:lnTo>
                  <a:lnTo>
                    <a:pt x="174529" y="576564"/>
                  </a:lnTo>
                  <a:lnTo>
                    <a:pt x="136073" y="552573"/>
                  </a:lnTo>
                  <a:lnTo>
                    <a:pt x="101771" y="526567"/>
                  </a:lnTo>
                  <a:lnTo>
                    <a:pt x="71924" y="498713"/>
                  </a:lnTo>
                  <a:lnTo>
                    <a:pt x="46831" y="469183"/>
                  </a:lnTo>
                  <a:lnTo>
                    <a:pt x="12107" y="405772"/>
                  </a:lnTo>
                  <a:lnTo>
                    <a:pt x="0" y="337693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47773" y="986789"/>
            <a:ext cx="7169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s-PE" sz="1650" baseline="-17676" noProof="0" dirty="0">
                <a:latin typeface="Arial MT"/>
                <a:cs typeface="Arial MT"/>
              </a:rPr>
              <a:t>Z</a:t>
            </a:r>
            <a:r>
              <a:rPr lang="es-PE" sz="1050" baseline="-47619" noProof="0" dirty="0">
                <a:latin typeface="Arial MT"/>
                <a:cs typeface="Arial MT"/>
              </a:rPr>
              <a:t>i,1</a:t>
            </a:r>
            <a:r>
              <a:rPr lang="es-PE" sz="700" noProof="0" dirty="0">
                <a:latin typeface="Arial MT"/>
                <a:cs typeface="Arial MT"/>
              </a:rPr>
              <a:t>(1)</a:t>
            </a:r>
            <a:r>
              <a:rPr lang="es-PE" sz="700" spc="270" noProof="0" dirty="0">
                <a:latin typeface="Arial MT"/>
                <a:cs typeface="Arial MT"/>
              </a:rPr>
              <a:t> </a:t>
            </a:r>
            <a:r>
              <a:rPr lang="es-PE" sz="1650" spc="-15" baseline="-17676" noProof="0" dirty="0">
                <a:latin typeface="Arial MT"/>
                <a:cs typeface="Arial MT"/>
              </a:rPr>
              <a:t>a</a:t>
            </a:r>
            <a:r>
              <a:rPr lang="es-PE" sz="1050" spc="-15" baseline="-47619" noProof="0" dirty="0">
                <a:latin typeface="Arial MT"/>
                <a:cs typeface="Arial MT"/>
              </a:rPr>
              <a:t>i,1</a:t>
            </a:r>
            <a:r>
              <a:rPr lang="es-PE" sz="700" spc="-10" noProof="0" dirty="0">
                <a:latin typeface="Arial MT"/>
                <a:cs typeface="Arial MT"/>
              </a:rPr>
              <a:t>(1)</a:t>
            </a:r>
            <a:endParaRPr lang="es-PE" sz="700" noProof="0" dirty="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05267" y="782955"/>
            <a:ext cx="1220470" cy="1479550"/>
            <a:chOff x="1505267" y="782955"/>
            <a:chExt cx="1220470" cy="1479550"/>
          </a:xfrm>
        </p:grpSpPr>
        <p:sp>
          <p:nvSpPr>
            <p:cNvPr id="9" name="object 9"/>
            <p:cNvSpPr/>
            <p:nvPr/>
          </p:nvSpPr>
          <p:spPr>
            <a:xfrm>
              <a:off x="2115312" y="792480"/>
              <a:ext cx="635" cy="675640"/>
            </a:xfrm>
            <a:custGeom>
              <a:avLst/>
              <a:gdLst/>
              <a:ahLst/>
              <a:cxnLst/>
              <a:rect l="l" t="t" r="r" b="b"/>
              <a:pathLst>
                <a:path w="635" h="675640">
                  <a:moveTo>
                    <a:pt x="0" y="0"/>
                  </a:moveTo>
                  <a:lnTo>
                    <a:pt x="126" y="675513"/>
                  </a:lnTo>
                </a:path>
              </a:pathLst>
            </a:custGeom>
            <a:ln w="19050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519555" y="1572006"/>
              <a:ext cx="1191895" cy="675640"/>
            </a:xfrm>
            <a:custGeom>
              <a:avLst/>
              <a:gdLst/>
              <a:ahLst/>
              <a:cxnLst/>
              <a:rect l="l" t="t" r="r" b="b"/>
              <a:pathLst>
                <a:path w="1191895" h="675639">
                  <a:moveTo>
                    <a:pt x="0" y="337820"/>
                  </a:moveTo>
                  <a:lnTo>
                    <a:pt x="12107" y="269740"/>
                  </a:lnTo>
                  <a:lnTo>
                    <a:pt x="46831" y="206329"/>
                  </a:lnTo>
                  <a:lnTo>
                    <a:pt x="71924" y="176799"/>
                  </a:lnTo>
                  <a:lnTo>
                    <a:pt x="101771" y="148945"/>
                  </a:lnTo>
                  <a:lnTo>
                    <a:pt x="136073" y="122939"/>
                  </a:lnTo>
                  <a:lnTo>
                    <a:pt x="174529" y="98948"/>
                  </a:lnTo>
                  <a:lnTo>
                    <a:pt x="216840" y="77144"/>
                  </a:lnTo>
                  <a:lnTo>
                    <a:pt x="262706" y="57696"/>
                  </a:lnTo>
                  <a:lnTo>
                    <a:pt x="311827" y="40775"/>
                  </a:lnTo>
                  <a:lnTo>
                    <a:pt x="363902" y="26548"/>
                  </a:lnTo>
                  <a:lnTo>
                    <a:pt x="418633" y="15188"/>
                  </a:lnTo>
                  <a:lnTo>
                    <a:pt x="475719" y="6863"/>
                  </a:lnTo>
                  <a:lnTo>
                    <a:pt x="534860" y="1744"/>
                  </a:lnTo>
                  <a:lnTo>
                    <a:pt x="595757" y="0"/>
                  </a:lnTo>
                  <a:lnTo>
                    <a:pt x="656675" y="1744"/>
                  </a:lnTo>
                  <a:lnTo>
                    <a:pt x="715836" y="6863"/>
                  </a:lnTo>
                  <a:lnTo>
                    <a:pt x="772939" y="15188"/>
                  </a:lnTo>
                  <a:lnTo>
                    <a:pt x="827684" y="26548"/>
                  </a:lnTo>
                  <a:lnTo>
                    <a:pt x="879772" y="40775"/>
                  </a:lnTo>
                  <a:lnTo>
                    <a:pt x="928903" y="57696"/>
                  </a:lnTo>
                  <a:lnTo>
                    <a:pt x="974777" y="77144"/>
                  </a:lnTo>
                  <a:lnTo>
                    <a:pt x="1017095" y="98948"/>
                  </a:lnTo>
                  <a:lnTo>
                    <a:pt x="1055556" y="122939"/>
                  </a:lnTo>
                  <a:lnTo>
                    <a:pt x="1089862" y="148945"/>
                  </a:lnTo>
                  <a:lnTo>
                    <a:pt x="1119712" y="176799"/>
                  </a:lnTo>
                  <a:lnTo>
                    <a:pt x="1144807" y="206329"/>
                  </a:lnTo>
                  <a:lnTo>
                    <a:pt x="1179533" y="269740"/>
                  </a:lnTo>
                  <a:lnTo>
                    <a:pt x="1191640" y="337820"/>
                  </a:lnTo>
                  <a:lnTo>
                    <a:pt x="1188564" y="372358"/>
                  </a:lnTo>
                  <a:lnTo>
                    <a:pt x="1164847" y="438273"/>
                  </a:lnTo>
                  <a:lnTo>
                    <a:pt x="1119712" y="498840"/>
                  </a:lnTo>
                  <a:lnTo>
                    <a:pt x="1089862" y="526694"/>
                  </a:lnTo>
                  <a:lnTo>
                    <a:pt x="1055556" y="552700"/>
                  </a:lnTo>
                  <a:lnTo>
                    <a:pt x="1017095" y="576691"/>
                  </a:lnTo>
                  <a:lnTo>
                    <a:pt x="974777" y="598495"/>
                  </a:lnTo>
                  <a:lnTo>
                    <a:pt x="928903" y="617943"/>
                  </a:lnTo>
                  <a:lnTo>
                    <a:pt x="879772" y="634864"/>
                  </a:lnTo>
                  <a:lnTo>
                    <a:pt x="827684" y="649091"/>
                  </a:lnTo>
                  <a:lnTo>
                    <a:pt x="772939" y="660451"/>
                  </a:lnTo>
                  <a:lnTo>
                    <a:pt x="715836" y="668776"/>
                  </a:lnTo>
                  <a:lnTo>
                    <a:pt x="656675" y="673895"/>
                  </a:lnTo>
                  <a:lnTo>
                    <a:pt x="595757" y="675640"/>
                  </a:lnTo>
                  <a:lnTo>
                    <a:pt x="534860" y="673895"/>
                  </a:lnTo>
                  <a:lnTo>
                    <a:pt x="475719" y="668776"/>
                  </a:lnTo>
                  <a:lnTo>
                    <a:pt x="418633" y="660451"/>
                  </a:lnTo>
                  <a:lnTo>
                    <a:pt x="363902" y="649091"/>
                  </a:lnTo>
                  <a:lnTo>
                    <a:pt x="311827" y="634864"/>
                  </a:lnTo>
                  <a:lnTo>
                    <a:pt x="262706" y="617943"/>
                  </a:lnTo>
                  <a:lnTo>
                    <a:pt x="216840" y="598495"/>
                  </a:lnTo>
                  <a:lnTo>
                    <a:pt x="174529" y="576691"/>
                  </a:lnTo>
                  <a:lnTo>
                    <a:pt x="136073" y="552700"/>
                  </a:lnTo>
                  <a:lnTo>
                    <a:pt x="101771" y="526694"/>
                  </a:lnTo>
                  <a:lnTo>
                    <a:pt x="71924" y="498840"/>
                  </a:lnTo>
                  <a:lnTo>
                    <a:pt x="46831" y="469310"/>
                  </a:lnTo>
                  <a:lnTo>
                    <a:pt x="12107" y="405899"/>
                  </a:lnTo>
                  <a:lnTo>
                    <a:pt x="0" y="33782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47773" y="1766697"/>
            <a:ext cx="7169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s-PE" sz="1650" baseline="-17676" noProof="0" dirty="0">
                <a:latin typeface="Arial MT"/>
                <a:cs typeface="Arial MT"/>
              </a:rPr>
              <a:t>Z</a:t>
            </a:r>
            <a:r>
              <a:rPr lang="es-PE" sz="1050" baseline="-47619" noProof="0" dirty="0">
                <a:latin typeface="Arial MT"/>
                <a:cs typeface="Arial MT"/>
              </a:rPr>
              <a:t>i,2</a:t>
            </a:r>
            <a:r>
              <a:rPr lang="es-PE" sz="700" noProof="0" dirty="0">
                <a:latin typeface="Arial MT"/>
                <a:cs typeface="Arial MT"/>
              </a:rPr>
              <a:t>(1)</a:t>
            </a:r>
            <a:r>
              <a:rPr lang="es-PE" sz="700" spc="270" noProof="0" dirty="0">
                <a:latin typeface="Arial MT"/>
                <a:cs typeface="Arial MT"/>
              </a:rPr>
              <a:t> </a:t>
            </a:r>
            <a:r>
              <a:rPr lang="es-PE" sz="1650" spc="-15" baseline="-17676" noProof="0" dirty="0">
                <a:latin typeface="Arial MT"/>
                <a:cs typeface="Arial MT"/>
              </a:rPr>
              <a:t>a</a:t>
            </a:r>
            <a:r>
              <a:rPr lang="es-PE" sz="1050" spc="-15" baseline="-47619" noProof="0" dirty="0">
                <a:latin typeface="Arial MT"/>
                <a:cs typeface="Arial MT"/>
              </a:rPr>
              <a:t>i,2</a:t>
            </a:r>
            <a:r>
              <a:rPr lang="es-PE" sz="700" spc="-10" noProof="0" dirty="0">
                <a:latin typeface="Arial MT"/>
                <a:cs typeface="Arial MT"/>
              </a:rPr>
              <a:t>(1)</a:t>
            </a:r>
            <a:endParaRPr lang="es-PE" sz="700" noProof="0" dirty="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05267" y="1562480"/>
            <a:ext cx="1220470" cy="1479550"/>
            <a:chOff x="1505267" y="1562480"/>
            <a:chExt cx="1220470" cy="1479550"/>
          </a:xfrm>
        </p:grpSpPr>
        <p:sp>
          <p:nvSpPr>
            <p:cNvPr id="13" name="object 13"/>
            <p:cNvSpPr/>
            <p:nvPr/>
          </p:nvSpPr>
          <p:spPr>
            <a:xfrm>
              <a:off x="2115312" y="1572005"/>
              <a:ext cx="635" cy="675640"/>
            </a:xfrm>
            <a:custGeom>
              <a:avLst/>
              <a:gdLst/>
              <a:ahLst/>
              <a:cxnLst/>
              <a:rect l="l" t="t" r="r" b="b"/>
              <a:pathLst>
                <a:path w="635" h="675639">
                  <a:moveTo>
                    <a:pt x="0" y="0"/>
                  </a:moveTo>
                  <a:lnTo>
                    <a:pt x="126" y="675640"/>
                  </a:lnTo>
                </a:path>
              </a:pathLst>
            </a:custGeom>
            <a:ln w="19050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519555" y="2351658"/>
              <a:ext cx="1191895" cy="675640"/>
            </a:xfrm>
            <a:custGeom>
              <a:avLst/>
              <a:gdLst/>
              <a:ahLst/>
              <a:cxnLst/>
              <a:rect l="l" t="t" r="r" b="b"/>
              <a:pathLst>
                <a:path w="1191895" h="675639">
                  <a:moveTo>
                    <a:pt x="0" y="337693"/>
                  </a:moveTo>
                  <a:lnTo>
                    <a:pt x="12107" y="269618"/>
                  </a:lnTo>
                  <a:lnTo>
                    <a:pt x="46831" y="206222"/>
                  </a:lnTo>
                  <a:lnTo>
                    <a:pt x="71924" y="176701"/>
                  </a:lnTo>
                  <a:lnTo>
                    <a:pt x="101771" y="148859"/>
                  </a:lnTo>
                  <a:lnTo>
                    <a:pt x="136073" y="122863"/>
                  </a:lnTo>
                  <a:lnTo>
                    <a:pt x="174529" y="98885"/>
                  </a:lnTo>
                  <a:lnTo>
                    <a:pt x="216840" y="77093"/>
                  </a:lnTo>
                  <a:lnTo>
                    <a:pt x="262706" y="57656"/>
                  </a:lnTo>
                  <a:lnTo>
                    <a:pt x="311827" y="40745"/>
                  </a:lnTo>
                  <a:lnTo>
                    <a:pt x="363902" y="26529"/>
                  </a:lnTo>
                  <a:lnTo>
                    <a:pt x="418633" y="15176"/>
                  </a:lnTo>
                  <a:lnTo>
                    <a:pt x="475719" y="6858"/>
                  </a:lnTo>
                  <a:lnTo>
                    <a:pt x="534860" y="1742"/>
                  </a:lnTo>
                  <a:lnTo>
                    <a:pt x="595757" y="0"/>
                  </a:lnTo>
                  <a:lnTo>
                    <a:pt x="656675" y="1742"/>
                  </a:lnTo>
                  <a:lnTo>
                    <a:pt x="715836" y="6858"/>
                  </a:lnTo>
                  <a:lnTo>
                    <a:pt x="772939" y="15176"/>
                  </a:lnTo>
                  <a:lnTo>
                    <a:pt x="827684" y="26529"/>
                  </a:lnTo>
                  <a:lnTo>
                    <a:pt x="879772" y="40745"/>
                  </a:lnTo>
                  <a:lnTo>
                    <a:pt x="928903" y="57656"/>
                  </a:lnTo>
                  <a:lnTo>
                    <a:pt x="974777" y="77093"/>
                  </a:lnTo>
                  <a:lnTo>
                    <a:pt x="1017095" y="98885"/>
                  </a:lnTo>
                  <a:lnTo>
                    <a:pt x="1055556" y="122863"/>
                  </a:lnTo>
                  <a:lnTo>
                    <a:pt x="1089862" y="148859"/>
                  </a:lnTo>
                  <a:lnTo>
                    <a:pt x="1119712" y="176701"/>
                  </a:lnTo>
                  <a:lnTo>
                    <a:pt x="1144807" y="206222"/>
                  </a:lnTo>
                  <a:lnTo>
                    <a:pt x="1179533" y="269618"/>
                  </a:lnTo>
                  <a:lnTo>
                    <a:pt x="1191640" y="337693"/>
                  </a:lnTo>
                  <a:lnTo>
                    <a:pt x="1188564" y="372231"/>
                  </a:lnTo>
                  <a:lnTo>
                    <a:pt x="1164847" y="438146"/>
                  </a:lnTo>
                  <a:lnTo>
                    <a:pt x="1119712" y="498713"/>
                  </a:lnTo>
                  <a:lnTo>
                    <a:pt x="1089862" y="526567"/>
                  </a:lnTo>
                  <a:lnTo>
                    <a:pt x="1055556" y="552573"/>
                  </a:lnTo>
                  <a:lnTo>
                    <a:pt x="1017095" y="576564"/>
                  </a:lnTo>
                  <a:lnTo>
                    <a:pt x="974777" y="598368"/>
                  </a:lnTo>
                  <a:lnTo>
                    <a:pt x="928903" y="617816"/>
                  </a:lnTo>
                  <a:lnTo>
                    <a:pt x="879772" y="634737"/>
                  </a:lnTo>
                  <a:lnTo>
                    <a:pt x="827684" y="648964"/>
                  </a:lnTo>
                  <a:lnTo>
                    <a:pt x="772939" y="660324"/>
                  </a:lnTo>
                  <a:lnTo>
                    <a:pt x="715836" y="668649"/>
                  </a:lnTo>
                  <a:lnTo>
                    <a:pt x="656675" y="673768"/>
                  </a:lnTo>
                  <a:lnTo>
                    <a:pt x="595757" y="675513"/>
                  </a:lnTo>
                  <a:lnTo>
                    <a:pt x="534860" y="673768"/>
                  </a:lnTo>
                  <a:lnTo>
                    <a:pt x="475719" y="668649"/>
                  </a:lnTo>
                  <a:lnTo>
                    <a:pt x="418633" y="660324"/>
                  </a:lnTo>
                  <a:lnTo>
                    <a:pt x="363902" y="648964"/>
                  </a:lnTo>
                  <a:lnTo>
                    <a:pt x="311827" y="634737"/>
                  </a:lnTo>
                  <a:lnTo>
                    <a:pt x="262706" y="617816"/>
                  </a:lnTo>
                  <a:lnTo>
                    <a:pt x="216840" y="598368"/>
                  </a:lnTo>
                  <a:lnTo>
                    <a:pt x="174529" y="576564"/>
                  </a:lnTo>
                  <a:lnTo>
                    <a:pt x="136073" y="552573"/>
                  </a:lnTo>
                  <a:lnTo>
                    <a:pt x="101771" y="526567"/>
                  </a:lnTo>
                  <a:lnTo>
                    <a:pt x="71924" y="498713"/>
                  </a:lnTo>
                  <a:lnTo>
                    <a:pt x="46831" y="469183"/>
                  </a:lnTo>
                  <a:lnTo>
                    <a:pt x="12107" y="405772"/>
                  </a:lnTo>
                  <a:lnTo>
                    <a:pt x="0" y="337693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47773" y="2546350"/>
            <a:ext cx="7321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s-PE" sz="1650" baseline="-17676" noProof="0" dirty="0" err="1">
                <a:latin typeface="Arial MT"/>
                <a:cs typeface="Arial MT"/>
              </a:rPr>
              <a:t>Z</a:t>
            </a:r>
            <a:r>
              <a:rPr lang="es-PE" sz="1050" baseline="-47619" noProof="0" dirty="0" err="1">
                <a:latin typeface="Arial MT"/>
                <a:cs typeface="Arial MT"/>
              </a:rPr>
              <a:t>i,k</a:t>
            </a:r>
            <a:r>
              <a:rPr lang="es-PE" sz="700" noProof="0" dirty="0">
                <a:latin typeface="Arial MT"/>
                <a:cs typeface="Arial MT"/>
              </a:rPr>
              <a:t>(1)</a:t>
            </a:r>
            <a:r>
              <a:rPr lang="es-PE" sz="700" spc="475" noProof="0" dirty="0">
                <a:latin typeface="Arial MT"/>
                <a:cs typeface="Arial MT"/>
              </a:rPr>
              <a:t> </a:t>
            </a:r>
            <a:r>
              <a:rPr lang="es-PE" sz="1650" spc="-15" baseline="-17676" noProof="0" dirty="0" err="1">
                <a:latin typeface="Arial MT"/>
                <a:cs typeface="Arial MT"/>
              </a:rPr>
              <a:t>a</a:t>
            </a:r>
            <a:r>
              <a:rPr lang="es-PE" sz="1050" spc="-15" baseline="-47619" noProof="0" dirty="0" err="1">
                <a:latin typeface="Arial MT"/>
                <a:cs typeface="Arial MT"/>
              </a:rPr>
              <a:t>i,k</a:t>
            </a:r>
            <a:r>
              <a:rPr lang="es-PE" sz="700" spc="-10" noProof="0" dirty="0">
                <a:latin typeface="Arial MT"/>
                <a:cs typeface="Arial MT"/>
              </a:rPr>
              <a:t>(1)</a:t>
            </a:r>
            <a:endParaRPr lang="es-PE" sz="700" noProof="0" dirty="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1359" y="970978"/>
            <a:ext cx="5524499" cy="33813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5286" y="1750504"/>
            <a:ext cx="5524499" cy="33813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85286" y="2530157"/>
            <a:ext cx="5524499" cy="338137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2105786" y="1082421"/>
            <a:ext cx="1002665" cy="1954530"/>
            <a:chOff x="2105786" y="1082421"/>
            <a:chExt cx="1002665" cy="1954530"/>
          </a:xfrm>
        </p:grpSpPr>
        <p:sp>
          <p:nvSpPr>
            <p:cNvPr id="20" name="object 20"/>
            <p:cNvSpPr/>
            <p:nvPr/>
          </p:nvSpPr>
          <p:spPr>
            <a:xfrm>
              <a:off x="2115311" y="2351659"/>
              <a:ext cx="635" cy="675640"/>
            </a:xfrm>
            <a:custGeom>
              <a:avLst/>
              <a:gdLst/>
              <a:ahLst/>
              <a:cxnLst/>
              <a:rect l="l" t="t" r="r" b="b"/>
              <a:pathLst>
                <a:path w="635" h="675639">
                  <a:moveTo>
                    <a:pt x="0" y="0"/>
                  </a:moveTo>
                  <a:lnTo>
                    <a:pt x="126" y="675513"/>
                  </a:lnTo>
                </a:path>
              </a:pathLst>
            </a:custGeom>
            <a:ln w="19050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2711069" y="1082420"/>
              <a:ext cx="397510" cy="1640205"/>
            </a:xfrm>
            <a:custGeom>
              <a:avLst/>
              <a:gdLst/>
              <a:ahLst/>
              <a:cxnLst/>
              <a:rect l="l" t="t" r="r" b="b"/>
              <a:pathLst>
                <a:path w="397510" h="1640205">
                  <a:moveTo>
                    <a:pt x="397256" y="1600962"/>
                  </a:moveTo>
                  <a:lnTo>
                    <a:pt x="389343" y="1597152"/>
                  </a:lnTo>
                  <a:lnTo>
                    <a:pt x="320548" y="1564005"/>
                  </a:lnTo>
                  <a:lnTo>
                    <a:pt x="321043" y="1597152"/>
                  </a:lnTo>
                  <a:lnTo>
                    <a:pt x="321043" y="1597355"/>
                  </a:lnTo>
                  <a:lnTo>
                    <a:pt x="0" y="1602232"/>
                  </a:lnTo>
                  <a:lnTo>
                    <a:pt x="127" y="1611757"/>
                  </a:lnTo>
                  <a:lnTo>
                    <a:pt x="321183" y="1606880"/>
                  </a:lnTo>
                  <a:lnTo>
                    <a:pt x="321691" y="1640205"/>
                  </a:lnTo>
                  <a:lnTo>
                    <a:pt x="397256" y="1600962"/>
                  </a:lnTo>
                  <a:close/>
                </a:path>
                <a:path w="397510" h="1640205">
                  <a:moveTo>
                    <a:pt x="397256" y="821436"/>
                  </a:moveTo>
                  <a:lnTo>
                    <a:pt x="389343" y="817626"/>
                  </a:lnTo>
                  <a:lnTo>
                    <a:pt x="320548" y="784479"/>
                  </a:lnTo>
                  <a:lnTo>
                    <a:pt x="321043" y="817626"/>
                  </a:lnTo>
                  <a:lnTo>
                    <a:pt x="321043" y="817816"/>
                  </a:lnTo>
                  <a:lnTo>
                    <a:pt x="0" y="822579"/>
                  </a:lnTo>
                  <a:lnTo>
                    <a:pt x="127" y="832104"/>
                  </a:lnTo>
                  <a:lnTo>
                    <a:pt x="321183" y="827341"/>
                  </a:lnTo>
                  <a:lnTo>
                    <a:pt x="321691" y="860679"/>
                  </a:lnTo>
                  <a:lnTo>
                    <a:pt x="397256" y="821436"/>
                  </a:lnTo>
                  <a:close/>
                </a:path>
                <a:path w="397510" h="1640205">
                  <a:moveTo>
                    <a:pt x="397256" y="35814"/>
                  </a:moveTo>
                  <a:lnTo>
                    <a:pt x="391223" y="33020"/>
                  </a:lnTo>
                  <a:lnTo>
                    <a:pt x="321310" y="596"/>
                  </a:lnTo>
                  <a:lnTo>
                    <a:pt x="321310" y="42545"/>
                  </a:lnTo>
                  <a:lnTo>
                    <a:pt x="321310" y="42938"/>
                  </a:lnTo>
                  <a:lnTo>
                    <a:pt x="321195" y="39192"/>
                  </a:lnTo>
                  <a:lnTo>
                    <a:pt x="321310" y="42545"/>
                  </a:lnTo>
                  <a:lnTo>
                    <a:pt x="321310" y="596"/>
                  </a:lnTo>
                  <a:lnTo>
                    <a:pt x="320040" y="0"/>
                  </a:lnTo>
                  <a:lnTo>
                    <a:pt x="321030" y="33020"/>
                  </a:lnTo>
                  <a:lnTo>
                    <a:pt x="321030" y="33401"/>
                  </a:lnTo>
                  <a:lnTo>
                    <a:pt x="0" y="43053"/>
                  </a:lnTo>
                  <a:lnTo>
                    <a:pt x="254" y="52578"/>
                  </a:lnTo>
                  <a:lnTo>
                    <a:pt x="317106" y="43053"/>
                  </a:lnTo>
                  <a:lnTo>
                    <a:pt x="321322" y="43053"/>
                  </a:lnTo>
                  <a:lnTo>
                    <a:pt x="322326" y="76200"/>
                  </a:lnTo>
                  <a:lnTo>
                    <a:pt x="397256" y="35814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82879" y="1122553"/>
            <a:ext cx="361315" cy="1283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69850">
              <a:lnSpc>
                <a:spcPct val="150200"/>
              </a:lnSpc>
              <a:spcBef>
                <a:spcPts val="100"/>
              </a:spcBef>
            </a:pPr>
            <a:r>
              <a:rPr lang="es-PE" sz="2250" spc="-37" baseline="12962" noProof="0" dirty="0">
                <a:latin typeface="Roboto"/>
                <a:cs typeface="Roboto"/>
              </a:rPr>
              <a:t>X</a:t>
            </a:r>
            <a:r>
              <a:rPr lang="es-PE" sz="1000" spc="-25" noProof="0" dirty="0">
                <a:latin typeface="Roboto"/>
                <a:cs typeface="Roboto"/>
              </a:rPr>
              <a:t>i,1 </a:t>
            </a:r>
            <a:r>
              <a:rPr lang="es-PE" sz="2250" spc="-37" baseline="12962" noProof="0" dirty="0">
                <a:latin typeface="Roboto"/>
                <a:cs typeface="Roboto"/>
              </a:rPr>
              <a:t>X</a:t>
            </a:r>
            <a:r>
              <a:rPr lang="es-PE" sz="1000" spc="-25" noProof="0" dirty="0">
                <a:latin typeface="Roboto"/>
                <a:cs typeface="Roboto"/>
              </a:rPr>
              <a:t>i,2</a:t>
            </a:r>
            <a:endParaRPr lang="es-PE" sz="1000" noProof="0" dirty="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25"/>
              </a:spcBef>
            </a:pPr>
            <a:r>
              <a:rPr lang="es-PE" sz="1000" spc="-50" noProof="0" dirty="0">
                <a:latin typeface="Roboto"/>
                <a:cs typeface="Roboto"/>
              </a:rPr>
              <a:t>…</a:t>
            </a:r>
            <a:endParaRPr lang="es-PE" sz="1000" noProof="0" dirty="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75"/>
              </a:spcBef>
            </a:pPr>
            <a:r>
              <a:rPr lang="es-PE" sz="2250" spc="-30" baseline="12962" noProof="0" dirty="0" err="1">
                <a:latin typeface="Roboto"/>
                <a:cs typeface="Roboto"/>
              </a:rPr>
              <a:t>X</a:t>
            </a:r>
            <a:r>
              <a:rPr lang="es-PE" sz="1000" spc="-20" noProof="0" dirty="0" err="1">
                <a:latin typeface="Roboto"/>
                <a:cs typeface="Roboto"/>
              </a:rPr>
              <a:t>i,m</a:t>
            </a:r>
            <a:endParaRPr lang="es-PE" sz="1000" noProof="0" dirty="0">
              <a:latin typeface="Roboto"/>
              <a:cs typeface="Robo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5475" y="1103375"/>
            <a:ext cx="1044575" cy="1594485"/>
          </a:xfrm>
          <a:custGeom>
            <a:avLst/>
            <a:gdLst/>
            <a:ahLst/>
            <a:cxnLst/>
            <a:rect l="l" t="t" r="r" b="b"/>
            <a:pathLst>
              <a:path w="1044575" h="1594485">
                <a:moveTo>
                  <a:pt x="1044079" y="26797"/>
                </a:moveTo>
                <a:lnTo>
                  <a:pt x="987171" y="7924"/>
                </a:lnTo>
                <a:lnTo>
                  <a:pt x="987171" y="82664"/>
                </a:lnTo>
                <a:lnTo>
                  <a:pt x="593839" y="516750"/>
                </a:lnTo>
                <a:lnTo>
                  <a:pt x="587311" y="512635"/>
                </a:lnTo>
                <a:lnTo>
                  <a:pt x="587311" y="523951"/>
                </a:lnTo>
                <a:lnTo>
                  <a:pt x="456120" y="668743"/>
                </a:lnTo>
                <a:lnTo>
                  <a:pt x="448779" y="667092"/>
                </a:lnTo>
                <a:lnTo>
                  <a:pt x="448779" y="676833"/>
                </a:lnTo>
                <a:lnTo>
                  <a:pt x="414477" y="714692"/>
                </a:lnTo>
                <a:lnTo>
                  <a:pt x="407898" y="705675"/>
                </a:lnTo>
                <a:lnTo>
                  <a:pt x="407898" y="721944"/>
                </a:lnTo>
                <a:lnTo>
                  <a:pt x="293268" y="848461"/>
                </a:lnTo>
                <a:lnTo>
                  <a:pt x="16751" y="579234"/>
                </a:lnTo>
                <a:lnTo>
                  <a:pt x="360451" y="656869"/>
                </a:lnTo>
                <a:lnTo>
                  <a:pt x="407898" y="721944"/>
                </a:lnTo>
                <a:lnTo>
                  <a:pt x="407898" y="705675"/>
                </a:lnTo>
                <a:lnTo>
                  <a:pt x="374662" y="660082"/>
                </a:lnTo>
                <a:lnTo>
                  <a:pt x="448779" y="676833"/>
                </a:lnTo>
                <a:lnTo>
                  <a:pt x="448779" y="667092"/>
                </a:lnTo>
                <a:lnTo>
                  <a:pt x="366141" y="648411"/>
                </a:lnTo>
                <a:lnTo>
                  <a:pt x="225463" y="455510"/>
                </a:lnTo>
                <a:lnTo>
                  <a:pt x="364693" y="383501"/>
                </a:lnTo>
                <a:lnTo>
                  <a:pt x="587311" y="523951"/>
                </a:lnTo>
                <a:lnTo>
                  <a:pt x="587311" y="512635"/>
                </a:lnTo>
                <a:lnTo>
                  <a:pt x="374561" y="378396"/>
                </a:lnTo>
                <a:lnTo>
                  <a:pt x="973150" y="68846"/>
                </a:lnTo>
                <a:lnTo>
                  <a:pt x="974102" y="75438"/>
                </a:lnTo>
                <a:lnTo>
                  <a:pt x="979830" y="71462"/>
                </a:lnTo>
                <a:lnTo>
                  <a:pt x="982726" y="74079"/>
                </a:lnTo>
                <a:lnTo>
                  <a:pt x="987171" y="82664"/>
                </a:lnTo>
                <a:lnTo>
                  <a:pt x="987171" y="7924"/>
                </a:lnTo>
                <a:lnTo>
                  <a:pt x="971194" y="2628"/>
                </a:lnTo>
                <a:lnTo>
                  <a:pt x="971194" y="55257"/>
                </a:lnTo>
                <a:lnTo>
                  <a:pt x="964704" y="57785"/>
                </a:lnTo>
                <a:lnTo>
                  <a:pt x="968082" y="60845"/>
                </a:lnTo>
                <a:lnTo>
                  <a:pt x="365302" y="372554"/>
                </a:lnTo>
                <a:lnTo>
                  <a:pt x="51193" y="174383"/>
                </a:lnTo>
                <a:lnTo>
                  <a:pt x="966533" y="42875"/>
                </a:lnTo>
                <a:lnTo>
                  <a:pt x="970534" y="50596"/>
                </a:lnTo>
                <a:lnTo>
                  <a:pt x="971194" y="55257"/>
                </a:lnTo>
                <a:lnTo>
                  <a:pt x="971194" y="2628"/>
                </a:lnTo>
                <a:lnTo>
                  <a:pt x="963307" y="0"/>
                </a:lnTo>
                <a:lnTo>
                  <a:pt x="967282" y="27952"/>
                </a:lnTo>
                <a:lnTo>
                  <a:pt x="958862" y="28067"/>
                </a:lnTo>
                <a:lnTo>
                  <a:pt x="961834" y="33820"/>
                </a:lnTo>
                <a:lnTo>
                  <a:pt x="20726" y="169164"/>
                </a:lnTo>
                <a:lnTo>
                  <a:pt x="22072" y="178562"/>
                </a:lnTo>
                <a:lnTo>
                  <a:pt x="39763" y="176022"/>
                </a:lnTo>
                <a:lnTo>
                  <a:pt x="38658" y="177800"/>
                </a:lnTo>
                <a:lnTo>
                  <a:pt x="355434" y="377659"/>
                </a:lnTo>
                <a:lnTo>
                  <a:pt x="219837" y="447776"/>
                </a:lnTo>
                <a:lnTo>
                  <a:pt x="25247" y="180975"/>
                </a:lnTo>
                <a:lnTo>
                  <a:pt x="17551" y="186690"/>
                </a:lnTo>
                <a:lnTo>
                  <a:pt x="211213" y="452234"/>
                </a:lnTo>
                <a:lnTo>
                  <a:pt x="9309" y="556641"/>
                </a:lnTo>
                <a:lnTo>
                  <a:pt x="13690" y="565023"/>
                </a:lnTo>
                <a:lnTo>
                  <a:pt x="216852" y="459968"/>
                </a:lnTo>
                <a:lnTo>
                  <a:pt x="351929" y="645198"/>
                </a:lnTo>
                <a:lnTo>
                  <a:pt x="2654" y="566293"/>
                </a:lnTo>
                <a:lnTo>
                  <a:pt x="546" y="575564"/>
                </a:lnTo>
                <a:lnTo>
                  <a:pt x="13665" y="578535"/>
                </a:lnTo>
                <a:lnTo>
                  <a:pt x="8178" y="584200"/>
                </a:lnTo>
                <a:lnTo>
                  <a:pt x="286867" y="855535"/>
                </a:lnTo>
                <a:lnTo>
                  <a:pt x="7975" y="1163320"/>
                </a:lnTo>
                <a:lnTo>
                  <a:pt x="12725" y="1167688"/>
                </a:lnTo>
                <a:lnTo>
                  <a:pt x="0" y="1172210"/>
                </a:lnTo>
                <a:lnTo>
                  <a:pt x="3187" y="1181100"/>
                </a:lnTo>
                <a:lnTo>
                  <a:pt x="456120" y="1020318"/>
                </a:lnTo>
                <a:lnTo>
                  <a:pt x="982865" y="1533131"/>
                </a:lnTo>
                <a:lnTo>
                  <a:pt x="981138" y="1537589"/>
                </a:lnTo>
                <a:lnTo>
                  <a:pt x="968387" y="1546860"/>
                </a:lnTo>
                <a:lnTo>
                  <a:pt x="973391" y="1549450"/>
                </a:lnTo>
                <a:lnTo>
                  <a:pt x="970457" y="1552460"/>
                </a:lnTo>
                <a:lnTo>
                  <a:pt x="13220" y="1181989"/>
                </a:lnTo>
                <a:lnTo>
                  <a:pt x="9779" y="1190879"/>
                </a:lnTo>
                <a:lnTo>
                  <a:pt x="963231" y="1559877"/>
                </a:lnTo>
                <a:lnTo>
                  <a:pt x="962926" y="1560195"/>
                </a:lnTo>
                <a:lnTo>
                  <a:pt x="969340" y="1562239"/>
                </a:lnTo>
                <a:lnTo>
                  <a:pt x="971296" y="1562989"/>
                </a:lnTo>
                <a:lnTo>
                  <a:pt x="959243" y="1594104"/>
                </a:lnTo>
                <a:lnTo>
                  <a:pt x="1044079" y="1585976"/>
                </a:lnTo>
                <a:lnTo>
                  <a:pt x="1035951" y="1537589"/>
                </a:lnTo>
                <a:lnTo>
                  <a:pt x="1029982" y="1502029"/>
                </a:lnTo>
                <a:lnTo>
                  <a:pt x="1017943" y="1510792"/>
                </a:lnTo>
                <a:lnTo>
                  <a:pt x="1016139" y="1505585"/>
                </a:lnTo>
                <a:lnTo>
                  <a:pt x="1001966" y="1520139"/>
                </a:lnTo>
                <a:lnTo>
                  <a:pt x="995146" y="1510792"/>
                </a:lnTo>
                <a:lnTo>
                  <a:pt x="995146" y="1527124"/>
                </a:lnTo>
                <a:lnTo>
                  <a:pt x="994257" y="1528038"/>
                </a:lnTo>
                <a:lnTo>
                  <a:pt x="992568" y="1529270"/>
                </a:lnTo>
                <a:lnTo>
                  <a:pt x="992124" y="1528851"/>
                </a:lnTo>
                <a:lnTo>
                  <a:pt x="986802" y="1522984"/>
                </a:lnTo>
                <a:lnTo>
                  <a:pt x="986612" y="1523479"/>
                </a:lnTo>
                <a:lnTo>
                  <a:pt x="466128" y="1016762"/>
                </a:lnTo>
                <a:lnTo>
                  <a:pt x="590677" y="972553"/>
                </a:lnTo>
                <a:lnTo>
                  <a:pt x="995146" y="1527124"/>
                </a:lnTo>
                <a:lnTo>
                  <a:pt x="995146" y="1510792"/>
                </a:lnTo>
                <a:lnTo>
                  <a:pt x="600113" y="969200"/>
                </a:lnTo>
                <a:lnTo>
                  <a:pt x="973886" y="836510"/>
                </a:lnTo>
                <a:lnTo>
                  <a:pt x="985024" y="867791"/>
                </a:lnTo>
                <a:lnTo>
                  <a:pt x="1027938" y="823214"/>
                </a:lnTo>
                <a:lnTo>
                  <a:pt x="1044079" y="806450"/>
                </a:lnTo>
                <a:lnTo>
                  <a:pt x="1026033" y="776605"/>
                </a:lnTo>
                <a:lnTo>
                  <a:pt x="1000010" y="733552"/>
                </a:lnTo>
                <a:lnTo>
                  <a:pt x="984694" y="757821"/>
                </a:lnTo>
                <a:lnTo>
                  <a:pt x="978166" y="752475"/>
                </a:lnTo>
                <a:lnTo>
                  <a:pt x="976833" y="758355"/>
                </a:lnTo>
                <a:lnTo>
                  <a:pt x="974598" y="756945"/>
                </a:lnTo>
                <a:lnTo>
                  <a:pt x="974598" y="768273"/>
                </a:lnTo>
                <a:lnTo>
                  <a:pt x="972642" y="776897"/>
                </a:lnTo>
                <a:lnTo>
                  <a:pt x="970673" y="780021"/>
                </a:lnTo>
                <a:lnTo>
                  <a:pt x="970673" y="827455"/>
                </a:lnTo>
                <a:lnTo>
                  <a:pt x="594233" y="961161"/>
                </a:lnTo>
                <a:lnTo>
                  <a:pt x="584809" y="948245"/>
                </a:lnTo>
                <a:lnTo>
                  <a:pt x="584809" y="964514"/>
                </a:lnTo>
                <a:lnTo>
                  <a:pt x="458520" y="1009357"/>
                </a:lnTo>
                <a:lnTo>
                  <a:pt x="448513" y="999617"/>
                </a:lnTo>
                <a:lnTo>
                  <a:pt x="448513" y="1012913"/>
                </a:lnTo>
                <a:lnTo>
                  <a:pt x="18923" y="1165491"/>
                </a:lnTo>
                <a:lnTo>
                  <a:pt x="293700" y="862190"/>
                </a:lnTo>
                <a:lnTo>
                  <a:pt x="448513" y="1012913"/>
                </a:lnTo>
                <a:lnTo>
                  <a:pt x="448513" y="999617"/>
                </a:lnTo>
                <a:lnTo>
                  <a:pt x="300101" y="855116"/>
                </a:lnTo>
                <a:lnTo>
                  <a:pt x="413639" y="729805"/>
                </a:lnTo>
                <a:lnTo>
                  <a:pt x="584809" y="964514"/>
                </a:lnTo>
                <a:lnTo>
                  <a:pt x="584809" y="948245"/>
                </a:lnTo>
                <a:lnTo>
                  <a:pt x="420204" y="722541"/>
                </a:lnTo>
                <a:lnTo>
                  <a:pt x="459435" y="679246"/>
                </a:lnTo>
                <a:lnTo>
                  <a:pt x="962558" y="792886"/>
                </a:lnTo>
                <a:lnTo>
                  <a:pt x="960488" y="796163"/>
                </a:lnTo>
                <a:lnTo>
                  <a:pt x="959497" y="796036"/>
                </a:lnTo>
                <a:lnTo>
                  <a:pt x="959878" y="797128"/>
                </a:lnTo>
                <a:lnTo>
                  <a:pt x="959370" y="797941"/>
                </a:lnTo>
                <a:lnTo>
                  <a:pt x="960196" y="798029"/>
                </a:lnTo>
                <a:lnTo>
                  <a:pt x="964895" y="811237"/>
                </a:lnTo>
                <a:lnTo>
                  <a:pt x="961402" y="826770"/>
                </a:lnTo>
                <a:lnTo>
                  <a:pt x="969695" y="824738"/>
                </a:lnTo>
                <a:lnTo>
                  <a:pt x="970673" y="827455"/>
                </a:lnTo>
                <a:lnTo>
                  <a:pt x="970673" y="780021"/>
                </a:lnTo>
                <a:lnTo>
                  <a:pt x="967943" y="784339"/>
                </a:lnTo>
                <a:lnTo>
                  <a:pt x="466775" y="671144"/>
                </a:lnTo>
                <a:lnTo>
                  <a:pt x="595464" y="529094"/>
                </a:lnTo>
                <a:lnTo>
                  <a:pt x="974598" y="768273"/>
                </a:lnTo>
                <a:lnTo>
                  <a:pt x="974598" y="756945"/>
                </a:lnTo>
                <a:lnTo>
                  <a:pt x="601992" y="521893"/>
                </a:lnTo>
                <a:lnTo>
                  <a:pt x="991806" y="91592"/>
                </a:lnTo>
                <a:lnTo>
                  <a:pt x="993914" y="95631"/>
                </a:lnTo>
                <a:lnTo>
                  <a:pt x="998943" y="88734"/>
                </a:lnTo>
                <a:lnTo>
                  <a:pt x="1021219" y="108839"/>
                </a:lnTo>
                <a:lnTo>
                  <a:pt x="1031824" y="70739"/>
                </a:lnTo>
                <a:lnTo>
                  <a:pt x="1044079" y="26797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06395" y="3878707"/>
            <a:ext cx="3067050" cy="44767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346049" y="3224276"/>
            <a:ext cx="2074545" cy="950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lang="es-PE" sz="1400" spc="-20" noProof="0" dirty="0" err="1">
                <a:solidFill>
                  <a:srgbClr val="0E9D57"/>
                </a:solidFill>
                <a:latin typeface="Roboto"/>
                <a:cs typeface="Roboto"/>
              </a:rPr>
              <a:t>Layer</a:t>
            </a:r>
            <a:r>
              <a:rPr lang="es-PE" sz="1400" spc="-30" noProof="0" dirty="0">
                <a:solidFill>
                  <a:srgbClr val="0E9D57"/>
                </a:solidFill>
                <a:latin typeface="Roboto"/>
                <a:cs typeface="Roboto"/>
              </a:rPr>
              <a:t> </a:t>
            </a:r>
            <a:r>
              <a:rPr lang="es-PE" sz="1400" spc="-50" noProof="0" dirty="0">
                <a:solidFill>
                  <a:srgbClr val="0E9D57"/>
                </a:solidFill>
                <a:latin typeface="Roboto"/>
                <a:cs typeface="Roboto"/>
              </a:rPr>
              <a:t>1</a:t>
            </a:r>
            <a:endParaRPr lang="es-PE" sz="14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lang="es-PE" sz="1400" noProof="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lang="es-PE" sz="1400" noProof="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lang="es-PE" sz="1500" noProof="0" dirty="0">
                <a:latin typeface="Roboto"/>
                <a:cs typeface="Roboto"/>
              </a:rPr>
              <a:t>En</a:t>
            </a:r>
            <a:r>
              <a:rPr lang="es-PE" sz="1500" spc="-30" noProof="0" dirty="0">
                <a:latin typeface="Roboto"/>
                <a:cs typeface="Roboto"/>
              </a:rPr>
              <a:t> </a:t>
            </a:r>
            <a:r>
              <a:rPr lang="es-PE" sz="1500" noProof="0" dirty="0">
                <a:latin typeface="Roboto"/>
                <a:cs typeface="Roboto"/>
              </a:rPr>
              <a:t>formato</a:t>
            </a:r>
            <a:r>
              <a:rPr lang="es-PE" sz="1500" spc="-25" noProof="0" dirty="0">
                <a:latin typeface="Roboto"/>
                <a:cs typeface="Roboto"/>
              </a:rPr>
              <a:t> </a:t>
            </a:r>
            <a:r>
              <a:rPr lang="es-PE" sz="1500" spc="-10" noProof="0" dirty="0">
                <a:latin typeface="Roboto"/>
                <a:cs typeface="Roboto"/>
              </a:rPr>
              <a:t>matricial:</a:t>
            </a:r>
            <a:endParaRPr lang="es-PE" sz="1500" noProof="0" dirty="0">
              <a:latin typeface="Roboto"/>
              <a:cs typeface="Roboto"/>
            </a:endParaRPr>
          </a:p>
        </p:txBody>
      </p:sp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27953" y="3654678"/>
            <a:ext cx="1401699" cy="1244600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2607945" y="4287342"/>
            <a:ext cx="3325495" cy="481330"/>
            <a:chOff x="2607945" y="4287342"/>
            <a:chExt cx="3325495" cy="481330"/>
          </a:xfrm>
        </p:grpSpPr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61183" y="4534865"/>
              <a:ext cx="3071875" cy="23336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607945" y="4287342"/>
              <a:ext cx="253365" cy="364490"/>
            </a:xfrm>
            <a:custGeom>
              <a:avLst/>
              <a:gdLst/>
              <a:ahLst/>
              <a:cxnLst/>
              <a:rect l="l" t="t" r="r" b="b"/>
              <a:pathLst>
                <a:path w="253364" h="364489">
                  <a:moveTo>
                    <a:pt x="206019" y="304169"/>
                  </a:moveTo>
                  <a:lnTo>
                    <a:pt x="178562" y="323100"/>
                  </a:lnTo>
                  <a:lnTo>
                    <a:pt x="253237" y="364197"/>
                  </a:lnTo>
                  <a:lnTo>
                    <a:pt x="246222" y="314629"/>
                  </a:lnTo>
                  <a:lnTo>
                    <a:pt x="213232" y="314629"/>
                  </a:lnTo>
                  <a:lnTo>
                    <a:pt x="206019" y="304169"/>
                  </a:lnTo>
                  <a:close/>
                </a:path>
                <a:path w="253364" h="364489">
                  <a:moveTo>
                    <a:pt x="213884" y="298746"/>
                  </a:moveTo>
                  <a:lnTo>
                    <a:pt x="206019" y="304169"/>
                  </a:lnTo>
                  <a:lnTo>
                    <a:pt x="213232" y="314629"/>
                  </a:lnTo>
                  <a:lnTo>
                    <a:pt x="221106" y="309219"/>
                  </a:lnTo>
                  <a:lnTo>
                    <a:pt x="213884" y="298746"/>
                  </a:lnTo>
                  <a:close/>
                </a:path>
                <a:path w="253364" h="364489">
                  <a:moveTo>
                    <a:pt x="241300" y="279844"/>
                  </a:moveTo>
                  <a:lnTo>
                    <a:pt x="213884" y="298746"/>
                  </a:lnTo>
                  <a:lnTo>
                    <a:pt x="221106" y="309219"/>
                  </a:lnTo>
                  <a:lnTo>
                    <a:pt x="213232" y="314629"/>
                  </a:lnTo>
                  <a:lnTo>
                    <a:pt x="246222" y="314629"/>
                  </a:lnTo>
                  <a:lnTo>
                    <a:pt x="241300" y="279844"/>
                  </a:lnTo>
                  <a:close/>
                </a:path>
                <a:path w="253364" h="364489">
                  <a:moveTo>
                    <a:pt x="7874" y="0"/>
                  </a:moveTo>
                  <a:lnTo>
                    <a:pt x="0" y="5410"/>
                  </a:lnTo>
                  <a:lnTo>
                    <a:pt x="206019" y="304169"/>
                  </a:lnTo>
                  <a:lnTo>
                    <a:pt x="213884" y="298746"/>
                  </a:lnTo>
                  <a:lnTo>
                    <a:pt x="7874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noProof="0" dirty="0"/>
              <a:t>Red</a:t>
            </a:r>
            <a:r>
              <a:rPr lang="es-PE" spc="25" noProof="0" dirty="0"/>
              <a:t> </a:t>
            </a:r>
            <a:r>
              <a:rPr lang="es-PE" noProof="0" dirty="0"/>
              <a:t>neuronal</a:t>
            </a:r>
            <a:r>
              <a:rPr lang="es-PE" spc="30" noProof="0" dirty="0"/>
              <a:t> </a:t>
            </a:r>
            <a:r>
              <a:rPr lang="es-PE" noProof="0" dirty="0" err="1"/>
              <a:t>feedforward</a:t>
            </a:r>
            <a:r>
              <a:rPr lang="es-PE" noProof="0" dirty="0"/>
              <a:t> con</a:t>
            </a:r>
            <a:r>
              <a:rPr lang="es-PE" spc="30" noProof="0" dirty="0"/>
              <a:t> </a:t>
            </a:r>
            <a:r>
              <a:rPr lang="es-PE" noProof="0" dirty="0"/>
              <a:t>p</a:t>
            </a:r>
            <a:r>
              <a:rPr lang="es-PE" spc="20" noProof="0" dirty="0"/>
              <a:t> </a:t>
            </a:r>
            <a:r>
              <a:rPr lang="es-PE" spc="-10" noProof="0" dirty="0" err="1"/>
              <a:t>layers</a:t>
            </a:r>
            <a:endParaRPr lang="es-PE" spc="-10" noProof="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95498" y="1701800"/>
            <a:ext cx="4019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2000" spc="-10" noProof="0" dirty="0">
                <a:latin typeface="Roboto"/>
                <a:cs typeface="Roboto"/>
              </a:rPr>
              <a:t>(...)</a:t>
            </a:r>
            <a:endParaRPr lang="es-PE" sz="2000" noProof="0" dirty="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5555" y="98450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lang="es-PE" sz="900" noProof="0" dirty="0">
              <a:latin typeface="Times New Roman"/>
              <a:cs typeface="Times New Roman"/>
            </a:endParaRPr>
          </a:p>
          <a:p>
            <a:pPr marL="147320">
              <a:lnSpc>
                <a:spcPct val="100000"/>
              </a:lnSpc>
            </a:pPr>
            <a:r>
              <a:rPr lang="es-PE" sz="2100" spc="-30" baseline="-15873" noProof="0" dirty="0">
                <a:solidFill>
                  <a:srgbClr val="1F1F1F"/>
                </a:solidFill>
                <a:latin typeface="Arial MT"/>
                <a:cs typeface="Arial MT"/>
              </a:rPr>
              <a:t>Z</a:t>
            </a:r>
            <a:r>
              <a:rPr lang="es-PE" sz="900" spc="-20" noProof="0" dirty="0">
                <a:solidFill>
                  <a:srgbClr val="1F1F1F"/>
                </a:solidFill>
                <a:latin typeface="Arial MT"/>
                <a:cs typeface="Arial MT"/>
              </a:rPr>
              <a:t>(p)</a:t>
            </a:r>
            <a:endParaRPr lang="es-PE" sz="900" noProof="0" dirty="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24377" y="22505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7" name="object 7"/>
          <p:cNvSpPr/>
          <p:nvPr/>
        </p:nvSpPr>
        <p:spPr>
          <a:xfrm>
            <a:off x="3024377" y="19624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8" name="object 8"/>
          <p:cNvSpPr/>
          <p:nvPr/>
        </p:nvSpPr>
        <p:spPr>
          <a:xfrm>
            <a:off x="3024377" y="157149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732" y="42799"/>
                </a:lnTo>
                <a:lnTo>
                  <a:pt x="214630" y="42799"/>
                </a:lnTo>
                <a:lnTo>
                  <a:pt x="214630" y="33274"/>
                </a:lnTo>
                <a:lnTo>
                  <a:pt x="268478" y="33274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30" y="42799"/>
                </a:lnTo>
                <a:lnTo>
                  <a:pt x="201930" y="33274"/>
                </a:lnTo>
                <a:close/>
              </a:path>
              <a:path w="278129" h="76200">
                <a:moveTo>
                  <a:pt x="268478" y="33274"/>
                </a:moveTo>
                <a:lnTo>
                  <a:pt x="214630" y="33274"/>
                </a:lnTo>
                <a:lnTo>
                  <a:pt x="214630" y="42799"/>
                </a:lnTo>
                <a:lnTo>
                  <a:pt x="268732" y="42799"/>
                </a:lnTo>
                <a:lnTo>
                  <a:pt x="278130" y="38100"/>
                </a:lnTo>
                <a:lnTo>
                  <a:pt x="268478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9" name="object 9"/>
          <p:cNvSpPr/>
          <p:nvPr/>
        </p:nvSpPr>
        <p:spPr>
          <a:xfrm>
            <a:off x="3024377" y="12103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0" name="object 10"/>
          <p:cNvSpPr/>
          <p:nvPr/>
        </p:nvSpPr>
        <p:spPr>
          <a:xfrm>
            <a:off x="3862578" y="22505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1" name="object 11"/>
          <p:cNvSpPr/>
          <p:nvPr/>
        </p:nvSpPr>
        <p:spPr>
          <a:xfrm>
            <a:off x="3862578" y="19624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2" name="object 12"/>
          <p:cNvSpPr/>
          <p:nvPr/>
        </p:nvSpPr>
        <p:spPr>
          <a:xfrm>
            <a:off x="3862578" y="157149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732" y="42799"/>
                </a:lnTo>
                <a:lnTo>
                  <a:pt x="214630" y="42799"/>
                </a:lnTo>
                <a:lnTo>
                  <a:pt x="214630" y="33274"/>
                </a:lnTo>
                <a:lnTo>
                  <a:pt x="268478" y="33274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30" y="42799"/>
                </a:lnTo>
                <a:lnTo>
                  <a:pt x="201930" y="33274"/>
                </a:lnTo>
                <a:close/>
              </a:path>
              <a:path w="278129" h="76200">
                <a:moveTo>
                  <a:pt x="268478" y="33274"/>
                </a:moveTo>
                <a:lnTo>
                  <a:pt x="214630" y="33274"/>
                </a:lnTo>
                <a:lnTo>
                  <a:pt x="214630" y="42799"/>
                </a:lnTo>
                <a:lnTo>
                  <a:pt x="268732" y="42799"/>
                </a:lnTo>
                <a:lnTo>
                  <a:pt x="278130" y="38100"/>
                </a:lnTo>
                <a:lnTo>
                  <a:pt x="268478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3" name="object 13"/>
          <p:cNvSpPr/>
          <p:nvPr/>
        </p:nvSpPr>
        <p:spPr>
          <a:xfrm>
            <a:off x="3862578" y="12103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4" name="object 14"/>
          <p:cNvSpPr/>
          <p:nvPr/>
        </p:nvSpPr>
        <p:spPr>
          <a:xfrm>
            <a:off x="4700778" y="22505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5" name="object 15"/>
          <p:cNvSpPr/>
          <p:nvPr/>
        </p:nvSpPr>
        <p:spPr>
          <a:xfrm>
            <a:off x="4700778" y="19624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6" name="object 16"/>
          <p:cNvSpPr/>
          <p:nvPr/>
        </p:nvSpPr>
        <p:spPr>
          <a:xfrm>
            <a:off x="4700778" y="157149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732" y="42799"/>
                </a:lnTo>
                <a:lnTo>
                  <a:pt x="214630" y="42799"/>
                </a:lnTo>
                <a:lnTo>
                  <a:pt x="214630" y="33274"/>
                </a:lnTo>
                <a:lnTo>
                  <a:pt x="268478" y="33274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30" y="42799"/>
                </a:lnTo>
                <a:lnTo>
                  <a:pt x="201930" y="33274"/>
                </a:lnTo>
                <a:close/>
              </a:path>
              <a:path w="278129" h="76200">
                <a:moveTo>
                  <a:pt x="268478" y="33274"/>
                </a:moveTo>
                <a:lnTo>
                  <a:pt x="214630" y="33274"/>
                </a:lnTo>
                <a:lnTo>
                  <a:pt x="214630" y="42799"/>
                </a:lnTo>
                <a:lnTo>
                  <a:pt x="268732" y="42799"/>
                </a:lnTo>
                <a:lnTo>
                  <a:pt x="278130" y="38100"/>
                </a:lnTo>
                <a:lnTo>
                  <a:pt x="268478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7" name="object 17"/>
          <p:cNvSpPr/>
          <p:nvPr/>
        </p:nvSpPr>
        <p:spPr>
          <a:xfrm>
            <a:off x="4700778" y="12103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8" name="object 18"/>
          <p:cNvSpPr txBox="1"/>
          <p:nvPr/>
        </p:nvSpPr>
        <p:spPr>
          <a:xfrm>
            <a:off x="4149344" y="9768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lang="es-PE" sz="900" noProof="0" dirty="0">
              <a:latin typeface="Times New Roman"/>
              <a:cs typeface="Times New Roman"/>
            </a:endParaRPr>
          </a:p>
          <a:p>
            <a:pPr marL="140970">
              <a:lnSpc>
                <a:spcPct val="100000"/>
              </a:lnSpc>
            </a:pPr>
            <a:r>
              <a:rPr lang="es-PE" sz="2100" spc="-30" baseline="-15873" noProof="0" dirty="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lang="es-PE" sz="900" spc="-20" noProof="0" dirty="0">
                <a:solidFill>
                  <a:srgbClr val="1F1F1F"/>
                </a:solidFill>
                <a:latin typeface="Arial MT"/>
                <a:cs typeface="Arial MT"/>
              </a:rPr>
              <a:t>(p)</a:t>
            </a:r>
            <a:endParaRPr lang="es-PE" sz="900" noProof="0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41852" y="2899410"/>
            <a:ext cx="6426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500" spc="-10" noProof="0" dirty="0" err="1">
                <a:latin typeface="Roboto"/>
                <a:cs typeface="Roboto"/>
              </a:rPr>
              <a:t>Layer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spc="-50" noProof="0" dirty="0">
                <a:latin typeface="Roboto"/>
                <a:cs typeface="Roboto"/>
              </a:rPr>
              <a:t>p</a:t>
            </a:r>
            <a:endParaRPr lang="es-PE" sz="1500" noProof="0" dirty="0">
              <a:latin typeface="Roboto"/>
              <a:cs typeface="Roboto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5965" y="2712516"/>
            <a:ext cx="1398269" cy="10637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82879" y="1122553"/>
            <a:ext cx="361315" cy="1283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69850">
              <a:lnSpc>
                <a:spcPct val="150200"/>
              </a:lnSpc>
              <a:spcBef>
                <a:spcPts val="100"/>
              </a:spcBef>
            </a:pPr>
            <a:r>
              <a:rPr lang="es-PE" sz="2250" spc="-37" baseline="12962" noProof="0" dirty="0">
                <a:latin typeface="Roboto"/>
                <a:cs typeface="Roboto"/>
              </a:rPr>
              <a:t>X</a:t>
            </a:r>
            <a:r>
              <a:rPr lang="es-PE" sz="1000" spc="-25" noProof="0" dirty="0">
                <a:latin typeface="Roboto"/>
                <a:cs typeface="Roboto"/>
              </a:rPr>
              <a:t>i,1 </a:t>
            </a:r>
            <a:r>
              <a:rPr lang="es-PE" sz="2250" spc="-37" baseline="12962" noProof="0" dirty="0">
                <a:latin typeface="Roboto"/>
                <a:cs typeface="Roboto"/>
              </a:rPr>
              <a:t>X</a:t>
            </a:r>
            <a:r>
              <a:rPr lang="es-PE" sz="1000" spc="-25" noProof="0" dirty="0">
                <a:latin typeface="Roboto"/>
                <a:cs typeface="Roboto"/>
              </a:rPr>
              <a:t>i,2</a:t>
            </a:r>
            <a:endParaRPr lang="es-PE" sz="1000" noProof="0" dirty="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25"/>
              </a:spcBef>
            </a:pPr>
            <a:r>
              <a:rPr lang="es-PE" sz="1000" spc="-50" noProof="0" dirty="0">
                <a:latin typeface="Roboto"/>
                <a:cs typeface="Roboto"/>
              </a:rPr>
              <a:t>…</a:t>
            </a:r>
            <a:endParaRPr lang="es-PE" sz="1000" noProof="0" dirty="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75"/>
              </a:spcBef>
            </a:pPr>
            <a:r>
              <a:rPr lang="es-PE" sz="2250" spc="-30" baseline="12962" noProof="0" dirty="0" err="1">
                <a:latin typeface="Roboto"/>
                <a:cs typeface="Roboto"/>
              </a:rPr>
              <a:t>X</a:t>
            </a:r>
            <a:r>
              <a:rPr lang="es-PE" sz="1000" spc="-20" noProof="0" dirty="0" err="1">
                <a:latin typeface="Roboto"/>
                <a:cs typeface="Roboto"/>
              </a:rPr>
              <a:t>i,m</a:t>
            </a:r>
            <a:endParaRPr lang="es-PE" sz="1000" noProof="0" dirty="0">
              <a:latin typeface="Roboto"/>
              <a:cs typeface="Robo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3803" y="9768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lang="es-PE" sz="900" noProof="0" dirty="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lang="es-PE" sz="2100" spc="-30" baseline="-15873" noProof="0" dirty="0">
                <a:solidFill>
                  <a:srgbClr val="1F1F1F"/>
                </a:solidFill>
                <a:latin typeface="Arial MT"/>
                <a:cs typeface="Arial MT"/>
              </a:rPr>
              <a:t>Z</a:t>
            </a:r>
            <a:r>
              <a:rPr lang="es-PE" sz="900" spc="-20" noProof="0" dirty="0">
                <a:solidFill>
                  <a:srgbClr val="1F1F1F"/>
                </a:solidFill>
                <a:latin typeface="Arial MT"/>
                <a:cs typeface="Arial MT"/>
              </a:rPr>
              <a:t>(1)</a:t>
            </a:r>
            <a:endParaRPr lang="es-PE" sz="900" noProof="0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60601" y="9768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s-PE" sz="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lang="es-PE" sz="900" noProof="0" dirty="0">
              <a:latin typeface="Times New Roman"/>
              <a:cs typeface="Times New Roman"/>
            </a:endParaRPr>
          </a:p>
          <a:p>
            <a:pPr marL="140970">
              <a:lnSpc>
                <a:spcPct val="100000"/>
              </a:lnSpc>
            </a:pPr>
            <a:r>
              <a:rPr lang="es-PE" sz="2100" spc="-30" baseline="-15873" noProof="0" dirty="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lang="es-PE" sz="900" spc="-20" noProof="0" dirty="0">
                <a:solidFill>
                  <a:srgbClr val="1F1F1F"/>
                </a:solidFill>
                <a:latin typeface="Arial MT"/>
                <a:cs typeface="Arial MT"/>
              </a:rPr>
              <a:t>(1)</a:t>
            </a:r>
            <a:endParaRPr lang="es-PE" sz="900" noProof="0" dirty="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82091" y="2250567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25" name="object 25"/>
          <p:cNvSpPr/>
          <p:nvPr/>
        </p:nvSpPr>
        <p:spPr>
          <a:xfrm>
            <a:off x="482091" y="1962404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26" name="object 26"/>
          <p:cNvSpPr/>
          <p:nvPr/>
        </p:nvSpPr>
        <p:spPr>
          <a:xfrm>
            <a:off x="482091" y="1571497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300" y="42799"/>
                </a:lnTo>
                <a:lnTo>
                  <a:pt x="368198" y="42799"/>
                </a:lnTo>
                <a:lnTo>
                  <a:pt x="368198" y="33274"/>
                </a:lnTo>
                <a:lnTo>
                  <a:pt x="422046" y="33274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355498" y="42799"/>
                </a:lnTo>
                <a:lnTo>
                  <a:pt x="355498" y="33274"/>
                </a:lnTo>
                <a:close/>
              </a:path>
              <a:path w="431800" h="76200">
                <a:moveTo>
                  <a:pt x="422046" y="33274"/>
                </a:moveTo>
                <a:lnTo>
                  <a:pt x="368198" y="33274"/>
                </a:lnTo>
                <a:lnTo>
                  <a:pt x="368198" y="42799"/>
                </a:lnTo>
                <a:lnTo>
                  <a:pt x="422300" y="42799"/>
                </a:lnTo>
                <a:lnTo>
                  <a:pt x="431698" y="38100"/>
                </a:lnTo>
                <a:lnTo>
                  <a:pt x="422046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27" name="object 27"/>
          <p:cNvSpPr/>
          <p:nvPr/>
        </p:nvSpPr>
        <p:spPr>
          <a:xfrm>
            <a:off x="482091" y="1210310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28" name="object 28"/>
          <p:cNvSpPr/>
          <p:nvPr/>
        </p:nvSpPr>
        <p:spPr>
          <a:xfrm>
            <a:off x="1473835" y="22505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29" name="object 29"/>
          <p:cNvSpPr/>
          <p:nvPr/>
        </p:nvSpPr>
        <p:spPr>
          <a:xfrm>
            <a:off x="1473835" y="19624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0" name="object 30"/>
          <p:cNvSpPr/>
          <p:nvPr/>
        </p:nvSpPr>
        <p:spPr>
          <a:xfrm>
            <a:off x="1473835" y="157149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8" y="33274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30" h="76200">
                <a:moveTo>
                  <a:pt x="268478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8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1" name="object 31"/>
          <p:cNvSpPr/>
          <p:nvPr/>
        </p:nvSpPr>
        <p:spPr>
          <a:xfrm>
            <a:off x="1473835" y="12103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2" name="object 32"/>
          <p:cNvSpPr/>
          <p:nvPr/>
        </p:nvSpPr>
        <p:spPr>
          <a:xfrm>
            <a:off x="2312035" y="22505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3" name="object 33"/>
          <p:cNvSpPr/>
          <p:nvPr/>
        </p:nvSpPr>
        <p:spPr>
          <a:xfrm>
            <a:off x="2312035" y="19624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4" name="object 34"/>
          <p:cNvSpPr/>
          <p:nvPr/>
        </p:nvSpPr>
        <p:spPr>
          <a:xfrm>
            <a:off x="2312035" y="157149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7" y="33274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30" h="76200">
                <a:moveTo>
                  <a:pt x="268477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7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35" name="object 35"/>
          <p:cNvSpPr/>
          <p:nvPr/>
        </p:nvSpPr>
        <p:spPr>
          <a:xfrm>
            <a:off x="2312035" y="12103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grpSp>
        <p:nvGrpSpPr>
          <p:cNvPr id="36" name="object 36"/>
          <p:cNvGrpSpPr/>
          <p:nvPr/>
        </p:nvGrpSpPr>
        <p:grpSpPr>
          <a:xfrm>
            <a:off x="913803" y="2592070"/>
            <a:ext cx="1398270" cy="586105"/>
            <a:chOff x="913803" y="2592070"/>
            <a:chExt cx="1398270" cy="586105"/>
          </a:xfrm>
        </p:grpSpPr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803" y="2712516"/>
              <a:ext cx="1398270" cy="10637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004849" y="2592070"/>
              <a:ext cx="76200" cy="586105"/>
            </a:xfrm>
            <a:custGeom>
              <a:avLst/>
              <a:gdLst/>
              <a:ahLst/>
              <a:cxnLst/>
              <a:rect l="l" t="t" r="r" b="b"/>
              <a:pathLst>
                <a:path w="76200" h="586105">
                  <a:moveTo>
                    <a:pt x="33337" y="509397"/>
                  </a:moveTo>
                  <a:lnTo>
                    <a:pt x="0" y="509397"/>
                  </a:lnTo>
                  <a:lnTo>
                    <a:pt x="38100" y="585597"/>
                  </a:lnTo>
                  <a:lnTo>
                    <a:pt x="69850" y="522097"/>
                  </a:lnTo>
                  <a:lnTo>
                    <a:pt x="33337" y="522097"/>
                  </a:lnTo>
                  <a:lnTo>
                    <a:pt x="33337" y="509397"/>
                  </a:lnTo>
                  <a:close/>
                </a:path>
                <a:path w="76200" h="586105">
                  <a:moveTo>
                    <a:pt x="42862" y="0"/>
                  </a:moveTo>
                  <a:lnTo>
                    <a:pt x="33337" y="0"/>
                  </a:lnTo>
                  <a:lnTo>
                    <a:pt x="33337" y="522097"/>
                  </a:lnTo>
                  <a:lnTo>
                    <a:pt x="42862" y="522097"/>
                  </a:lnTo>
                  <a:lnTo>
                    <a:pt x="42862" y="0"/>
                  </a:lnTo>
                  <a:close/>
                </a:path>
                <a:path w="76200" h="586105">
                  <a:moveTo>
                    <a:pt x="76200" y="509397"/>
                  </a:moveTo>
                  <a:lnTo>
                    <a:pt x="42862" y="509397"/>
                  </a:lnTo>
                  <a:lnTo>
                    <a:pt x="42862" y="522097"/>
                  </a:lnTo>
                  <a:lnTo>
                    <a:pt x="69850" y="522097"/>
                  </a:lnTo>
                  <a:lnTo>
                    <a:pt x="76200" y="509397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80084" y="3172206"/>
            <a:ext cx="4978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s-PE" sz="1400" spc="-10" noProof="0" dirty="0" err="1">
                <a:latin typeface="Roboto"/>
                <a:cs typeface="Roboto"/>
              </a:rPr>
              <a:t>Layer</a:t>
            </a:r>
            <a:r>
              <a:rPr lang="es-PE" sz="1400" spc="-10" noProof="0" dirty="0">
                <a:latin typeface="Roboto"/>
                <a:cs typeface="Roboto"/>
              </a:rPr>
              <a:t> </a:t>
            </a:r>
            <a:r>
              <a:rPr lang="es-PE" sz="1400" spc="-25" noProof="0" dirty="0">
                <a:latin typeface="Roboto"/>
                <a:cs typeface="Roboto"/>
              </a:rPr>
              <a:t>Lineal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147823" y="2602102"/>
            <a:ext cx="76200" cy="575945"/>
          </a:xfrm>
          <a:custGeom>
            <a:avLst/>
            <a:gdLst/>
            <a:ahLst/>
            <a:cxnLst/>
            <a:rect l="l" t="t" r="r" b="b"/>
            <a:pathLst>
              <a:path w="76200" h="575944">
                <a:moveTo>
                  <a:pt x="33400" y="499491"/>
                </a:moveTo>
                <a:lnTo>
                  <a:pt x="0" y="499491"/>
                </a:lnTo>
                <a:lnTo>
                  <a:pt x="38100" y="575691"/>
                </a:lnTo>
                <a:lnTo>
                  <a:pt x="69850" y="512191"/>
                </a:lnTo>
                <a:lnTo>
                  <a:pt x="33400" y="512191"/>
                </a:lnTo>
                <a:lnTo>
                  <a:pt x="33400" y="499491"/>
                </a:lnTo>
                <a:close/>
              </a:path>
              <a:path w="76200" h="575944">
                <a:moveTo>
                  <a:pt x="42925" y="0"/>
                </a:moveTo>
                <a:lnTo>
                  <a:pt x="33400" y="0"/>
                </a:lnTo>
                <a:lnTo>
                  <a:pt x="33400" y="512191"/>
                </a:lnTo>
                <a:lnTo>
                  <a:pt x="42925" y="512191"/>
                </a:lnTo>
                <a:lnTo>
                  <a:pt x="42925" y="0"/>
                </a:lnTo>
                <a:close/>
              </a:path>
              <a:path w="76200" h="575944">
                <a:moveTo>
                  <a:pt x="76200" y="499491"/>
                </a:moveTo>
                <a:lnTo>
                  <a:pt x="42925" y="499491"/>
                </a:lnTo>
                <a:lnTo>
                  <a:pt x="42925" y="512191"/>
                </a:lnTo>
                <a:lnTo>
                  <a:pt x="69850" y="512191"/>
                </a:lnTo>
                <a:lnTo>
                  <a:pt x="76200" y="499491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41" name="object 41"/>
          <p:cNvSpPr txBox="1"/>
          <p:nvPr/>
        </p:nvSpPr>
        <p:spPr>
          <a:xfrm>
            <a:off x="1279397" y="2853548"/>
            <a:ext cx="1287780" cy="5568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lang="es-PE" sz="1500" spc="-10" noProof="0" dirty="0" err="1">
                <a:latin typeface="Roboto"/>
                <a:cs typeface="Roboto"/>
              </a:rPr>
              <a:t>Layer</a:t>
            </a:r>
            <a:r>
              <a:rPr lang="es-PE" sz="1500" spc="-55" noProof="0" dirty="0">
                <a:latin typeface="Roboto"/>
                <a:cs typeface="Roboto"/>
              </a:rPr>
              <a:t> </a:t>
            </a:r>
            <a:r>
              <a:rPr lang="es-PE" sz="1500" spc="-50" noProof="0" dirty="0">
                <a:latin typeface="Roboto"/>
                <a:cs typeface="Roboto"/>
              </a:rPr>
              <a:t>1</a:t>
            </a:r>
            <a:endParaRPr lang="es-PE" sz="1500" noProof="0" dirty="0">
              <a:latin typeface="Roboto"/>
              <a:cs typeface="Roboto"/>
            </a:endParaRPr>
          </a:p>
          <a:p>
            <a:pPr marL="445134">
              <a:lnSpc>
                <a:spcPct val="100000"/>
              </a:lnSpc>
              <a:spcBef>
                <a:spcPts val="340"/>
              </a:spcBef>
            </a:pPr>
            <a:r>
              <a:rPr lang="es-PE" sz="1400" spc="-10" noProof="0" dirty="0">
                <a:latin typeface="Roboto"/>
                <a:cs typeface="Roboto"/>
              </a:rPr>
              <a:t>Activación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07454" y="3572002"/>
            <a:ext cx="6821805" cy="85725"/>
          </a:xfrm>
          <a:custGeom>
            <a:avLst/>
            <a:gdLst/>
            <a:ahLst/>
            <a:cxnLst/>
            <a:rect l="l" t="t" r="r" b="b"/>
            <a:pathLst>
              <a:path w="6821805" h="85725">
                <a:moveTo>
                  <a:pt x="6735914" y="0"/>
                </a:moveTo>
                <a:lnTo>
                  <a:pt x="6735914" y="85725"/>
                </a:lnTo>
                <a:lnTo>
                  <a:pt x="6793149" y="57150"/>
                </a:lnTo>
                <a:lnTo>
                  <a:pt x="6750265" y="57150"/>
                </a:lnTo>
                <a:lnTo>
                  <a:pt x="6750265" y="28575"/>
                </a:lnTo>
                <a:lnTo>
                  <a:pt x="6792980" y="28575"/>
                </a:lnTo>
                <a:lnTo>
                  <a:pt x="6735914" y="0"/>
                </a:lnTo>
                <a:close/>
              </a:path>
              <a:path w="6821805" h="85725">
                <a:moveTo>
                  <a:pt x="673591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6735914" y="57150"/>
                </a:lnTo>
                <a:lnTo>
                  <a:pt x="6735914" y="28575"/>
                </a:lnTo>
                <a:close/>
              </a:path>
              <a:path w="6821805" h="85725">
                <a:moveTo>
                  <a:pt x="6792980" y="28575"/>
                </a:moveTo>
                <a:lnTo>
                  <a:pt x="6750265" y="28575"/>
                </a:lnTo>
                <a:lnTo>
                  <a:pt x="6750265" y="57150"/>
                </a:lnTo>
                <a:lnTo>
                  <a:pt x="6793149" y="57150"/>
                </a:lnTo>
                <a:lnTo>
                  <a:pt x="6821639" y="42926"/>
                </a:lnTo>
                <a:lnTo>
                  <a:pt x="6792980" y="28575"/>
                </a:lnTo>
                <a:close/>
              </a:path>
            </a:pathLst>
          </a:custGeom>
          <a:solidFill>
            <a:srgbClr val="0E9D57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43" name="object 43"/>
          <p:cNvSpPr txBox="1"/>
          <p:nvPr/>
        </p:nvSpPr>
        <p:spPr>
          <a:xfrm>
            <a:off x="7457313" y="3466541"/>
            <a:ext cx="68199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1400" b="1" spc="-10" noProof="0" dirty="0">
                <a:solidFill>
                  <a:srgbClr val="0E9D57"/>
                </a:solidFill>
                <a:latin typeface="Roboto"/>
                <a:cs typeface="Roboto"/>
              </a:rPr>
              <a:t>Forward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47929" y="4005440"/>
            <a:ext cx="6871334" cy="85725"/>
          </a:xfrm>
          <a:custGeom>
            <a:avLst/>
            <a:gdLst/>
            <a:ahLst/>
            <a:cxnLst/>
            <a:rect l="l" t="t" r="r" b="b"/>
            <a:pathLst>
              <a:path w="6871334" h="85725">
                <a:moveTo>
                  <a:pt x="85725" y="0"/>
                </a:moveTo>
                <a:lnTo>
                  <a:pt x="0" y="42862"/>
                </a:lnTo>
                <a:lnTo>
                  <a:pt x="85725" y="85724"/>
                </a:lnTo>
                <a:lnTo>
                  <a:pt x="85725" y="57149"/>
                </a:lnTo>
                <a:lnTo>
                  <a:pt x="71412" y="57149"/>
                </a:lnTo>
                <a:lnTo>
                  <a:pt x="71424" y="28574"/>
                </a:lnTo>
                <a:lnTo>
                  <a:pt x="85725" y="28574"/>
                </a:lnTo>
                <a:lnTo>
                  <a:pt x="85725" y="0"/>
                </a:lnTo>
                <a:close/>
              </a:path>
              <a:path w="6871334" h="85725">
                <a:moveTo>
                  <a:pt x="85725" y="28574"/>
                </a:moveTo>
                <a:lnTo>
                  <a:pt x="71424" y="28574"/>
                </a:lnTo>
                <a:lnTo>
                  <a:pt x="71412" y="57149"/>
                </a:lnTo>
                <a:lnTo>
                  <a:pt x="85725" y="57149"/>
                </a:lnTo>
                <a:lnTo>
                  <a:pt x="85725" y="28574"/>
                </a:lnTo>
                <a:close/>
              </a:path>
              <a:path w="6871334" h="85725">
                <a:moveTo>
                  <a:pt x="6871258" y="28574"/>
                </a:moveTo>
                <a:lnTo>
                  <a:pt x="85725" y="28574"/>
                </a:lnTo>
                <a:lnTo>
                  <a:pt x="85725" y="57149"/>
                </a:lnTo>
                <a:lnTo>
                  <a:pt x="6871258" y="57149"/>
                </a:lnTo>
                <a:lnTo>
                  <a:pt x="6871258" y="28574"/>
                </a:lnTo>
                <a:close/>
              </a:path>
            </a:pathLst>
          </a:custGeom>
          <a:solidFill>
            <a:srgbClr val="DB4437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45" name="object 45"/>
          <p:cNvSpPr txBox="1"/>
          <p:nvPr/>
        </p:nvSpPr>
        <p:spPr>
          <a:xfrm>
            <a:off x="7457313" y="3918915"/>
            <a:ext cx="1389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400" b="1" spc="-10" noProof="0" dirty="0" err="1">
                <a:solidFill>
                  <a:srgbClr val="DB4437"/>
                </a:solidFill>
                <a:latin typeface="Roboto"/>
                <a:cs typeface="Roboto"/>
              </a:rPr>
              <a:t>Backpropagation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993891" y="1569834"/>
            <a:ext cx="897890" cy="406400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715"/>
              </a:spcBef>
            </a:pPr>
            <a:r>
              <a:rPr lang="es-PE" sz="1400" spc="-20" noProof="0" dirty="0" err="1">
                <a:solidFill>
                  <a:srgbClr val="1F1F1F"/>
                </a:solidFill>
                <a:latin typeface="Arial MT"/>
                <a:cs typeface="Arial MT"/>
              </a:rPr>
              <a:t>Loss</a:t>
            </a:r>
            <a:endParaRPr lang="es-PE" sz="1400" noProof="0" dirty="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362572" y="1975739"/>
            <a:ext cx="160655" cy="616585"/>
            <a:chOff x="6362572" y="1975739"/>
            <a:chExt cx="160655" cy="616585"/>
          </a:xfrm>
        </p:grpSpPr>
        <p:sp>
          <p:nvSpPr>
            <p:cNvPr id="48" name="object 48"/>
            <p:cNvSpPr/>
            <p:nvPr/>
          </p:nvSpPr>
          <p:spPr>
            <a:xfrm>
              <a:off x="6404609" y="1975739"/>
              <a:ext cx="76200" cy="424180"/>
            </a:xfrm>
            <a:custGeom>
              <a:avLst/>
              <a:gdLst/>
              <a:ahLst/>
              <a:cxnLst/>
              <a:rect l="l" t="t" r="r" b="b"/>
              <a:pathLst>
                <a:path w="76200" h="424180">
                  <a:moveTo>
                    <a:pt x="42925" y="63500"/>
                  </a:moveTo>
                  <a:lnTo>
                    <a:pt x="33400" y="63500"/>
                  </a:lnTo>
                  <a:lnTo>
                    <a:pt x="33400" y="423672"/>
                  </a:lnTo>
                  <a:lnTo>
                    <a:pt x="42925" y="423672"/>
                  </a:lnTo>
                  <a:lnTo>
                    <a:pt x="42925" y="63500"/>
                  </a:lnTo>
                  <a:close/>
                </a:path>
                <a:path w="76200" h="424180">
                  <a:moveTo>
                    <a:pt x="38100" y="0"/>
                  </a:moveTo>
                  <a:lnTo>
                    <a:pt x="0" y="76200"/>
                  </a:lnTo>
                  <a:lnTo>
                    <a:pt x="33400" y="76200"/>
                  </a:lnTo>
                  <a:lnTo>
                    <a:pt x="33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24180">
                  <a:moveTo>
                    <a:pt x="69850" y="63500"/>
                  </a:moveTo>
                  <a:lnTo>
                    <a:pt x="42925" y="63500"/>
                  </a:lnTo>
                  <a:lnTo>
                    <a:pt x="429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2572" y="2441257"/>
              <a:ext cx="160337" cy="150812"/>
            </a:xfrm>
            <a:prstGeom prst="rect">
              <a:avLst/>
            </a:prstGeom>
          </p:spPr>
        </p:pic>
      </p:grpSp>
      <p:sp>
        <p:nvSpPr>
          <p:cNvPr id="50" name="object 50"/>
          <p:cNvSpPr/>
          <p:nvPr/>
        </p:nvSpPr>
        <p:spPr>
          <a:xfrm>
            <a:off x="6891528" y="1732407"/>
            <a:ext cx="485775" cy="76200"/>
          </a:xfrm>
          <a:custGeom>
            <a:avLst/>
            <a:gdLst/>
            <a:ahLst/>
            <a:cxnLst/>
            <a:rect l="l" t="t" r="r" b="b"/>
            <a:pathLst>
              <a:path w="485775" h="76200">
                <a:moveTo>
                  <a:pt x="477894" y="33273"/>
                </a:moveTo>
                <a:lnTo>
                  <a:pt x="422148" y="33273"/>
                </a:lnTo>
                <a:lnTo>
                  <a:pt x="422275" y="42671"/>
                </a:lnTo>
                <a:lnTo>
                  <a:pt x="409638" y="42846"/>
                </a:lnTo>
                <a:lnTo>
                  <a:pt x="410082" y="76200"/>
                </a:lnTo>
                <a:lnTo>
                  <a:pt x="485775" y="37083"/>
                </a:lnTo>
                <a:lnTo>
                  <a:pt x="477894" y="33273"/>
                </a:lnTo>
                <a:close/>
              </a:path>
              <a:path w="485775" h="76200">
                <a:moveTo>
                  <a:pt x="409512" y="33445"/>
                </a:moveTo>
                <a:lnTo>
                  <a:pt x="0" y="38988"/>
                </a:lnTo>
                <a:lnTo>
                  <a:pt x="126" y="48513"/>
                </a:lnTo>
                <a:lnTo>
                  <a:pt x="409638" y="42846"/>
                </a:lnTo>
                <a:lnTo>
                  <a:pt x="409512" y="33445"/>
                </a:lnTo>
                <a:close/>
              </a:path>
              <a:path w="485775" h="76200">
                <a:moveTo>
                  <a:pt x="422148" y="33273"/>
                </a:moveTo>
                <a:lnTo>
                  <a:pt x="409512" y="33445"/>
                </a:lnTo>
                <a:lnTo>
                  <a:pt x="409638" y="42846"/>
                </a:lnTo>
                <a:lnTo>
                  <a:pt x="422275" y="42671"/>
                </a:lnTo>
                <a:lnTo>
                  <a:pt x="422148" y="33273"/>
                </a:lnTo>
                <a:close/>
              </a:path>
              <a:path w="485775" h="76200">
                <a:moveTo>
                  <a:pt x="409067" y="0"/>
                </a:moveTo>
                <a:lnTo>
                  <a:pt x="409510" y="33273"/>
                </a:lnTo>
                <a:lnTo>
                  <a:pt x="409512" y="33445"/>
                </a:lnTo>
                <a:lnTo>
                  <a:pt x="422148" y="33273"/>
                </a:lnTo>
                <a:lnTo>
                  <a:pt x="477894" y="33273"/>
                </a:lnTo>
                <a:lnTo>
                  <a:pt x="409067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pic>
        <p:nvPicPr>
          <p:cNvPr id="51" name="object 5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10653" y="1621853"/>
            <a:ext cx="1004887" cy="325437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4984369" y="976883"/>
            <a:ext cx="541655" cy="1615440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vert" wrap="square" lIns="0" tIns="1574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40"/>
              </a:spcBef>
            </a:pPr>
            <a:r>
              <a:rPr lang="es-PE" sz="1400" spc="-10" noProof="0" dirty="0">
                <a:solidFill>
                  <a:srgbClr val="1F1F1F"/>
                </a:solidFill>
                <a:latin typeface="Arial MT"/>
                <a:cs typeface="Arial MT"/>
              </a:rPr>
              <a:t>Output</a:t>
            </a:r>
            <a:endParaRPr lang="es-PE" sz="1400" noProof="0" dirty="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516879" y="1507997"/>
            <a:ext cx="485775" cy="309245"/>
            <a:chOff x="5516879" y="1507997"/>
            <a:chExt cx="485775" cy="309245"/>
          </a:xfrm>
        </p:grpSpPr>
        <p:sp>
          <p:nvSpPr>
            <p:cNvPr id="54" name="object 54"/>
            <p:cNvSpPr/>
            <p:nvPr/>
          </p:nvSpPr>
          <p:spPr>
            <a:xfrm>
              <a:off x="5516879" y="1740915"/>
              <a:ext cx="485775" cy="76200"/>
            </a:xfrm>
            <a:custGeom>
              <a:avLst/>
              <a:gdLst/>
              <a:ahLst/>
              <a:cxnLst/>
              <a:rect l="l" t="t" r="r" b="b"/>
              <a:pathLst>
                <a:path w="485775" h="76200">
                  <a:moveTo>
                    <a:pt x="477866" y="33147"/>
                  </a:moveTo>
                  <a:lnTo>
                    <a:pt x="422148" y="33147"/>
                  </a:lnTo>
                  <a:lnTo>
                    <a:pt x="422275" y="42672"/>
                  </a:lnTo>
                  <a:lnTo>
                    <a:pt x="409639" y="42843"/>
                  </a:lnTo>
                  <a:lnTo>
                    <a:pt x="410083" y="76073"/>
                  </a:lnTo>
                  <a:lnTo>
                    <a:pt x="485775" y="36957"/>
                  </a:lnTo>
                  <a:lnTo>
                    <a:pt x="477866" y="33147"/>
                  </a:lnTo>
                  <a:close/>
                </a:path>
                <a:path w="485775" h="76200">
                  <a:moveTo>
                    <a:pt x="409511" y="33318"/>
                  </a:moveTo>
                  <a:lnTo>
                    <a:pt x="0" y="38862"/>
                  </a:lnTo>
                  <a:lnTo>
                    <a:pt x="50" y="42672"/>
                  </a:lnTo>
                  <a:lnTo>
                    <a:pt x="127" y="48387"/>
                  </a:lnTo>
                  <a:lnTo>
                    <a:pt x="409639" y="42843"/>
                  </a:lnTo>
                  <a:lnTo>
                    <a:pt x="409560" y="36957"/>
                  </a:lnTo>
                  <a:lnTo>
                    <a:pt x="409511" y="33318"/>
                  </a:lnTo>
                  <a:close/>
                </a:path>
                <a:path w="485775" h="76200">
                  <a:moveTo>
                    <a:pt x="422148" y="33147"/>
                  </a:moveTo>
                  <a:lnTo>
                    <a:pt x="409511" y="33318"/>
                  </a:lnTo>
                  <a:lnTo>
                    <a:pt x="409560" y="36957"/>
                  </a:lnTo>
                  <a:lnTo>
                    <a:pt x="409639" y="42843"/>
                  </a:lnTo>
                  <a:lnTo>
                    <a:pt x="422275" y="42672"/>
                  </a:lnTo>
                  <a:lnTo>
                    <a:pt x="422148" y="33147"/>
                  </a:lnTo>
                  <a:close/>
                </a:path>
                <a:path w="485775" h="76200">
                  <a:moveTo>
                    <a:pt x="409067" y="0"/>
                  </a:moveTo>
                  <a:lnTo>
                    <a:pt x="409509" y="33147"/>
                  </a:lnTo>
                  <a:lnTo>
                    <a:pt x="409511" y="33318"/>
                  </a:lnTo>
                  <a:lnTo>
                    <a:pt x="422148" y="33147"/>
                  </a:lnTo>
                  <a:lnTo>
                    <a:pt x="477866" y="33147"/>
                  </a:lnTo>
                  <a:lnTo>
                    <a:pt x="409067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9566" y="1507997"/>
              <a:ext cx="160337" cy="203200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5697346" y="720026"/>
            <a:ext cx="1443355" cy="741680"/>
            <a:chOff x="5697346" y="720026"/>
            <a:chExt cx="1443355" cy="741680"/>
          </a:xfrm>
        </p:grpSpPr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97346" y="720026"/>
              <a:ext cx="1442974" cy="32543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721603" y="1026540"/>
              <a:ext cx="76200" cy="435609"/>
            </a:xfrm>
            <a:custGeom>
              <a:avLst/>
              <a:gdLst/>
              <a:ahLst/>
              <a:cxnLst/>
              <a:rect l="l" t="t" r="r" b="b"/>
              <a:pathLst>
                <a:path w="76200" h="435609">
                  <a:moveTo>
                    <a:pt x="42925" y="63500"/>
                  </a:moveTo>
                  <a:lnTo>
                    <a:pt x="33400" y="63500"/>
                  </a:lnTo>
                  <a:lnTo>
                    <a:pt x="33400" y="435101"/>
                  </a:lnTo>
                  <a:lnTo>
                    <a:pt x="42925" y="435101"/>
                  </a:lnTo>
                  <a:lnTo>
                    <a:pt x="42925" y="63500"/>
                  </a:lnTo>
                  <a:close/>
                </a:path>
                <a:path w="76200" h="435609">
                  <a:moveTo>
                    <a:pt x="38100" y="0"/>
                  </a:moveTo>
                  <a:lnTo>
                    <a:pt x="0" y="76200"/>
                  </a:lnTo>
                  <a:lnTo>
                    <a:pt x="33400" y="76200"/>
                  </a:lnTo>
                  <a:lnTo>
                    <a:pt x="33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35609">
                  <a:moveTo>
                    <a:pt x="69850" y="63500"/>
                  </a:moveTo>
                  <a:lnTo>
                    <a:pt x="42925" y="63500"/>
                  </a:lnTo>
                  <a:lnTo>
                    <a:pt x="429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26821" y="4552594"/>
            <a:ext cx="39630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400" spc="-10" noProof="0" dirty="0">
                <a:latin typeface="Roboto"/>
                <a:cs typeface="Roboto"/>
              </a:rPr>
              <a:t>Resolvemos</a:t>
            </a:r>
            <a:r>
              <a:rPr lang="es-PE" sz="1400" spc="-25" noProof="0" dirty="0">
                <a:latin typeface="Roboto"/>
                <a:cs typeface="Roboto"/>
              </a:rPr>
              <a:t> </a:t>
            </a:r>
            <a:r>
              <a:rPr lang="es-PE" sz="1400" spc="-20" noProof="0" dirty="0" err="1">
                <a:latin typeface="Roboto"/>
                <a:cs typeface="Roboto"/>
              </a:rPr>
              <a:t>backpropagation</a:t>
            </a:r>
            <a:r>
              <a:rPr lang="es-PE" sz="1400" spc="-20" noProof="0" dirty="0">
                <a:latin typeface="Roboto"/>
                <a:cs typeface="Roboto"/>
              </a:rPr>
              <a:t> </a:t>
            </a:r>
            <a:r>
              <a:rPr lang="es-PE" sz="1400" noProof="0" dirty="0">
                <a:latin typeface="Roboto"/>
                <a:cs typeface="Roboto"/>
              </a:rPr>
              <a:t>en forma</a:t>
            </a:r>
            <a:r>
              <a:rPr lang="es-PE" sz="1400" spc="-15" noProof="0" dirty="0">
                <a:latin typeface="Roboto"/>
                <a:cs typeface="Roboto"/>
              </a:rPr>
              <a:t> </a:t>
            </a:r>
            <a:r>
              <a:rPr lang="es-PE" sz="1400" spc="-10" noProof="0" dirty="0">
                <a:latin typeface="Roboto"/>
                <a:cs typeface="Roboto"/>
              </a:rPr>
              <a:t>numérica:</a:t>
            </a:r>
            <a:endParaRPr lang="es-PE" sz="1400" noProof="0" dirty="0">
              <a:latin typeface="Roboto"/>
              <a:cs typeface="Roboto"/>
            </a:endParaRPr>
          </a:p>
        </p:txBody>
      </p:sp>
      <p:pic>
        <p:nvPicPr>
          <p:cNvPr id="60" name="object 6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03369" y="4561814"/>
            <a:ext cx="2312670" cy="2400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dirty="0"/>
              <a:t>Red</a:t>
            </a:r>
            <a:r>
              <a:rPr lang="es-PE" spc="25" dirty="0"/>
              <a:t> </a:t>
            </a:r>
            <a:r>
              <a:rPr lang="es-PE" dirty="0"/>
              <a:t>neuronal</a:t>
            </a:r>
            <a:r>
              <a:rPr lang="es-PE" spc="30" dirty="0"/>
              <a:t> </a:t>
            </a:r>
            <a:r>
              <a:rPr lang="es-PE" dirty="0" err="1"/>
              <a:t>feedforward</a:t>
            </a:r>
            <a:endParaRPr lang="es-PE" spc="-10" noProof="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96047" y="657161"/>
            <a:ext cx="1448435" cy="1751330"/>
            <a:chOff x="1396047" y="657161"/>
            <a:chExt cx="1448435" cy="1751330"/>
          </a:xfrm>
        </p:grpSpPr>
        <p:sp>
          <p:nvSpPr>
            <p:cNvPr id="5" name="object 5"/>
            <p:cNvSpPr/>
            <p:nvPr/>
          </p:nvSpPr>
          <p:spPr>
            <a:xfrm>
              <a:off x="1410335" y="671448"/>
              <a:ext cx="1419860" cy="1722755"/>
            </a:xfrm>
            <a:custGeom>
              <a:avLst/>
              <a:gdLst/>
              <a:ahLst/>
              <a:cxnLst/>
              <a:rect l="l" t="t" r="r" b="b"/>
              <a:pathLst>
                <a:path w="1419860" h="1722755">
                  <a:moveTo>
                    <a:pt x="0" y="1722246"/>
                  </a:moveTo>
                  <a:lnTo>
                    <a:pt x="1419860" y="1722246"/>
                  </a:lnTo>
                  <a:lnTo>
                    <a:pt x="1419860" y="0"/>
                  </a:lnTo>
                  <a:lnTo>
                    <a:pt x="0" y="0"/>
                  </a:lnTo>
                  <a:lnTo>
                    <a:pt x="0" y="1722246"/>
                  </a:lnTo>
                  <a:close/>
                </a:path>
              </a:pathLst>
            </a:custGeom>
            <a:ln w="28575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519555" y="792479"/>
              <a:ext cx="1191895" cy="675640"/>
            </a:xfrm>
            <a:custGeom>
              <a:avLst/>
              <a:gdLst/>
              <a:ahLst/>
              <a:cxnLst/>
              <a:rect l="l" t="t" r="r" b="b"/>
              <a:pathLst>
                <a:path w="1191895" h="675640">
                  <a:moveTo>
                    <a:pt x="0" y="337693"/>
                  </a:moveTo>
                  <a:lnTo>
                    <a:pt x="12107" y="269618"/>
                  </a:lnTo>
                  <a:lnTo>
                    <a:pt x="46831" y="206222"/>
                  </a:lnTo>
                  <a:lnTo>
                    <a:pt x="71924" y="176701"/>
                  </a:lnTo>
                  <a:lnTo>
                    <a:pt x="101771" y="148859"/>
                  </a:lnTo>
                  <a:lnTo>
                    <a:pt x="136073" y="122863"/>
                  </a:lnTo>
                  <a:lnTo>
                    <a:pt x="174529" y="98885"/>
                  </a:lnTo>
                  <a:lnTo>
                    <a:pt x="216840" y="77093"/>
                  </a:lnTo>
                  <a:lnTo>
                    <a:pt x="262706" y="57656"/>
                  </a:lnTo>
                  <a:lnTo>
                    <a:pt x="311827" y="40745"/>
                  </a:lnTo>
                  <a:lnTo>
                    <a:pt x="363902" y="26529"/>
                  </a:lnTo>
                  <a:lnTo>
                    <a:pt x="418633" y="15176"/>
                  </a:lnTo>
                  <a:lnTo>
                    <a:pt x="475719" y="6858"/>
                  </a:lnTo>
                  <a:lnTo>
                    <a:pt x="534860" y="1742"/>
                  </a:lnTo>
                  <a:lnTo>
                    <a:pt x="595757" y="0"/>
                  </a:lnTo>
                  <a:lnTo>
                    <a:pt x="656675" y="1742"/>
                  </a:lnTo>
                  <a:lnTo>
                    <a:pt x="715836" y="6858"/>
                  </a:lnTo>
                  <a:lnTo>
                    <a:pt x="772939" y="15176"/>
                  </a:lnTo>
                  <a:lnTo>
                    <a:pt x="827684" y="26529"/>
                  </a:lnTo>
                  <a:lnTo>
                    <a:pt x="879772" y="40745"/>
                  </a:lnTo>
                  <a:lnTo>
                    <a:pt x="928903" y="57656"/>
                  </a:lnTo>
                  <a:lnTo>
                    <a:pt x="974777" y="77093"/>
                  </a:lnTo>
                  <a:lnTo>
                    <a:pt x="1017095" y="98885"/>
                  </a:lnTo>
                  <a:lnTo>
                    <a:pt x="1055556" y="122863"/>
                  </a:lnTo>
                  <a:lnTo>
                    <a:pt x="1089862" y="148859"/>
                  </a:lnTo>
                  <a:lnTo>
                    <a:pt x="1119712" y="176701"/>
                  </a:lnTo>
                  <a:lnTo>
                    <a:pt x="1144807" y="206222"/>
                  </a:lnTo>
                  <a:lnTo>
                    <a:pt x="1179533" y="269618"/>
                  </a:lnTo>
                  <a:lnTo>
                    <a:pt x="1191640" y="337693"/>
                  </a:lnTo>
                  <a:lnTo>
                    <a:pt x="1188564" y="372231"/>
                  </a:lnTo>
                  <a:lnTo>
                    <a:pt x="1164847" y="438146"/>
                  </a:lnTo>
                  <a:lnTo>
                    <a:pt x="1119712" y="498713"/>
                  </a:lnTo>
                  <a:lnTo>
                    <a:pt x="1089862" y="526567"/>
                  </a:lnTo>
                  <a:lnTo>
                    <a:pt x="1055556" y="552573"/>
                  </a:lnTo>
                  <a:lnTo>
                    <a:pt x="1017095" y="576564"/>
                  </a:lnTo>
                  <a:lnTo>
                    <a:pt x="974777" y="598368"/>
                  </a:lnTo>
                  <a:lnTo>
                    <a:pt x="928903" y="617816"/>
                  </a:lnTo>
                  <a:lnTo>
                    <a:pt x="879772" y="634737"/>
                  </a:lnTo>
                  <a:lnTo>
                    <a:pt x="827684" y="648964"/>
                  </a:lnTo>
                  <a:lnTo>
                    <a:pt x="772939" y="660324"/>
                  </a:lnTo>
                  <a:lnTo>
                    <a:pt x="715836" y="668649"/>
                  </a:lnTo>
                  <a:lnTo>
                    <a:pt x="656675" y="673768"/>
                  </a:lnTo>
                  <a:lnTo>
                    <a:pt x="595757" y="675513"/>
                  </a:lnTo>
                  <a:lnTo>
                    <a:pt x="534860" y="673768"/>
                  </a:lnTo>
                  <a:lnTo>
                    <a:pt x="475719" y="668649"/>
                  </a:lnTo>
                  <a:lnTo>
                    <a:pt x="418633" y="660324"/>
                  </a:lnTo>
                  <a:lnTo>
                    <a:pt x="363902" y="648964"/>
                  </a:lnTo>
                  <a:lnTo>
                    <a:pt x="311827" y="634737"/>
                  </a:lnTo>
                  <a:lnTo>
                    <a:pt x="262706" y="617816"/>
                  </a:lnTo>
                  <a:lnTo>
                    <a:pt x="216840" y="598368"/>
                  </a:lnTo>
                  <a:lnTo>
                    <a:pt x="174529" y="576564"/>
                  </a:lnTo>
                  <a:lnTo>
                    <a:pt x="136073" y="552573"/>
                  </a:lnTo>
                  <a:lnTo>
                    <a:pt x="101771" y="526567"/>
                  </a:lnTo>
                  <a:lnTo>
                    <a:pt x="71924" y="498713"/>
                  </a:lnTo>
                  <a:lnTo>
                    <a:pt x="46831" y="469183"/>
                  </a:lnTo>
                  <a:lnTo>
                    <a:pt x="12107" y="405772"/>
                  </a:lnTo>
                  <a:lnTo>
                    <a:pt x="0" y="337693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47773" y="986789"/>
            <a:ext cx="7169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s-PE" sz="1650" baseline="-17676" noProof="0" dirty="0">
                <a:latin typeface="Arial MT"/>
                <a:cs typeface="Arial MT"/>
              </a:rPr>
              <a:t>Z</a:t>
            </a:r>
            <a:r>
              <a:rPr lang="es-PE" sz="1050" baseline="-47619" noProof="0" dirty="0">
                <a:latin typeface="Arial MT"/>
                <a:cs typeface="Arial MT"/>
              </a:rPr>
              <a:t>i,1</a:t>
            </a:r>
            <a:r>
              <a:rPr lang="es-PE" sz="700" noProof="0" dirty="0">
                <a:latin typeface="Arial MT"/>
                <a:cs typeface="Arial MT"/>
              </a:rPr>
              <a:t>(1)</a:t>
            </a:r>
            <a:r>
              <a:rPr lang="es-PE" sz="700" spc="270" noProof="0" dirty="0">
                <a:latin typeface="Arial MT"/>
                <a:cs typeface="Arial MT"/>
              </a:rPr>
              <a:t> </a:t>
            </a:r>
            <a:r>
              <a:rPr lang="es-PE" sz="1650" spc="-15" baseline="-17676" noProof="0" dirty="0">
                <a:latin typeface="Arial MT"/>
                <a:cs typeface="Arial MT"/>
              </a:rPr>
              <a:t>a</a:t>
            </a:r>
            <a:r>
              <a:rPr lang="es-PE" sz="1050" spc="-15" baseline="-47619" noProof="0" dirty="0">
                <a:latin typeface="Arial MT"/>
                <a:cs typeface="Arial MT"/>
              </a:rPr>
              <a:t>i,1</a:t>
            </a:r>
            <a:r>
              <a:rPr lang="es-PE" sz="700" spc="-10" noProof="0" dirty="0">
                <a:latin typeface="Arial MT"/>
                <a:cs typeface="Arial MT"/>
              </a:rPr>
              <a:t>(1)</a:t>
            </a:r>
            <a:endParaRPr lang="es-PE" sz="700" noProof="0" dirty="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15311" y="792480"/>
            <a:ext cx="635" cy="675640"/>
          </a:xfrm>
          <a:custGeom>
            <a:avLst/>
            <a:gdLst/>
            <a:ahLst/>
            <a:cxnLst/>
            <a:rect l="l" t="t" r="r" b="b"/>
            <a:pathLst>
              <a:path w="635" h="675640">
                <a:moveTo>
                  <a:pt x="0" y="0"/>
                </a:moveTo>
                <a:lnTo>
                  <a:pt x="126" y="675513"/>
                </a:lnTo>
              </a:path>
            </a:pathLst>
          </a:custGeom>
          <a:ln w="19050">
            <a:solidFill>
              <a:srgbClr val="424242"/>
            </a:solidFill>
          </a:ln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9" name="object 9"/>
          <p:cNvSpPr txBox="1"/>
          <p:nvPr/>
        </p:nvSpPr>
        <p:spPr>
          <a:xfrm>
            <a:off x="182879" y="1122553"/>
            <a:ext cx="321310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50200"/>
              </a:lnSpc>
              <a:spcBef>
                <a:spcPts val="100"/>
              </a:spcBef>
            </a:pPr>
            <a:r>
              <a:rPr lang="es-PE" sz="2250" spc="-37" baseline="12962" noProof="0" dirty="0">
                <a:latin typeface="Roboto"/>
                <a:cs typeface="Roboto"/>
              </a:rPr>
              <a:t>X</a:t>
            </a:r>
            <a:r>
              <a:rPr lang="es-PE" sz="1000" spc="-25" noProof="0" dirty="0">
                <a:latin typeface="Roboto"/>
                <a:cs typeface="Roboto"/>
              </a:rPr>
              <a:t>i,1 </a:t>
            </a:r>
            <a:r>
              <a:rPr lang="es-PE" sz="2250" spc="-37" baseline="12962" noProof="0" dirty="0">
                <a:latin typeface="Roboto"/>
                <a:cs typeface="Roboto"/>
              </a:rPr>
              <a:t>X</a:t>
            </a:r>
            <a:r>
              <a:rPr lang="es-PE" sz="1000" spc="-25" noProof="0" dirty="0">
                <a:latin typeface="Roboto"/>
                <a:cs typeface="Roboto"/>
              </a:rPr>
              <a:t>i,2</a:t>
            </a:r>
            <a:endParaRPr lang="es-PE" sz="1000" noProof="0" dirty="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19555" y="1572005"/>
            <a:ext cx="1191895" cy="675640"/>
          </a:xfrm>
          <a:custGeom>
            <a:avLst/>
            <a:gdLst/>
            <a:ahLst/>
            <a:cxnLst/>
            <a:rect l="l" t="t" r="r" b="b"/>
            <a:pathLst>
              <a:path w="1191895" h="675639">
                <a:moveTo>
                  <a:pt x="0" y="337820"/>
                </a:moveTo>
                <a:lnTo>
                  <a:pt x="12107" y="269740"/>
                </a:lnTo>
                <a:lnTo>
                  <a:pt x="46831" y="206329"/>
                </a:lnTo>
                <a:lnTo>
                  <a:pt x="71924" y="176799"/>
                </a:lnTo>
                <a:lnTo>
                  <a:pt x="101771" y="148945"/>
                </a:lnTo>
                <a:lnTo>
                  <a:pt x="136073" y="122939"/>
                </a:lnTo>
                <a:lnTo>
                  <a:pt x="174529" y="98948"/>
                </a:lnTo>
                <a:lnTo>
                  <a:pt x="216840" y="77144"/>
                </a:lnTo>
                <a:lnTo>
                  <a:pt x="262706" y="57696"/>
                </a:lnTo>
                <a:lnTo>
                  <a:pt x="311827" y="40775"/>
                </a:lnTo>
                <a:lnTo>
                  <a:pt x="363902" y="26548"/>
                </a:lnTo>
                <a:lnTo>
                  <a:pt x="418633" y="15188"/>
                </a:lnTo>
                <a:lnTo>
                  <a:pt x="475719" y="6863"/>
                </a:lnTo>
                <a:lnTo>
                  <a:pt x="534860" y="1744"/>
                </a:lnTo>
                <a:lnTo>
                  <a:pt x="595757" y="0"/>
                </a:lnTo>
                <a:lnTo>
                  <a:pt x="656675" y="1744"/>
                </a:lnTo>
                <a:lnTo>
                  <a:pt x="715836" y="6863"/>
                </a:lnTo>
                <a:lnTo>
                  <a:pt x="772939" y="15188"/>
                </a:lnTo>
                <a:lnTo>
                  <a:pt x="827684" y="26548"/>
                </a:lnTo>
                <a:lnTo>
                  <a:pt x="879772" y="40775"/>
                </a:lnTo>
                <a:lnTo>
                  <a:pt x="928903" y="57696"/>
                </a:lnTo>
                <a:lnTo>
                  <a:pt x="974777" y="77144"/>
                </a:lnTo>
                <a:lnTo>
                  <a:pt x="1017095" y="98948"/>
                </a:lnTo>
                <a:lnTo>
                  <a:pt x="1055556" y="122939"/>
                </a:lnTo>
                <a:lnTo>
                  <a:pt x="1089862" y="148945"/>
                </a:lnTo>
                <a:lnTo>
                  <a:pt x="1119712" y="176799"/>
                </a:lnTo>
                <a:lnTo>
                  <a:pt x="1144807" y="206329"/>
                </a:lnTo>
                <a:lnTo>
                  <a:pt x="1179533" y="269740"/>
                </a:lnTo>
                <a:lnTo>
                  <a:pt x="1191640" y="337820"/>
                </a:lnTo>
                <a:lnTo>
                  <a:pt x="1188564" y="372358"/>
                </a:lnTo>
                <a:lnTo>
                  <a:pt x="1164847" y="438273"/>
                </a:lnTo>
                <a:lnTo>
                  <a:pt x="1119712" y="498840"/>
                </a:lnTo>
                <a:lnTo>
                  <a:pt x="1089862" y="526694"/>
                </a:lnTo>
                <a:lnTo>
                  <a:pt x="1055556" y="552700"/>
                </a:lnTo>
                <a:lnTo>
                  <a:pt x="1017095" y="576691"/>
                </a:lnTo>
                <a:lnTo>
                  <a:pt x="974777" y="598495"/>
                </a:lnTo>
                <a:lnTo>
                  <a:pt x="928903" y="617943"/>
                </a:lnTo>
                <a:lnTo>
                  <a:pt x="879772" y="634864"/>
                </a:lnTo>
                <a:lnTo>
                  <a:pt x="827684" y="649091"/>
                </a:lnTo>
                <a:lnTo>
                  <a:pt x="772939" y="660451"/>
                </a:lnTo>
                <a:lnTo>
                  <a:pt x="715836" y="668776"/>
                </a:lnTo>
                <a:lnTo>
                  <a:pt x="656675" y="673895"/>
                </a:lnTo>
                <a:lnTo>
                  <a:pt x="595757" y="675640"/>
                </a:lnTo>
                <a:lnTo>
                  <a:pt x="534860" y="673895"/>
                </a:lnTo>
                <a:lnTo>
                  <a:pt x="475719" y="668776"/>
                </a:lnTo>
                <a:lnTo>
                  <a:pt x="418633" y="660451"/>
                </a:lnTo>
                <a:lnTo>
                  <a:pt x="363902" y="649091"/>
                </a:lnTo>
                <a:lnTo>
                  <a:pt x="311827" y="634864"/>
                </a:lnTo>
                <a:lnTo>
                  <a:pt x="262706" y="617943"/>
                </a:lnTo>
                <a:lnTo>
                  <a:pt x="216840" y="598495"/>
                </a:lnTo>
                <a:lnTo>
                  <a:pt x="174529" y="576691"/>
                </a:lnTo>
                <a:lnTo>
                  <a:pt x="136073" y="552700"/>
                </a:lnTo>
                <a:lnTo>
                  <a:pt x="101771" y="526694"/>
                </a:lnTo>
                <a:lnTo>
                  <a:pt x="71924" y="498840"/>
                </a:lnTo>
                <a:lnTo>
                  <a:pt x="46831" y="469310"/>
                </a:lnTo>
                <a:lnTo>
                  <a:pt x="12107" y="405899"/>
                </a:lnTo>
                <a:lnTo>
                  <a:pt x="0" y="33782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sp>
        <p:nvSpPr>
          <p:cNvPr id="11" name="object 11"/>
          <p:cNvSpPr txBox="1"/>
          <p:nvPr/>
        </p:nvSpPr>
        <p:spPr>
          <a:xfrm>
            <a:off x="1747773" y="1766697"/>
            <a:ext cx="7169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s-PE" sz="1650" baseline="-17676" noProof="0" dirty="0">
                <a:latin typeface="Arial MT"/>
                <a:cs typeface="Arial MT"/>
              </a:rPr>
              <a:t>Z</a:t>
            </a:r>
            <a:r>
              <a:rPr lang="es-PE" sz="1050" baseline="-47619" noProof="0" dirty="0">
                <a:latin typeface="Arial MT"/>
                <a:cs typeface="Arial MT"/>
              </a:rPr>
              <a:t>i,2</a:t>
            </a:r>
            <a:r>
              <a:rPr lang="es-PE" sz="700" noProof="0" dirty="0">
                <a:latin typeface="Arial MT"/>
                <a:cs typeface="Arial MT"/>
              </a:rPr>
              <a:t>(1)</a:t>
            </a:r>
            <a:r>
              <a:rPr lang="es-PE" sz="700" spc="270" noProof="0" dirty="0">
                <a:latin typeface="Arial MT"/>
                <a:cs typeface="Arial MT"/>
              </a:rPr>
              <a:t> </a:t>
            </a:r>
            <a:r>
              <a:rPr lang="es-PE" sz="1650" spc="-15" baseline="-17676" noProof="0" dirty="0">
                <a:latin typeface="Arial MT"/>
                <a:cs typeface="Arial MT"/>
              </a:rPr>
              <a:t>a</a:t>
            </a:r>
            <a:r>
              <a:rPr lang="es-PE" sz="1050" spc="-15" baseline="-47619" noProof="0" dirty="0">
                <a:latin typeface="Arial MT"/>
                <a:cs typeface="Arial MT"/>
              </a:rPr>
              <a:t>i,2</a:t>
            </a:r>
            <a:r>
              <a:rPr lang="es-PE" sz="700" spc="-10" noProof="0" dirty="0">
                <a:latin typeface="Arial MT"/>
                <a:cs typeface="Arial MT"/>
              </a:rPr>
              <a:t>(1)</a:t>
            </a:r>
            <a:endParaRPr lang="es-PE" sz="700" noProof="0" dirty="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6021" y="1055331"/>
            <a:ext cx="4239260" cy="1202055"/>
            <a:chOff x="476021" y="1055331"/>
            <a:chExt cx="4239260" cy="1202055"/>
          </a:xfrm>
        </p:grpSpPr>
        <p:sp>
          <p:nvSpPr>
            <p:cNvPr id="13" name="object 13"/>
            <p:cNvSpPr/>
            <p:nvPr/>
          </p:nvSpPr>
          <p:spPr>
            <a:xfrm>
              <a:off x="2115312" y="1572005"/>
              <a:ext cx="635" cy="675640"/>
            </a:xfrm>
            <a:custGeom>
              <a:avLst/>
              <a:gdLst/>
              <a:ahLst/>
              <a:cxnLst/>
              <a:rect l="l" t="t" r="r" b="b"/>
              <a:pathLst>
                <a:path w="635" h="675639">
                  <a:moveTo>
                    <a:pt x="0" y="0"/>
                  </a:moveTo>
                  <a:lnTo>
                    <a:pt x="126" y="675640"/>
                  </a:lnTo>
                </a:path>
              </a:pathLst>
            </a:custGeom>
            <a:ln w="19050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76021" y="1103375"/>
              <a:ext cx="1043940" cy="826769"/>
            </a:xfrm>
            <a:custGeom>
              <a:avLst/>
              <a:gdLst/>
              <a:ahLst/>
              <a:cxnLst/>
              <a:rect l="l" t="t" r="r" b="b"/>
              <a:pathLst>
                <a:path w="1043940" h="826769">
                  <a:moveTo>
                    <a:pt x="1043533" y="26797"/>
                  </a:moveTo>
                  <a:lnTo>
                    <a:pt x="971194" y="2806"/>
                  </a:lnTo>
                  <a:lnTo>
                    <a:pt x="971194" y="58953"/>
                  </a:lnTo>
                  <a:lnTo>
                    <a:pt x="364756" y="372554"/>
                  </a:lnTo>
                  <a:lnTo>
                    <a:pt x="50647" y="174383"/>
                  </a:lnTo>
                  <a:lnTo>
                    <a:pt x="965987" y="42875"/>
                  </a:lnTo>
                  <a:lnTo>
                    <a:pt x="969987" y="50596"/>
                  </a:lnTo>
                  <a:lnTo>
                    <a:pt x="971194" y="58953"/>
                  </a:lnTo>
                  <a:lnTo>
                    <a:pt x="971194" y="2806"/>
                  </a:lnTo>
                  <a:lnTo>
                    <a:pt x="962761" y="0"/>
                  </a:lnTo>
                  <a:lnTo>
                    <a:pt x="966736" y="27952"/>
                  </a:lnTo>
                  <a:lnTo>
                    <a:pt x="958316" y="28067"/>
                  </a:lnTo>
                  <a:lnTo>
                    <a:pt x="961288" y="33820"/>
                  </a:lnTo>
                  <a:lnTo>
                    <a:pt x="20180" y="169164"/>
                  </a:lnTo>
                  <a:lnTo>
                    <a:pt x="21526" y="178562"/>
                  </a:lnTo>
                  <a:lnTo>
                    <a:pt x="39217" y="176022"/>
                  </a:lnTo>
                  <a:lnTo>
                    <a:pt x="38112" y="177800"/>
                  </a:lnTo>
                  <a:lnTo>
                    <a:pt x="354888" y="377659"/>
                  </a:lnTo>
                  <a:lnTo>
                    <a:pt x="8763" y="556641"/>
                  </a:lnTo>
                  <a:lnTo>
                    <a:pt x="13144" y="565023"/>
                  </a:lnTo>
                  <a:lnTo>
                    <a:pt x="364147" y="383501"/>
                  </a:lnTo>
                  <a:lnTo>
                    <a:pt x="974051" y="768273"/>
                  </a:lnTo>
                  <a:lnTo>
                    <a:pt x="972096" y="776897"/>
                  </a:lnTo>
                  <a:lnTo>
                    <a:pt x="967397" y="784339"/>
                  </a:lnTo>
                  <a:lnTo>
                    <a:pt x="2108" y="566293"/>
                  </a:lnTo>
                  <a:lnTo>
                    <a:pt x="0" y="575564"/>
                  </a:lnTo>
                  <a:lnTo>
                    <a:pt x="962012" y="792886"/>
                  </a:lnTo>
                  <a:lnTo>
                    <a:pt x="958824" y="797941"/>
                  </a:lnTo>
                  <a:lnTo>
                    <a:pt x="967155" y="798779"/>
                  </a:lnTo>
                  <a:lnTo>
                    <a:pt x="960856" y="826770"/>
                  </a:lnTo>
                  <a:lnTo>
                    <a:pt x="1043533" y="806450"/>
                  </a:lnTo>
                  <a:lnTo>
                    <a:pt x="1025486" y="776605"/>
                  </a:lnTo>
                  <a:lnTo>
                    <a:pt x="999464" y="733552"/>
                  </a:lnTo>
                  <a:lnTo>
                    <a:pt x="984148" y="757821"/>
                  </a:lnTo>
                  <a:lnTo>
                    <a:pt x="977620" y="752475"/>
                  </a:lnTo>
                  <a:lnTo>
                    <a:pt x="976287" y="758355"/>
                  </a:lnTo>
                  <a:lnTo>
                    <a:pt x="374015" y="378396"/>
                  </a:lnTo>
                  <a:lnTo>
                    <a:pt x="972604" y="68846"/>
                  </a:lnTo>
                  <a:lnTo>
                    <a:pt x="973556" y="75438"/>
                  </a:lnTo>
                  <a:lnTo>
                    <a:pt x="980414" y="70675"/>
                  </a:lnTo>
                  <a:lnTo>
                    <a:pt x="993368" y="95631"/>
                  </a:lnTo>
                  <a:lnTo>
                    <a:pt x="1025296" y="51816"/>
                  </a:lnTo>
                  <a:lnTo>
                    <a:pt x="1043533" y="26797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3280537" y="1069619"/>
              <a:ext cx="1419860" cy="925830"/>
            </a:xfrm>
            <a:custGeom>
              <a:avLst/>
              <a:gdLst/>
              <a:ahLst/>
              <a:cxnLst/>
              <a:rect l="l" t="t" r="r" b="b"/>
              <a:pathLst>
                <a:path w="1419860" h="925830">
                  <a:moveTo>
                    <a:pt x="0" y="925804"/>
                  </a:moveTo>
                  <a:lnTo>
                    <a:pt x="1419860" y="925804"/>
                  </a:lnTo>
                  <a:lnTo>
                    <a:pt x="1419860" y="0"/>
                  </a:lnTo>
                  <a:lnTo>
                    <a:pt x="0" y="0"/>
                  </a:lnTo>
                  <a:lnTo>
                    <a:pt x="0" y="925804"/>
                  </a:lnTo>
                  <a:close/>
                </a:path>
              </a:pathLst>
            </a:custGeom>
            <a:ln w="28575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16" name="object 16"/>
            <p:cNvSpPr/>
            <p:nvPr/>
          </p:nvSpPr>
          <p:spPr>
            <a:xfrm>
              <a:off x="3389756" y="1173606"/>
              <a:ext cx="1191895" cy="675640"/>
            </a:xfrm>
            <a:custGeom>
              <a:avLst/>
              <a:gdLst/>
              <a:ahLst/>
              <a:cxnLst/>
              <a:rect l="l" t="t" r="r" b="b"/>
              <a:pathLst>
                <a:path w="1191895" h="675639">
                  <a:moveTo>
                    <a:pt x="0" y="337819"/>
                  </a:moveTo>
                  <a:lnTo>
                    <a:pt x="12107" y="269740"/>
                  </a:lnTo>
                  <a:lnTo>
                    <a:pt x="46831" y="206329"/>
                  </a:lnTo>
                  <a:lnTo>
                    <a:pt x="71924" y="176799"/>
                  </a:lnTo>
                  <a:lnTo>
                    <a:pt x="101771" y="148945"/>
                  </a:lnTo>
                  <a:lnTo>
                    <a:pt x="136073" y="122939"/>
                  </a:lnTo>
                  <a:lnTo>
                    <a:pt x="174529" y="98948"/>
                  </a:lnTo>
                  <a:lnTo>
                    <a:pt x="216840" y="77144"/>
                  </a:lnTo>
                  <a:lnTo>
                    <a:pt x="262706" y="57696"/>
                  </a:lnTo>
                  <a:lnTo>
                    <a:pt x="311827" y="40775"/>
                  </a:lnTo>
                  <a:lnTo>
                    <a:pt x="363902" y="26548"/>
                  </a:lnTo>
                  <a:lnTo>
                    <a:pt x="418633" y="15188"/>
                  </a:lnTo>
                  <a:lnTo>
                    <a:pt x="475719" y="6863"/>
                  </a:lnTo>
                  <a:lnTo>
                    <a:pt x="534860" y="1744"/>
                  </a:lnTo>
                  <a:lnTo>
                    <a:pt x="595756" y="0"/>
                  </a:lnTo>
                  <a:lnTo>
                    <a:pt x="656675" y="1744"/>
                  </a:lnTo>
                  <a:lnTo>
                    <a:pt x="715836" y="6863"/>
                  </a:lnTo>
                  <a:lnTo>
                    <a:pt x="772939" y="15188"/>
                  </a:lnTo>
                  <a:lnTo>
                    <a:pt x="827684" y="26548"/>
                  </a:lnTo>
                  <a:lnTo>
                    <a:pt x="879772" y="40775"/>
                  </a:lnTo>
                  <a:lnTo>
                    <a:pt x="928903" y="57696"/>
                  </a:lnTo>
                  <a:lnTo>
                    <a:pt x="974777" y="77144"/>
                  </a:lnTo>
                  <a:lnTo>
                    <a:pt x="1017095" y="98948"/>
                  </a:lnTo>
                  <a:lnTo>
                    <a:pt x="1055556" y="122939"/>
                  </a:lnTo>
                  <a:lnTo>
                    <a:pt x="1089862" y="148945"/>
                  </a:lnTo>
                  <a:lnTo>
                    <a:pt x="1119712" y="176799"/>
                  </a:lnTo>
                  <a:lnTo>
                    <a:pt x="1144807" y="206329"/>
                  </a:lnTo>
                  <a:lnTo>
                    <a:pt x="1179533" y="269740"/>
                  </a:lnTo>
                  <a:lnTo>
                    <a:pt x="1191640" y="337819"/>
                  </a:lnTo>
                  <a:lnTo>
                    <a:pt x="1188564" y="372358"/>
                  </a:lnTo>
                  <a:lnTo>
                    <a:pt x="1164847" y="438273"/>
                  </a:lnTo>
                  <a:lnTo>
                    <a:pt x="1119712" y="498840"/>
                  </a:lnTo>
                  <a:lnTo>
                    <a:pt x="1089862" y="526694"/>
                  </a:lnTo>
                  <a:lnTo>
                    <a:pt x="1055556" y="552700"/>
                  </a:lnTo>
                  <a:lnTo>
                    <a:pt x="1017095" y="576691"/>
                  </a:lnTo>
                  <a:lnTo>
                    <a:pt x="974777" y="598495"/>
                  </a:lnTo>
                  <a:lnTo>
                    <a:pt x="928903" y="617943"/>
                  </a:lnTo>
                  <a:lnTo>
                    <a:pt x="879772" y="634864"/>
                  </a:lnTo>
                  <a:lnTo>
                    <a:pt x="827684" y="649091"/>
                  </a:lnTo>
                  <a:lnTo>
                    <a:pt x="772939" y="660451"/>
                  </a:lnTo>
                  <a:lnTo>
                    <a:pt x="715836" y="668776"/>
                  </a:lnTo>
                  <a:lnTo>
                    <a:pt x="656675" y="673895"/>
                  </a:lnTo>
                  <a:lnTo>
                    <a:pt x="595756" y="675639"/>
                  </a:lnTo>
                  <a:lnTo>
                    <a:pt x="534860" y="673895"/>
                  </a:lnTo>
                  <a:lnTo>
                    <a:pt x="475719" y="668776"/>
                  </a:lnTo>
                  <a:lnTo>
                    <a:pt x="418633" y="660451"/>
                  </a:lnTo>
                  <a:lnTo>
                    <a:pt x="363902" y="649091"/>
                  </a:lnTo>
                  <a:lnTo>
                    <a:pt x="311827" y="634864"/>
                  </a:lnTo>
                  <a:lnTo>
                    <a:pt x="262706" y="617943"/>
                  </a:lnTo>
                  <a:lnTo>
                    <a:pt x="216840" y="598495"/>
                  </a:lnTo>
                  <a:lnTo>
                    <a:pt x="174529" y="576691"/>
                  </a:lnTo>
                  <a:lnTo>
                    <a:pt x="136073" y="552700"/>
                  </a:lnTo>
                  <a:lnTo>
                    <a:pt x="101771" y="526694"/>
                  </a:lnTo>
                  <a:lnTo>
                    <a:pt x="71924" y="498840"/>
                  </a:lnTo>
                  <a:lnTo>
                    <a:pt x="46831" y="469310"/>
                  </a:lnTo>
                  <a:lnTo>
                    <a:pt x="12107" y="405899"/>
                  </a:lnTo>
                  <a:lnTo>
                    <a:pt x="0" y="33781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18229" y="1368044"/>
            <a:ext cx="53086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s-PE" sz="1650" baseline="-17676" noProof="0" dirty="0">
                <a:latin typeface="Arial MT"/>
                <a:cs typeface="Arial MT"/>
              </a:rPr>
              <a:t>Z</a:t>
            </a:r>
            <a:r>
              <a:rPr lang="es-PE" sz="1050" baseline="-47619" noProof="0" dirty="0">
                <a:latin typeface="Arial MT"/>
                <a:cs typeface="Arial MT"/>
              </a:rPr>
              <a:t>i,1</a:t>
            </a:r>
            <a:r>
              <a:rPr lang="es-PE" sz="700" noProof="0" dirty="0">
                <a:latin typeface="Arial MT"/>
                <a:cs typeface="Arial MT"/>
              </a:rPr>
              <a:t>(2)</a:t>
            </a:r>
            <a:r>
              <a:rPr lang="es-PE" sz="700" spc="480" noProof="0" dirty="0">
                <a:latin typeface="Arial MT"/>
                <a:cs typeface="Arial MT"/>
              </a:rPr>
              <a:t> </a:t>
            </a:r>
            <a:r>
              <a:rPr lang="es-PE" sz="1650" spc="15" baseline="-17676" noProof="0" dirty="0">
                <a:latin typeface="Times New Roman"/>
                <a:cs typeface="Times New Roman"/>
              </a:rPr>
              <a:t>–</a:t>
            </a:r>
            <a:endParaRPr lang="es-PE" sz="1650" baseline="-17676" noProof="0" dirty="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08782" y="1126108"/>
            <a:ext cx="2473325" cy="788035"/>
            <a:chOff x="2708782" y="1126108"/>
            <a:chExt cx="2473325" cy="788035"/>
          </a:xfrm>
        </p:grpSpPr>
        <p:sp>
          <p:nvSpPr>
            <p:cNvPr id="19" name="object 19"/>
            <p:cNvSpPr/>
            <p:nvPr/>
          </p:nvSpPr>
          <p:spPr>
            <a:xfrm>
              <a:off x="3985513" y="1173606"/>
              <a:ext cx="0" cy="675640"/>
            </a:xfrm>
            <a:custGeom>
              <a:avLst/>
              <a:gdLst/>
              <a:ahLst/>
              <a:cxnLst/>
              <a:rect l="l" t="t" r="r" b="b"/>
              <a:pathLst>
                <a:path h="675639">
                  <a:moveTo>
                    <a:pt x="0" y="0"/>
                  </a:moveTo>
                  <a:lnTo>
                    <a:pt x="0" y="675639"/>
                  </a:lnTo>
                </a:path>
              </a:pathLst>
            </a:custGeom>
            <a:ln w="19050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2708783" y="1126108"/>
              <a:ext cx="2473325" cy="788035"/>
            </a:xfrm>
            <a:custGeom>
              <a:avLst/>
              <a:gdLst/>
              <a:ahLst/>
              <a:cxnLst/>
              <a:rect l="l" t="t" r="r" b="b"/>
              <a:pathLst>
                <a:path w="2473325" h="788035">
                  <a:moveTo>
                    <a:pt x="680974" y="385318"/>
                  </a:moveTo>
                  <a:lnTo>
                    <a:pt x="662762" y="358521"/>
                  </a:lnTo>
                  <a:lnTo>
                    <a:pt x="633222" y="314833"/>
                  </a:lnTo>
                  <a:lnTo>
                    <a:pt x="616877" y="343890"/>
                  </a:lnTo>
                  <a:lnTo>
                    <a:pt x="4699" y="0"/>
                  </a:lnTo>
                  <a:lnTo>
                    <a:pt x="0" y="8255"/>
                  </a:lnTo>
                  <a:lnTo>
                    <a:pt x="612178" y="352272"/>
                  </a:lnTo>
                  <a:lnTo>
                    <a:pt x="595871" y="381254"/>
                  </a:lnTo>
                  <a:lnTo>
                    <a:pt x="679881" y="385394"/>
                  </a:lnTo>
                  <a:lnTo>
                    <a:pt x="596011" y="391033"/>
                  </a:lnTo>
                  <a:lnTo>
                    <a:pt x="612914" y="419798"/>
                  </a:lnTo>
                  <a:lnTo>
                    <a:pt x="0" y="779653"/>
                  </a:lnTo>
                  <a:lnTo>
                    <a:pt x="4826" y="787781"/>
                  </a:lnTo>
                  <a:lnTo>
                    <a:pt x="617702" y="427939"/>
                  </a:lnTo>
                  <a:lnTo>
                    <a:pt x="634619" y="456692"/>
                  </a:lnTo>
                  <a:lnTo>
                    <a:pt x="662736" y="413385"/>
                  </a:lnTo>
                  <a:lnTo>
                    <a:pt x="680885" y="385445"/>
                  </a:lnTo>
                  <a:lnTo>
                    <a:pt x="680974" y="385318"/>
                  </a:lnTo>
                  <a:close/>
                </a:path>
                <a:path w="2473325" h="788035">
                  <a:moveTo>
                    <a:pt x="2473071" y="442468"/>
                  </a:moveTo>
                  <a:lnTo>
                    <a:pt x="2464917" y="438531"/>
                  </a:lnTo>
                  <a:lnTo>
                    <a:pt x="2396363" y="405384"/>
                  </a:lnTo>
                  <a:lnTo>
                    <a:pt x="2396794" y="438531"/>
                  </a:lnTo>
                  <a:lnTo>
                    <a:pt x="2396794" y="438708"/>
                  </a:lnTo>
                  <a:lnTo>
                    <a:pt x="1987296" y="444246"/>
                  </a:lnTo>
                  <a:lnTo>
                    <a:pt x="1987423" y="453771"/>
                  </a:lnTo>
                  <a:lnTo>
                    <a:pt x="2396921" y="448233"/>
                  </a:lnTo>
                  <a:lnTo>
                    <a:pt x="2397379" y="481584"/>
                  </a:lnTo>
                  <a:lnTo>
                    <a:pt x="2473071" y="442468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8765" y="1298574"/>
              <a:ext cx="160337" cy="2032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685794" y="2065782"/>
            <a:ext cx="6013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400" spc="-10" noProof="0" dirty="0" err="1">
                <a:latin typeface="Roboto"/>
                <a:cs typeface="Roboto"/>
              </a:rPr>
              <a:t>Layer</a:t>
            </a:r>
            <a:r>
              <a:rPr lang="es-PE" sz="1400" spc="-55" noProof="0" dirty="0">
                <a:latin typeface="Roboto"/>
                <a:cs typeface="Roboto"/>
              </a:rPr>
              <a:t> </a:t>
            </a:r>
            <a:r>
              <a:rPr lang="es-PE" sz="1400" spc="-50" noProof="0" dirty="0">
                <a:latin typeface="Roboto"/>
                <a:cs typeface="Roboto"/>
              </a:rPr>
              <a:t>2</a:t>
            </a:r>
            <a:endParaRPr lang="es-PE" sz="1400" noProof="0" dirty="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73217" y="1360538"/>
            <a:ext cx="897890" cy="406400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715"/>
              </a:spcBef>
            </a:pPr>
            <a:r>
              <a:rPr lang="es-PE" sz="1400" spc="-25" noProof="0" dirty="0">
                <a:solidFill>
                  <a:srgbClr val="1F1F1F"/>
                </a:solidFill>
                <a:latin typeface="Arial MT"/>
                <a:cs typeface="Arial MT"/>
              </a:rPr>
              <a:t>MSE</a:t>
            </a:r>
            <a:endParaRPr lang="es-PE" sz="1400" noProof="0" dirty="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546090" y="1788795"/>
            <a:ext cx="160655" cy="616585"/>
            <a:chOff x="5546090" y="1788795"/>
            <a:chExt cx="160655" cy="616585"/>
          </a:xfrm>
        </p:grpSpPr>
        <p:sp>
          <p:nvSpPr>
            <p:cNvPr id="25" name="object 25"/>
            <p:cNvSpPr/>
            <p:nvPr/>
          </p:nvSpPr>
          <p:spPr>
            <a:xfrm>
              <a:off x="5588254" y="1788795"/>
              <a:ext cx="76200" cy="423545"/>
            </a:xfrm>
            <a:custGeom>
              <a:avLst/>
              <a:gdLst/>
              <a:ahLst/>
              <a:cxnLst/>
              <a:rect l="l" t="t" r="r" b="b"/>
              <a:pathLst>
                <a:path w="76200" h="423544">
                  <a:moveTo>
                    <a:pt x="42799" y="63500"/>
                  </a:moveTo>
                  <a:lnTo>
                    <a:pt x="33274" y="63500"/>
                  </a:lnTo>
                  <a:lnTo>
                    <a:pt x="33274" y="423544"/>
                  </a:lnTo>
                  <a:lnTo>
                    <a:pt x="42799" y="423544"/>
                  </a:lnTo>
                  <a:lnTo>
                    <a:pt x="42799" y="63500"/>
                  </a:lnTo>
                  <a:close/>
                </a:path>
                <a:path w="76200" h="423544">
                  <a:moveTo>
                    <a:pt x="38100" y="0"/>
                  </a:moveTo>
                  <a:lnTo>
                    <a:pt x="0" y="76200"/>
                  </a:lnTo>
                  <a:lnTo>
                    <a:pt x="33274" y="76200"/>
                  </a:lnTo>
                  <a:lnTo>
                    <a:pt x="3327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23544">
                  <a:moveTo>
                    <a:pt x="69850" y="63500"/>
                  </a:moveTo>
                  <a:lnTo>
                    <a:pt x="42799" y="63500"/>
                  </a:lnTo>
                  <a:lnTo>
                    <a:pt x="42799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lang="es-PE" noProof="0" dirty="0"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6090" y="2254313"/>
              <a:ext cx="160337" cy="150812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6070727" y="1523111"/>
            <a:ext cx="485775" cy="76200"/>
          </a:xfrm>
          <a:custGeom>
            <a:avLst/>
            <a:gdLst/>
            <a:ahLst/>
            <a:cxnLst/>
            <a:rect l="l" t="t" r="r" b="b"/>
            <a:pathLst>
              <a:path w="485775" h="76200">
                <a:moveTo>
                  <a:pt x="477631" y="33147"/>
                </a:moveTo>
                <a:lnTo>
                  <a:pt x="422148" y="33147"/>
                </a:lnTo>
                <a:lnTo>
                  <a:pt x="422275" y="42672"/>
                </a:lnTo>
                <a:lnTo>
                  <a:pt x="409638" y="42843"/>
                </a:lnTo>
                <a:lnTo>
                  <a:pt x="410083" y="76200"/>
                </a:lnTo>
                <a:lnTo>
                  <a:pt x="485775" y="37084"/>
                </a:lnTo>
                <a:lnTo>
                  <a:pt x="477631" y="33147"/>
                </a:lnTo>
                <a:close/>
              </a:path>
              <a:path w="485775" h="76200">
                <a:moveTo>
                  <a:pt x="409511" y="33318"/>
                </a:moveTo>
                <a:lnTo>
                  <a:pt x="0" y="38862"/>
                </a:lnTo>
                <a:lnTo>
                  <a:pt x="126" y="48387"/>
                </a:lnTo>
                <a:lnTo>
                  <a:pt x="409638" y="42843"/>
                </a:lnTo>
                <a:lnTo>
                  <a:pt x="409511" y="33318"/>
                </a:lnTo>
                <a:close/>
              </a:path>
              <a:path w="485775" h="76200">
                <a:moveTo>
                  <a:pt x="422148" y="33147"/>
                </a:moveTo>
                <a:lnTo>
                  <a:pt x="409511" y="33318"/>
                </a:lnTo>
                <a:lnTo>
                  <a:pt x="409638" y="42843"/>
                </a:lnTo>
                <a:lnTo>
                  <a:pt x="422275" y="42672"/>
                </a:lnTo>
                <a:lnTo>
                  <a:pt x="422148" y="33147"/>
                </a:lnTo>
                <a:close/>
              </a:path>
              <a:path w="485775" h="76200">
                <a:moveTo>
                  <a:pt x="409067" y="0"/>
                </a:moveTo>
                <a:lnTo>
                  <a:pt x="409508" y="33147"/>
                </a:lnTo>
                <a:lnTo>
                  <a:pt x="409511" y="33318"/>
                </a:lnTo>
                <a:lnTo>
                  <a:pt x="422148" y="33147"/>
                </a:lnTo>
                <a:lnTo>
                  <a:pt x="477631" y="33147"/>
                </a:lnTo>
                <a:lnTo>
                  <a:pt x="409067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 lang="es-PE" noProof="0" dirty="0"/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14165" y="3763276"/>
            <a:ext cx="1404874" cy="124618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61026" y="3763276"/>
            <a:ext cx="103198" cy="1246200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5715">
              <a:lnSpc>
                <a:spcPct val="100000"/>
              </a:lnSpc>
              <a:spcBef>
                <a:spcPts val="100"/>
              </a:spcBef>
            </a:pPr>
            <a:r>
              <a:rPr lang="es-PE" spc="-20" noProof="0" dirty="0" err="1"/>
              <a:t>Layer</a:t>
            </a:r>
            <a:r>
              <a:rPr lang="es-PE" spc="-30" noProof="0" dirty="0"/>
              <a:t> </a:t>
            </a:r>
            <a:r>
              <a:rPr lang="es-PE" spc="-50" noProof="0" dirty="0"/>
              <a:t>1</a:t>
            </a: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lang="es-PE" spc="-50" noProof="0" dirty="0"/>
          </a:p>
          <a:p>
            <a:pPr marL="329565" indent="-316865">
              <a:lnSpc>
                <a:spcPct val="100000"/>
              </a:lnSpc>
              <a:buChar char="-"/>
              <a:tabLst>
                <a:tab pos="329565" algn="l"/>
              </a:tabLst>
            </a:pPr>
            <a:r>
              <a:rPr lang="es-PE" spc="-10" noProof="0" dirty="0"/>
              <a:t>Arquitectura</a:t>
            </a:r>
            <a:r>
              <a:rPr lang="es-PE" spc="-40" noProof="0" dirty="0"/>
              <a:t> </a:t>
            </a:r>
            <a:r>
              <a:rPr lang="es-PE" noProof="0" dirty="0"/>
              <a:t>de</a:t>
            </a:r>
            <a:r>
              <a:rPr lang="es-PE" spc="-40" noProof="0" dirty="0"/>
              <a:t> </a:t>
            </a:r>
            <a:r>
              <a:rPr lang="es-PE" noProof="0" dirty="0"/>
              <a:t>2</a:t>
            </a:r>
            <a:r>
              <a:rPr lang="es-PE" spc="-25" noProof="0" dirty="0"/>
              <a:t> </a:t>
            </a:r>
            <a:r>
              <a:rPr lang="es-PE" spc="-20" noProof="0" dirty="0" err="1"/>
              <a:t>layers</a:t>
            </a:r>
            <a:r>
              <a:rPr lang="es-PE" spc="-20" noProof="0" dirty="0"/>
              <a:t>:</a:t>
            </a:r>
            <a:r>
              <a:rPr lang="es-PE" spc="-40" noProof="0" dirty="0"/>
              <a:t> </a:t>
            </a:r>
            <a:r>
              <a:rPr lang="es-PE" noProof="0" dirty="0"/>
              <a:t>1</a:t>
            </a:r>
            <a:r>
              <a:rPr lang="es-PE" spc="-35" noProof="0" dirty="0"/>
              <a:t> </a:t>
            </a:r>
            <a:r>
              <a:rPr lang="es-PE" spc="-10" noProof="0" dirty="0" err="1"/>
              <a:t>layer</a:t>
            </a:r>
            <a:r>
              <a:rPr lang="es-PE" spc="-40" noProof="0" dirty="0"/>
              <a:t> </a:t>
            </a:r>
            <a:r>
              <a:rPr lang="es-PE" spc="-10" noProof="0" dirty="0" err="1"/>
              <a:t>hidden</a:t>
            </a:r>
            <a:r>
              <a:rPr lang="es-PE" spc="-10" noProof="0" dirty="0"/>
              <a:t>,</a:t>
            </a:r>
            <a:r>
              <a:rPr lang="es-PE" spc="-30" noProof="0" dirty="0"/>
              <a:t> </a:t>
            </a:r>
            <a:r>
              <a:rPr lang="es-PE" noProof="0" dirty="0"/>
              <a:t>1</a:t>
            </a:r>
            <a:r>
              <a:rPr lang="es-PE" spc="-35" noProof="0" dirty="0"/>
              <a:t> </a:t>
            </a:r>
            <a:r>
              <a:rPr lang="es-PE" spc="-10" noProof="0" dirty="0" err="1"/>
              <a:t>layer</a:t>
            </a:r>
            <a:r>
              <a:rPr lang="es-PE" spc="-40" noProof="0" dirty="0"/>
              <a:t> </a:t>
            </a:r>
            <a:r>
              <a:rPr lang="es-PE" noProof="0" dirty="0"/>
              <a:t>de</a:t>
            </a:r>
            <a:r>
              <a:rPr lang="es-PE" spc="-35" noProof="0" dirty="0"/>
              <a:t> </a:t>
            </a:r>
            <a:r>
              <a:rPr lang="es-PE" spc="-10" noProof="0" dirty="0"/>
              <a:t>salida</a:t>
            </a:r>
          </a:p>
          <a:p>
            <a:pPr marL="329565" indent="-316865">
              <a:lnSpc>
                <a:spcPct val="100000"/>
              </a:lnSpc>
              <a:spcBef>
                <a:spcPts val="840"/>
              </a:spcBef>
              <a:buChar char="-"/>
              <a:tabLst>
                <a:tab pos="329565" algn="l"/>
              </a:tabLst>
            </a:pPr>
            <a:r>
              <a:rPr lang="es-PE" noProof="0" dirty="0"/>
              <a:t>2</a:t>
            </a:r>
            <a:r>
              <a:rPr lang="es-PE" spc="-25" noProof="0" dirty="0"/>
              <a:t> </a:t>
            </a:r>
            <a:r>
              <a:rPr lang="es-PE" spc="-20" noProof="0" dirty="0"/>
              <a:t>neuronas</a:t>
            </a:r>
            <a:r>
              <a:rPr lang="es-PE" spc="-55" noProof="0" dirty="0"/>
              <a:t> </a:t>
            </a:r>
            <a:r>
              <a:rPr lang="es-PE" noProof="0" dirty="0"/>
              <a:t>en</a:t>
            </a:r>
            <a:r>
              <a:rPr lang="es-PE" spc="-25" noProof="0" dirty="0"/>
              <a:t> </a:t>
            </a:r>
            <a:r>
              <a:rPr lang="es-PE" noProof="0" dirty="0" err="1"/>
              <a:t>layer</a:t>
            </a:r>
            <a:r>
              <a:rPr lang="es-PE" spc="-35" noProof="0" dirty="0"/>
              <a:t> </a:t>
            </a:r>
            <a:r>
              <a:rPr lang="es-PE" noProof="0" dirty="0"/>
              <a:t>1,</a:t>
            </a:r>
            <a:r>
              <a:rPr lang="es-PE" spc="-35" noProof="0" dirty="0"/>
              <a:t> </a:t>
            </a:r>
            <a:r>
              <a:rPr lang="es-PE" spc="-10" noProof="0" dirty="0"/>
              <a:t>función</a:t>
            </a:r>
            <a:r>
              <a:rPr lang="es-PE" spc="-30" noProof="0" dirty="0"/>
              <a:t> </a:t>
            </a:r>
            <a:r>
              <a:rPr lang="es-PE" noProof="0" dirty="0"/>
              <a:t>de</a:t>
            </a:r>
            <a:r>
              <a:rPr lang="es-PE" spc="-35" noProof="0" dirty="0"/>
              <a:t> </a:t>
            </a:r>
            <a:r>
              <a:rPr lang="es-PE" spc="-10" noProof="0" dirty="0"/>
              <a:t>activación</a:t>
            </a:r>
            <a:r>
              <a:rPr lang="es-PE" spc="-20" noProof="0" dirty="0"/>
              <a:t> </a:t>
            </a:r>
            <a:r>
              <a:rPr lang="es-PE" spc="-10" noProof="0" dirty="0" err="1"/>
              <a:t>sigmoid</a:t>
            </a:r>
            <a:endParaRPr lang="es-PE" spc="-10" noProof="0" dirty="0"/>
          </a:p>
          <a:p>
            <a:pPr marL="329565" indent="-316865">
              <a:lnSpc>
                <a:spcPct val="100000"/>
              </a:lnSpc>
              <a:spcBef>
                <a:spcPts val="844"/>
              </a:spcBef>
              <a:buChar char="-"/>
              <a:tabLst>
                <a:tab pos="329565" algn="l"/>
              </a:tabLst>
            </a:pPr>
            <a:r>
              <a:rPr lang="es-PE" noProof="0" dirty="0"/>
              <a:t>1</a:t>
            </a:r>
            <a:r>
              <a:rPr lang="es-PE" spc="-20" noProof="0" dirty="0"/>
              <a:t> neurona</a:t>
            </a:r>
            <a:r>
              <a:rPr lang="es-PE" spc="-55" noProof="0" dirty="0"/>
              <a:t> </a:t>
            </a:r>
            <a:r>
              <a:rPr lang="es-PE" spc="-10" noProof="0" dirty="0" err="1"/>
              <a:t>layer</a:t>
            </a:r>
            <a:r>
              <a:rPr lang="es-PE" spc="-35" noProof="0" dirty="0"/>
              <a:t> </a:t>
            </a:r>
            <a:r>
              <a:rPr lang="es-PE" noProof="0" dirty="0"/>
              <a:t>2,</a:t>
            </a:r>
            <a:r>
              <a:rPr lang="es-PE" spc="-20" noProof="0" dirty="0"/>
              <a:t> </a:t>
            </a:r>
            <a:r>
              <a:rPr lang="es-PE" noProof="0" dirty="0"/>
              <a:t>sin</a:t>
            </a:r>
            <a:r>
              <a:rPr lang="es-PE" spc="-20" noProof="0" dirty="0"/>
              <a:t> </a:t>
            </a:r>
            <a:r>
              <a:rPr lang="es-PE" spc="-10" noProof="0" dirty="0"/>
              <a:t>activación</a:t>
            </a:r>
          </a:p>
          <a:p>
            <a:pPr marL="329565" indent="-316865">
              <a:lnSpc>
                <a:spcPct val="100000"/>
              </a:lnSpc>
              <a:spcBef>
                <a:spcPts val="840"/>
              </a:spcBef>
              <a:buChar char="-"/>
              <a:tabLst>
                <a:tab pos="329565" algn="l"/>
              </a:tabLst>
            </a:pPr>
            <a:r>
              <a:rPr lang="es-PE" spc="-10" noProof="0" dirty="0">
                <a:solidFill>
                  <a:srgbClr val="F4B400"/>
                </a:solidFill>
              </a:rPr>
              <a:t>¿Cuántos</a:t>
            </a:r>
            <a:r>
              <a:rPr lang="es-PE" spc="-45" noProof="0" dirty="0">
                <a:solidFill>
                  <a:srgbClr val="F4B400"/>
                </a:solidFill>
              </a:rPr>
              <a:t> </a:t>
            </a:r>
            <a:r>
              <a:rPr lang="es-PE" spc="-10" noProof="0" dirty="0">
                <a:solidFill>
                  <a:srgbClr val="F4B400"/>
                </a:solidFill>
              </a:rPr>
              <a:t>parámetros</a:t>
            </a:r>
            <a:r>
              <a:rPr lang="es-PE" spc="-65" noProof="0" dirty="0">
                <a:solidFill>
                  <a:srgbClr val="F4B400"/>
                </a:solidFill>
              </a:rPr>
              <a:t> </a:t>
            </a:r>
            <a:r>
              <a:rPr lang="es-PE" spc="-10" noProof="0" dirty="0">
                <a:solidFill>
                  <a:srgbClr val="F4B400"/>
                </a:solidFill>
              </a:rPr>
              <a:t>entreno?</a:t>
            </a:r>
          </a:p>
          <a:p>
            <a:pPr marR="5080" algn="r">
              <a:lnSpc>
                <a:spcPct val="100000"/>
              </a:lnSpc>
              <a:spcBef>
                <a:spcPts val="1050"/>
              </a:spcBef>
            </a:pPr>
            <a:r>
              <a:rPr lang="es-PE" noProof="0" dirty="0"/>
              <a:t>9 </a:t>
            </a:r>
            <a:r>
              <a:rPr lang="es-PE" spc="-10" noProof="0" dirty="0"/>
              <a:t>parámetros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dirty="0"/>
              <a:t>Red</a:t>
            </a:r>
            <a:r>
              <a:rPr lang="es-PE" spc="25" dirty="0"/>
              <a:t> </a:t>
            </a:r>
            <a:r>
              <a:rPr lang="es-PE" dirty="0"/>
              <a:t>neuronal</a:t>
            </a:r>
            <a:r>
              <a:rPr lang="es-PE" spc="30" dirty="0"/>
              <a:t> </a:t>
            </a:r>
            <a:r>
              <a:rPr lang="es-PE" dirty="0" err="1"/>
              <a:t>feedforward</a:t>
            </a:r>
            <a:endParaRPr lang="es-PE" spc="-10" noProof="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1957" y="763015"/>
            <a:ext cx="15824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23215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35915" algn="l"/>
              </a:tabLst>
            </a:pPr>
            <a:r>
              <a:rPr lang="es-PE" sz="1500" b="1" noProof="0" dirty="0">
                <a:latin typeface="Roboto"/>
                <a:cs typeface="Roboto"/>
              </a:rPr>
              <a:t>Paso</a:t>
            </a:r>
            <a:r>
              <a:rPr lang="es-PE" sz="1500" b="1" spc="-25" noProof="0" dirty="0">
                <a:latin typeface="Roboto"/>
                <a:cs typeface="Roboto"/>
              </a:rPr>
              <a:t> </a:t>
            </a:r>
            <a:r>
              <a:rPr lang="es-PE" sz="1500" b="1" spc="-10" noProof="0" dirty="0">
                <a:latin typeface="Roboto"/>
                <a:cs typeface="Roboto"/>
              </a:rPr>
              <a:t>Forward:</a:t>
            </a:r>
            <a:endParaRPr lang="es-PE" sz="1500" noProof="0" dirty="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479" y="1042606"/>
            <a:ext cx="3019425" cy="2905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479" y="1531302"/>
            <a:ext cx="3019425" cy="2905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466" y="1974151"/>
            <a:ext cx="1177925" cy="3476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8466" y="2474277"/>
            <a:ext cx="1177925" cy="34766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8466" y="2976435"/>
            <a:ext cx="2945638" cy="29051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8466" y="3457194"/>
            <a:ext cx="1271651" cy="2889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8466" y="3952849"/>
            <a:ext cx="1287526" cy="2635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2942</TotalTime>
  <Words>1045</Words>
  <Application>Microsoft Office PowerPoint</Application>
  <PresentationFormat>Presentación en pantalla (16:9)</PresentationFormat>
  <Paragraphs>269</Paragraphs>
  <Slides>22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1" baseType="lpstr">
      <vt:lpstr>Aptos</vt:lpstr>
      <vt:lpstr>Arial</vt:lpstr>
      <vt:lpstr>Arial MT</vt:lpstr>
      <vt:lpstr>Calibri</vt:lpstr>
      <vt:lpstr>Cambria Math</vt:lpstr>
      <vt:lpstr>Noto Sans Symbols</vt:lpstr>
      <vt:lpstr>Roboto</vt:lpstr>
      <vt:lpstr>Times New Roman</vt:lpstr>
      <vt:lpstr>Office Theme</vt:lpstr>
      <vt:lpstr>Aprendizaje Profundo Facultad de Ingeniería Universidad de Buenos Aires</vt:lpstr>
      <vt:lpstr>Introducción al curso</vt:lpstr>
      <vt:lpstr>Introducción al curso</vt:lpstr>
      <vt:lpstr>Introducción al curso</vt:lpstr>
      <vt:lpstr>Contenido</vt:lpstr>
      <vt:lpstr>Referencias</vt:lpstr>
      <vt:lpstr>Herramientas de trabajo</vt:lpstr>
      <vt:lpstr>Introducción a Deep Learning</vt:lpstr>
      <vt:lpstr>Introducción a Deep Learning</vt:lpstr>
      <vt:lpstr>Introducción a Deep Learning</vt:lpstr>
      <vt:lpstr>Feed-Forward neural network</vt:lpstr>
      <vt:lpstr>Feed-Forward neural network</vt:lpstr>
      <vt:lpstr>Feed-Forward neural network</vt:lpstr>
      <vt:lpstr>Feed-Forward neural network</vt:lpstr>
      <vt:lpstr>Feed-Forward neural network</vt:lpstr>
      <vt:lpstr>Feed-Forward neural network</vt:lpstr>
      <vt:lpstr>Presentación de PowerPoint</vt:lpstr>
      <vt:lpstr>Neurona</vt:lpstr>
      <vt:lpstr>Layer Lineal con función de activación</vt:lpstr>
      <vt:lpstr>Red neuronal feedforward con p layers</vt:lpstr>
      <vt:lpstr>Red neuronal feedforward</vt:lpstr>
      <vt:lpstr>Red neuronal feedforward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MaxiT</dc:creator>
  <cp:lastModifiedBy>Gerardo Vilcamiza Espinoza</cp:lastModifiedBy>
  <cp:revision>24</cp:revision>
  <dcterms:created xsi:type="dcterms:W3CDTF">2025-10-21T18:21:50Z</dcterms:created>
  <dcterms:modified xsi:type="dcterms:W3CDTF">2025-10-30T17:39:28Z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2025-10-21T00:00:00Z</vt:filetime>
  </property>
  <property fmtid="{D5CDD505-2E9C-101B-9397-08002B2CF9AE}" pid="5" name="MSIP_Label_3ef3b8a9-c927-4b0b-af87-81d91b7c3964_ContentBits">
    <vt:lpwstr>2</vt:lpwstr>
  </property>
  <property fmtid="{D5CDD505-2E9C-101B-9397-08002B2CF9AE}" pid="6" name="MSIP_Label_3ef3b8a9-c927-4b0b-af87-81d91b7c3964_Enabled">
    <vt:lpwstr>true</vt:lpwstr>
  </property>
  <property fmtid="{D5CDD505-2E9C-101B-9397-08002B2CF9AE}" pid="7" name="MSIP_Label_3ef3b8a9-c927-4b0b-af87-81d91b7c3964_Method">
    <vt:lpwstr>Privileged</vt:lpwstr>
  </property>
  <property fmtid="{D5CDD505-2E9C-101B-9397-08002B2CF9AE}" pid="8" name="MSIP_Label_3ef3b8a9-c927-4b0b-af87-81d91b7c3964_SiteId">
    <vt:lpwstr>5d93ebcc-f769-4380-8b7e-289fc972da1b</vt:lpwstr>
  </property>
  <property fmtid="{D5CDD505-2E9C-101B-9397-08002B2CF9AE}" pid="9" name="Producer">
    <vt:lpwstr>Microsoft® PowerPoint® for Microsoft 365</vt:lpwstr>
  </property>
</Properties>
</file>