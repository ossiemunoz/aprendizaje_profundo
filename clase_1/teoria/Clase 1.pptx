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80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349" r:id="rId13"/>
    <p:sldId id="282" r:id="rId14"/>
    <p:sldId id="269" r:id="rId15"/>
    <p:sldId id="270" r:id="rId16"/>
    <p:sldId id="350" r:id="rId17"/>
    <p:sldId id="348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0-22T00:02:40.51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10729 9512 0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70174-E451-487C-B693-260E1D314929}" type="datetimeFigureOut">
              <a:rPr lang="es-PE" smtClean="0"/>
              <a:t>26/10/2025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42BA2-DD00-4A33-A804-B337331A89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229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112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36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9144000" y="0"/>
                </a:moveTo>
                <a:lnTo>
                  <a:pt x="0" y="0"/>
                </a:lnTo>
                <a:lnTo>
                  <a:pt x="0" y="469506"/>
                </a:lnTo>
                <a:lnTo>
                  <a:pt x="9144000" y="46950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0" y="469506"/>
                </a:moveTo>
                <a:lnTo>
                  <a:pt x="9144000" y="469506"/>
                </a:lnTo>
                <a:lnTo>
                  <a:pt x="9144000" y="0"/>
                </a:lnTo>
                <a:lnTo>
                  <a:pt x="0" y="0"/>
                </a:lnTo>
                <a:lnTo>
                  <a:pt x="0" y="469506"/>
                </a:lnTo>
                <a:close/>
              </a:path>
            </a:pathLst>
          </a:custGeom>
          <a:ln w="9525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0893"/>
            <a:ext cx="521144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6971" y="2472690"/>
            <a:ext cx="5882640" cy="202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99205" y="4964607"/>
            <a:ext cx="2545079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IUBA-Posgrado-Inteligencia-Artificial/aprendizaje_profundo/tree/ap_20250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marcos_maillot@yahoo.com.a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p_a22@cursoscapse.com" TargetMode="External"/><Relationship Id="rId4" Type="http://schemas.openxmlformats.org/officeDocument/2006/relationships/hyperlink" Target="mailto:gvilcamiza.ext@fi.uba.ar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neuralnetworksanddeeplearning.com/" TargetMode="External"/><Relationship Id="rId4" Type="http://schemas.openxmlformats.org/officeDocument/2006/relationships/hyperlink" Target="https://d2l.ai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2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8.png"/><Relationship Id="rId16" Type="http://schemas.openxmlformats.org/officeDocument/2006/relationships/image" Target="../media/image71.jp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8246364" y="4245876"/>
            <a:ext cx="897890" cy="897890"/>
            <a:chOff x="8246364" y="4245876"/>
            <a:chExt cx="897890" cy="897890"/>
          </a:xfrm>
        </p:grpSpPr>
        <p:sp>
          <p:nvSpPr>
            <p:cNvPr id="4" name="object 4"/>
            <p:cNvSpPr/>
            <p:nvPr/>
          </p:nvSpPr>
          <p:spPr>
            <a:xfrm>
              <a:off x="8246364" y="4245927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0" y="897596"/>
                  </a:lnTo>
                  <a:lnTo>
                    <a:pt x="897635" y="8975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8246364" y="4245876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149605" y="0"/>
                  </a:lnTo>
                  <a:lnTo>
                    <a:pt x="102347" y="7626"/>
                  </a:lnTo>
                  <a:lnTo>
                    <a:pt x="61283" y="28864"/>
                  </a:lnTo>
                  <a:lnTo>
                    <a:pt x="28886" y="61250"/>
                  </a:lnTo>
                  <a:lnTo>
                    <a:pt x="7634" y="102318"/>
                  </a:lnTo>
                  <a:lnTo>
                    <a:pt x="0" y="149605"/>
                  </a:lnTo>
                  <a:lnTo>
                    <a:pt x="0" y="897598"/>
                  </a:lnTo>
                  <a:lnTo>
                    <a:pt x="897635" y="897598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0183" y="3876295"/>
            <a:ext cx="4136390" cy="961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    Profesores:</a:t>
            </a:r>
            <a:endParaRPr lang="es-PE" sz="2200" spc="-10" dirty="0">
              <a:latin typeface="Roboto"/>
              <a:cs typeface="Roboto"/>
            </a:endParaRP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Marcos</a:t>
            </a:r>
            <a:r>
              <a:rPr lang="es-PE" sz="2200" spc="-80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Maillot</a:t>
            </a: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Gerardo</a:t>
            </a:r>
            <a:r>
              <a:rPr lang="es-PE" sz="2200" spc="-114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Vilcamiza</a:t>
            </a:r>
            <a:endParaRPr lang="es-PE" sz="2200" noProof="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53083" y="98008"/>
            <a:ext cx="5897245" cy="2099310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4"/>
              </a:spcBef>
            </a:pPr>
            <a:r>
              <a:rPr lang="es-PE" sz="4800" b="0" noProof="0" dirty="0">
                <a:latin typeface="Roboto"/>
                <a:cs typeface="Roboto"/>
              </a:rPr>
              <a:t>Aprendizaje</a:t>
            </a:r>
            <a:r>
              <a:rPr lang="es-PE" sz="4800" b="0" spc="-270" noProof="0" dirty="0">
                <a:latin typeface="Roboto"/>
                <a:cs typeface="Roboto"/>
              </a:rPr>
              <a:t> </a:t>
            </a:r>
            <a:r>
              <a:rPr lang="es-PE" sz="4800" b="0" spc="-10" noProof="0" dirty="0">
                <a:latin typeface="Roboto"/>
                <a:cs typeface="Roboto"/>
              </a:rPr>
              <a:t>Profundo</a:t>
            </a:r>
            <a:endParaRPr lang="es-PE" sz="4800" noProof="0" dirty="0">
              <a:latin typeface="Roboto"/>
              <a:cs typeface="Roboto"/>
            </a:endParaRPr>
          </a:p>
          <a:p>
            <a:pPr marL="290195" marR="283210" indent="2540" algn="ctr">
              <a:lnSpc>
                <a:spcPct val="100000"/>
              </a:lnSpc>
              <a:spcBef>
                <a:spcPts val="1080"/>
              </a:spcBef>
            </a:pPr>
            <a:r>
              <a:rPr lang="es-PE" sz="3300" b="0" spc="-10" noProof="0" dirty="0">
                <a:latin typeface="Roboto"/>
                <a:cs typeface="Roboto"/>
              </a:rPr>
              <a:t>Facultad</a:t>
            </a:r>
            <a:r>
              <a:rPr lang="es-PE" sz="3300" b="0" spc="-100" noProof="0" dirty="0">
                <a:latin typeface="Roboto"/>
                <a:cs typeface="Roboto"/>
              </a:rPr>
              <a:t> </a:t>
            </a:r>
            <a:r>
              <a:rPr lang="es-PE" sz="3300" b="0" noProof="0" dirty="0">
                <a:latin typeface="Roboto"/>
                <a:cs typeface="Roboto"/>
              </a:rPr>
              <a:t>de</a:t>
            </a:r>
            <a:r>
              <a:rPr lang="es-PE" sz="3300" b="0" spc="-80" noProof="0" dirty="0">
                <a:latin typeface="Roboto"/>
                <a:cs typeface="Roboto"/>
              </a:rPr>
              <a:t> </a:t>
            </a:r>
            <a:r>
              <a:rPr lang="es-PE" sz="3300" b="0" spc="-10" noProof="0" dirty="0">
                <a:latin typeface="Roboto"/>
                <a:cs typeface="Roboto"/>
              </a:rPr>
              <a:t>Ingeniería </a:t>
            </a:r>
            <a:r>
              <a:rPr lang="es-PE" sz="3300" b="0" spc="-35" noProof="0" dirty="0">
                <a:latin typeface="Roboto"/>
                <a:cs typeface="Roboto"/>
              </a:rPr>
              <a:t>Universidad</a:t>
            </a:r>
            <a:r>
              <a:rPr lang="es-PE" sz="3300" b="0" spc="-114" noProof="0" dirty="0">
                <a:latin typeface="Roboto"/>
                <a:cs typeface="Roboto"/>
              </a:rPr>
              <a:t> </a:t>
            </a:r>
            <a:r>
              <a:rPr lang="es-PE" sz="3300" b="0" noProof="0" dirty="0">
                <a:latin typeface="Roboto"/>
                <a:cs typeface="Roboto"/>
              </a:rPr>
              <a:t>de</a:t>
            </a:r>
            <a:r>
              <a:rPr lang="es-PE" sz="3300" b="0" spc="-114" noProof="0" dirty="0">
                <a:latin typeface="Roboto"/>
                <a:cs typeface="Roboto"/>
              </a:rPr>
              <a:t> </a:t>
            </a:r>
            <a:r>
              <a:rPr lang="es-PE" sz="3300" b="0" spc="-10" noProof="0" dirty="0">
                <a:latin typeface="Roboto"/>
                <a:cs typeface="Roboto"/>
              </a:rPr>
              <a:t>Buenos</a:t>
            </a:r>
            <a:r>
              <a:rPr lang="es-PE" sz="3300" b="0" spc="-120" noProof="0" dirty="0">
                <a:latin typeface="Roboto"/>
                <a:cs typeface="Roboto"/>
              </a:rPr>
              <a:t> </a:t>
            </a:r>
            <a:r>
              <a:rPr lang="es-PE" sz="3300" b="0" spc="-10" noProof="0" dirty="0">
                <a:latin typeface="Roboto"/>
                <a:cs typeface="Roboto"/>
              </a:rPr>
              <a:t>Aires</a:t>
            </a:r>
            <a:endParaRPr lang="es-PE" sz="3300" noProof="0" dirty="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088" y="2371725"/>
            <a:ext cx="1385951" cy="1385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Introducción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3001" y="741426"/>
            <a:ext cx="7579359" cy="397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367665" algn="l"/>
              </a:tabLst>
            </a:pPr>
            <a:r>
              <a:rPr lang="es-PE" sz="2000" noProof="0" dirty="0">
                <a:latin typeface="Roboto"/>
                <a:cs typeface="Roboto"/>
              </a:rPr>
              <a:t>Materia</a:t>
            </a:r>
            <a:r>
              <a:rPr lang="es-PE" sz="2000" spc="-65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de</a:t>
            </a:r>
            <a:r>
              <a:rPr lang="es-PE" sz="2000" spc="-3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8</a:t>
            </a:r>
            <a:r>
              <a:rPr lang="es-PE" sz="2000" spc="-2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clases</a:t>
            </a:r>
            <a:r>
              <a:rPr lang="es-PE" sz="2000" spc="-25" noProof="0" dirty="0">
                <a:latin typeface="Roboto"/>
                <a:cs typeface="Roboto"/>
              </a:rPr>
              <a:t> </a:t>
            </a:r>
            <a:r>
              <a:rPr lang="es-PE" sz="2000" spc="-60" noProof="0" dirty="0">
                <a:latin typeface="Roboto"/>
                <a:cs typeface="Roboto"/>
              </a:rPr>
              <a:t>teórico-</a:t>
            </a:r>
            <a:r>
              <a:rPr lang="es-PE" sz="2000" spc="-10" noProof="0" dirty="0">
                <a:latin typeface="Roboto"/>
                <a:cs typeface="Roboto"/>
              </a:rPr>
              <a:t>prácticas</a:t>
            </a:r>
            <a:endParaRPr lang="es-PE" sz="2000" noProof="0" dirty="0">
              <a:latin typeface="Roboto"/>
              <a:cs typeface="Roboto"/>
            </a:endParaRPr>
          </a:p>
          <a:p>
            <a:pPr marL="367665" indent="-354965">
              <a:lnSpc>
                <a:spcPct val="100000"/>
              </a:lnSpc>
              <a:spcBef>
                <a:spcPts val="2400"/>
              </a:spcBef>
              <a:buFont typeface="Times New Roman"/>
              <a:buChar char="●"/>
              <a:tabLst>
                <a:tab pos="367665" algn="l"/>
              </a:tabLst>
            </a:pPr>
            <a:r>
              <a:rPr lang="es-PE" sz="2000" spc="-20" noProof="0" dirty="0">
                <a:latin typeface="Roboto"/>
                <a:cs typeface="Roboto"/>
              </a:rPr>
              <a:t>Trabajamos</a:t>
            </a:r>
            <a:r>
              <a:rPr lang="es-PE" sz="2000" spc="-65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con</a:t>
            </a:r>
            <a:r>
              <a:rPr lang="es-PE" sz="2000" spc="-25" noProof="0" dirty="0">
                <a:latin typeface="Roboto"/>
                <a:cs typeface="Roboto"/>
              </a:rPr>
              <a:t> </a:t>
            </a:r>
            <a:r>
              <a:rPr lang="es-PE" sz="2000" spc="-10" noProof="0" dirty="0">
                <a:latin typeface="Roboto"/>
                <a:cs typeface="Roboto"/>
              </a:rPr>
              <a:t>diapositivas y notebooks</a:t>
            </a:r>
            <a:endParaRPr lang="es-PE" sz="20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2000" noProof="0" dirty="0">
              <a:latin typeface="Roboto"/>
              <a:cs typeface="Roboto"/>
            </a:endParaRPr>
          </a:p>
          <a:p>
            <a:pPr marL="367665" indent="-354965">
              <a:lnSpc>
                <a:spcPct val="100000"/>
              </a:lnSpc>
              <a:buFont typeface="Times New Roman"/>
              <a:buChar char="●"/>
              <a:tabLst>
                <a:tab pos="367665" algn="l"/>
              </a:tabLst>
            </a:pPr>
            <a:r>
              <a:rPr lang="es-PE" sz="2000" noProof="0" dirty="0">
                <a:latin typeface="Roboto"/>
                <a:cs typeface="Roboto"/>
              </a:rPr>
              <a:t>Clases</a:t>
            </a:r>
            <a:r>
              <a:rPr lang="es-PE" sz="2000" spc="-40" noProof="0" dirty="0">
                <a:latin typeface="Roboto"/>
                <a:cs typeface="Roboto"/>
              </a:rPr>
              <a:t> </a:t>
            </a:r>
            <a:r>
              <a:rPr lang="es-PE" sz="2000" spc="-20" noProof="0" dirty="0">
                <a:latin typeface="Roboto"/>
                <a:cs typeface="Roboto"/>
              </a:rPr>
              <a:t>dinámicas,</a:t>
            </a:r>
            <a:r>
              <a:rPr lang="es-PE" sz="2000" spc="-6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la</a:t>
            </a:r>
            <a:r>
              <a:rPr lang="es-PE" sz="2000" spc="-30" noProof="0" dirty="0">
                <a:latin typeface="Roboto"/>
                <a:cs typeface="Roboto"/>
              </a:rPr>
              <a:t> </a:t>
            </a:r>
            <a:r>
              <a:rPr lang="es-PE" sz="2000" spc="-20" noProof="0" dirty="0">
                <a:latin typeface="Roboto"/>
                <a:cs typeface="Roboto"/>
              </a:rPr>
              <a:t>participación</a:t>
            </a:r>
            <a:r>
              <a:rPr lang="es-PE" sz="2000" spc="-7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y</a:t>
            </a:r>
            <a:r>
              <a:rPr lang="es-PE" sz="2000" spc="-30" noProof="0" dirty="0">
                <a:latin typeface="Roboto"/>
                <a:cs typeface="Roboto"/>
              </a:rPr>
              <a:t> </a:t>
            </a:r>
            <a:r>
              <a:rPr lang="es-PE" sz="2000" noProof="0" dirty="0" err="1">
                <a:latin typeface="Roboto"/>
                <a:cs typeface="Roboto"/>
              </a:rPr>
              <a:t>feedback</a:t>
            </a:r>
            <a:r>
              <a:rPr lang="es-PE" sz="2000" noProof="0" dirty="0">
                <a:latin typeface="Roboto"/>
                <a:cs typeface="Roboto"/>
              </a:rPr>
              <a:t> son</a:t>
            </a:r>
            <a:r>
              <a:rPr lang="es-PE" sz="2000" spc="-55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bien</a:t>
            </a:r>
            <a:r>
              <a:rPr lang="es-PE" sz="2000" spc="-35" noProof="0" dirty="0">
                <a:latin typeface="Roboto"/>
                <a:cs typeface="Roboto"/>
              </a:rPr>
              <a:t> </a:t>
            </a:r>
            <a:r>
              <a:rPr lang="es-PE" sz="2000" spc="-10" noProof="0" dirty="0">
                <a:latin typeface="Roboto"/>
                <a:cs typeface="Roboto"/>
              </a:rPr>
              <a:t>recibidos</a:t>
            </a:r>
            <a:endParaRPr lang="es-PE" sz="2000" noProof="0" dirty="0">
              <a:latin typeface="Roboto"/>
              <a:cs typeface="Roboto"/>
            </a:endParaRPr>
          </a:p>
          <a:p>
            <a:pPr marL="367665" indent="-354965">
              <a:lnSpc>
                <a:spcPct val="100000"/>
              </a:lnSpc>
              <a:spcBef>
                <a:spcPts val="1500"/>
              </a:spcBef>
              <a:buFont typeface="Times New Roman"/>
              <a:buChar char="●"/>
              <a:tabLst>
                <a:tab pos="367665" algn="l"/>
              </a:tabLst>
            </a:pPr>
            <a:r>
              <a:rPr lang="es-PE" sz="2000" spc="-10" noProof="0" dirty="0">
                <a:latin typeface="Roboto"/>
                <a:cs typeface="Roboto"/>
              </a:rPr>
              <a:t>Clases:</a:t>
            </a:r>
            <a:endParaRPr lang="es-PE" sz="20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spcBef>
                <a:spcPts val="1780"/>
              </a:spcBef>
              <a:buFont typeface="Times New Roman"/>
              <a:buChar char="○"/>
              <a:tabLst>
                <a:tab pos="824865" algn="l"/>
              </a:tabLst>
            </a:pPr>
            <a:r>
              <a:rPr lang="es-PE" sz="1600" noProof="0" dirty="0">
                <a:latin typeface="Roboto"/>
                <a:cs typeface="Roboto"/>
              </a:rPr>
              <a:t>10</a:t>
            </a:r>
            <a:r>
              <a:rPr lang="es-PE" sz="1600" spc="-5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minutos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resumen</a:t>
            </a:r>
            <a:r>
              <a:rPr lang="es-PE" sz="1600" spc="-4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50" noProof="0" dirty="0">
                <a:latin typeface="Roboto"/>
                <a:cs typeface="Roboto"/>
              </a:rPr>
              <a:t> la </a:t>
            </a:r>
            <a:r>
              <a:rPr lang="es-PE" sz="1600" noProof="0" dirty="0">
                <a:latin typeface="Roboto"/>
                <a:cs typeface="Roboto"/>
              </a:rPr>
              <a:t>clase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anterior y resolución de dudas de los </a:t>
            </a:r>
            <a:r>
              <a:rPr lang="es-PE" sz="1600" spc="-10" noProof="0" dirty="0" err="1">
                <a:latin typeface="Roboto"/>
                <a:cs typeface="Roboto"/>
              </a:rPr>
              <a:t>TPs</a:t>
            </a:r>
            <a:endParaRPr lang="es-PE" sz="16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Font typeface="Times New Roman"/>
              <a:buChar char="○"/>
            </a:pPr>
            <a:endParaRPr lang="es-PE" sz="16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buFont typeface="Times New Roman"/>
              <a:buChar char="○"/>
              <a:tabLst>
                <a:tab pos="824865" algn="l"/>
              </a:tabLst>
            </a:pPr>
            <a:r>
              <a:rPr lang="es-PE" sz="1600" noProof="0" dirty="0">
                <a:latin typeface="Roboto"/>
                <a:cs typeface="Roboto"/>
              </a:rPr>
              <a:t>3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bloques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2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50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minutos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trabajo </a:t>
            </a:r>
            <a:r>
              <a:rPr lang="es-PE" sz="1600" spc="-55" noProof="0" dirty="0">
                <a:latin typeface="Roboto"/>
                <a:cs typeface="Roboto"/>
              </a:rPr>
              <a:t>teórico-</a:t>
            </a:r>
            <a:r>
              <a:rPr lang="es-PE" sz="1600" spc="-10" noProof="0" dirty="0">
                <a:latin typeface="Roboto"/>
                <a:cs typeface="Roboto"/>
              </a:rPr>
              <a:t>práctico</a:t>
            </a:r>
            <a:endParaRPr lang="es-PE" sz="16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Font typeface="Times New Roman"/>
              <a:buChar char="○"/>
            </a:pPr>
            <a:endParaRPr lang="es-PE" sz="16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824865" algn="l"/>
              </a:tabLst>
            </a:pPr>
            <a:r>
              <a:rPr lang="es-PE" sz="1600" noProof="0" dirty="0">
                <a:latin typeface="Roboto"/>
                <a:cs typeface="Roboto"/>
              </a:rPr>
              <a:t>2</a:t>
            </a:r>
            <a:r>
              <a:rPr lang="es-PE" sz="1600" spc="-4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bloques</a:t>
            </a:r>
            <a:r>
              <a:rPr lang="es-PE" sz="1600" spc="-1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10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minutos</a:t>
            </a:r>
            <a:r>
              <a:rPr lang="es-PE" sz="1600" spc="-2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descanso</a:t>
            </a:r>
            <a:endParaRPr lang="es-PE" sz="16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spcBef>
                <a:spcPts val="1920"/>
              </a:spcBef>
              <a:buFont typeface="Times New Roman"/>
              <a:buChar char="○"/>
              <a:tabLst>
                <a:tab pos="82486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Ejercicios</a:t>
            </a:r>
            <a:r>
              <a:rPr lang="es-PE" sz="1600" spc="-4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clase</a:t>
            </a:r>
            <a:r>
              <a:rPr lang="es-PE" sz="1600" spc="-2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a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clase</a:t>
            </a:r>
            <a:r>
              <a:rPr lang="es-PE" sz="1600" spc="-2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práctica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(sin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nota)</a:t>
            </a:r>
            <a:endParaRPr lang="es-PE" sz="16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Introducción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848" y="742950"/>
            <a:ext cx="8458200" cy="40876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315" indent="-348615">
              <a:lnSpc>
                <a:spcPct val="100000"/>
              </a:lnSpc>
              <a:spcBef>
                <a:spcPts val="95"/>
              </a:spcBef>
              <a:buFont typeface="Times New Roman"/>
              <a:buChar char="●"/>
              <a:tabLst>
                <a:tab pos="361315" algn="l"/>
              </a:tabLst>
            </a:pPr>
            <a:r>
              <a:rPr lang="es-PE" sz="1900" b="1" spc="-10" noProof="0" dirty="0">
                <a:latin typeface="Roboto"/>
                <a:cs typeface="Roboto"/>
              </a:rPr>
              <a:t>APROBACIÓN</a:t>
            </a:r>
          </a:p>
          <a:p>
            <a:pPr marL="818515" lvl="1" indent="-330835">
              <a:lnSpc>
                <a:spcPct val="100000"/>
              </a:lnSpc>
              <a:spcBef>
                <a:spcPts val="1750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sz="1500" spc="-10" noProof="0" dirty="0">
                <a:latin typeface="Roboto"/>
                <a:cs typeface="Roboto"/>
              </a:rPr>
              <a:t>Trabajos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prácticos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offline,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con</a:t>
            </a:r>
            <a:r>
              <a:rPr lang="es-PE" sz="1500" spc="-6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entregas</a:t>
            </a:r>
            <a:r>
              <a:rPr lang="es-PE" sz="1500" spc="-6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por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25" noProof="0" dirty="0">
                <a:latin typeface="Roboto"/>
                <a:cs typeface="Roboto"/>
              </a:rPr>
              <a:t>Google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spc="-10" noProof="0" dirty="0" err="1">
                <a:latin typeface="Roboto"/>
                <a:cs typeface="Roboto"/>
              </a:rPr>
              <a:t>Forms</a:t>
            </a:r>
            <a:r>
              <a:rPr lang="es-PE" sz="1500" spc="-10" noProof="0" dirty="0">
                <a:latin typeface="Roboto"/>
                <a:cs typeface="Roboto"/>
              </a:rPr>
              <a:t>.</a:t>
            </a:r>
            <a:endParaRPr lang="es-PE" sz="15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Font typeface="Times New Roman"/>
              <a:buChar char="○"/>
            </a:pPr>
            <a:endParaRPr lang="es-PE" sz="1500" noProof="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u="sng" noProof="0" dirty="0">
                <a:uFill>
                  <a:solidFill>
                    <a:srgbClr val="000000"/>
                  </a:solidFill>
                </a:uFill>
                <a:latin typeface="Roboto"/>
                <a:cs typeface="Roboto"/>
              </a:rPr>
              <a:t>TP1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Envío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al término de la clase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2,</a:t>
            </a:r>
            <a:r>
              <a:rPr lang="es-PE" sz="1500" spc="-7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entrega</a:t>
            </a:r>
            <a:r>
              <a:rPr lang="es-PE" sz="1500" spc="-50" noProof="0" dirty="0">
                <a:latin typeface="Roboto"/>
                <a:cs typeface="Roboto"/>
              </a:rPr>
              <a:t> hasta dos días después de la clase 4 (23 h)</a:t>
            </a:r>
            <a:r>
              <a:rPr lang="es-PE" sz="1500" spc="-25" noProof="0" dirty="0">
                <a:latin typeface="Roboto"/>
                <a:cs typeface="Roboto"/>
              </a:rPr>
              <a:t>.</a:t>
            </a:r>
          </a:p>
          <a:p>
            <a:pPr marL="945515" lvl="2">
              <a:lnSpc>
                <a:spcPct val="100000"/>
              </a:lnSpc>
              <a:spcBef>
                <a:spcPts val="5"/>
              </a:spcBef>
              <a:tabLst>
                <a:tab pos="1275715" algn="l"/>
              </a:tabLst>
            </a:pPr>
            <a:endParaRPr lang="es-PE" sz="1500" noProof="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u="sng" spc="-10" noProof="0" dirty="0">
                <a:uFill>
                  <a:solidFill>
                    <a:srgbClr val="000000"/>
                  </a:solidFill>
                </a:uFill>
                <a:latin typeface="Roboto"/>
                <a:cs typeface="Roboto"/>
              </a:rPr>
              <a:t>TP2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Envío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al término de la clase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4,</a:t>
            </a:r>
            <a:r>
              <a:rPr lang="es-PE" sz="1500" spc="-7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entrega</a:t>
            </a:r>
            <a:r>
              <a:rPr lang="es-PE" sz="1500" spc="-50" noProof="0" dirty="0">
                <a:latin typeface="Roboto"/>
                <a:cs typeface="Roboto"/>
              </a:rPr>
              <a:t> hasta dos días después de la clase 6 (23 h)</a:t>
            </a:r>
            <a:r>
              <a:rPr lang="es-PE" sz="1500" spc="-25" noProof="0" dirty="0">
                <a:latin typeface="Roboto"/>
                <a:cs typeface="Roboto"/>
              </a:rPr>
              <a:t>.</a:t>
            </a:r>
          </a:p>
          <a:p>
            <a:pPr marL="945515" lvl="2">
              <a:lnSpc>
                <a:spcPct val="100000"/>
              </a:lnSpc>
              <a:spcBef>
                <a:spcPts val="5"/>
              </a:spcBef>
              <a:tabLst>
                <a:tab pos="1275715" algn="l"/>
              </a:tabLst>
            </a:pPr>
            <a:endParaRPr lang="es-PE" sz="1500" noProof="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u="sng" spc="-10" noProof="0" dirty="0">
                <a:uFill>
                  <a:solidFill>
                    <a:srgbClr val="000000"/>
                  </a:solidFill>
                </a:uFill>
                <a:latin typeface="Roboto"/>
                <a:cs typeface="Roboto"/>
              </a:rPr>
              <a:t>TP3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Envío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al término de la clase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55" dirty="0">
                <a:latin typeface="Roboto"/>
                <a:cs typeface="Roboto"/>
              </a:rPr>
              <a:t>6</a:t>
            </a:r>
            <a:r>
              <a:rPr lang="es-PE" sz="1500" noProof="0" dirty="0">
                <a:latin typeface="Roboto"/>
                <a:cs typeface="Roboto"/>
              </a:rPr>
              <a:t>,</a:t>
            </a:r>
            <a:r>
              <a:rPr lang="es-PE" sz="1500" spc="-7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entrega</a:t>
            </a:r>
            <a:r>
              <a:rPr lang="es-PE" sz="1500" spc="-50" noProof="0" dirty="0">
                <a:latin typeface="Roboto"/>
                <a:cs typeface="Roboto"/>
              </a:rPr>
              <a:t> hasta dos días después de la clase 8 (23 h)</a:t>
            </a:r>
            <a:r>
              <a:rPr lang="es-PE" sz="1500" spc="-25" noProof="0" dirty="0">
                <a:latin typeface="Roboto"/>
                <a:cs typeface="Roboto"/>
              </a:rPr>
              <a:t>.</a:t>
            </a:r>
          </a:p>
          <a:p>
            <a:pPr marL="945515" lvl="2">
              <a:lnSpc>
                <a:spcPct val="100000"/>
              </a:lnSpc>
              <a:spcBef>
                <a:spcPts val="5"/>
              </a:spcBef>
              <a:tabLst>
                <a:tab pos="1275715" algn="l"/>
              </a:tabLst>
            </a:pPr>
            <a:endParaRPr lang="es-PE" sz="1500" spc="-25" noProof="0" dirty="0">
              <a:latin typeface="Roboto"/>
              <a:cs typeface="Roboto"/>
            </a:endParaRPr>
          </a:p>
          <a:p>
            <a:pPr marL="1275715" indent="-330200"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spc="-25" dirty="0">
                <a:latin typeface="Roboto"/>
                <a:cs typeface="Roboto"/>
              </a:rPr>
              <a:t>Los 3 trabajos tiene el mismo peso, cada uno vale un tercio de la nota final.</a:t>
            </a:r>
            <a:endParaRPr lang="es-PE" sz="150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endParaRPr lang="es-PE" sz="1900" b="1" spc="-10" noProof="0" dirty="0">
              <a:latin typeface="Roboto"/>
              <a:cs typeface="Roboto"/>
            </a:endParaRPr>
          </a:p>
          <a:p>
            <a:pPr marL="361315" indent="-348615">
              <a:lnSpc>
                <a:spcPct val="100000"/>
              </a:lnSpc>
              <a:spcBef>
                <a:spcPts val="95"/>
              </a:spcBef>
              <a:buFont typeface="Times New Roman"/>
              <a:buChar char="●"/>
              <a:tabLst>
                <a:tab pos="361315" algn="l"/>
              </a:tabLst>
            </a:pPr>
            <a:r>
              <a:rPr lang="es-PE" sz="1900" b="1" spc="-10" noProof="0" dirty="0">
                <a:latin typeface="Roboto"/>
                <a:cs typeface="Roboto"/>
              </a:rPr>
              <a:t>MATERIAL DE CLASE</a:t>
            </a:r>
          </a:p>
          <a:p>
            <a:pPr lvl="2">
              <a:lnSpc>
                <a:spcPct val="100000"/>
              </a:lnSpc>
            </a:pPr>
            <a:endParaRPr lang="es-PE" sz="1600" noProof="0" dirty="0">
              <a:latin typeface="Roboto"/>
              <a:cs typeface="Roboto"/>
            </a:endParaRPr>
          </a:p>
          <a:p>
            <a:pPr marL="818515" lvl="1" indent="-330835">
              <a:lnSpc>
                <a:spcPct val="100000"/>
              </a:lnSpc>
              <a:buFont typeface="Times New Roman"/>
              <a:buChar char="○"/>
              <a:tabLst>
                <a:tab pos="818515" algn="l"/>
              </a:tabLst>
            </a:pPr>
            <a:r>
              <a:rPr lang="es-PE" sz="1600" noProof="0" dirty="0">
                <a:latin typeface="Roboto"/>
                <a:cs typeface="Roboto"/>
              </a:rPr>
              <a:t>Los</a:t>
            </a:r>
            <a:r>
              <a:rPr lang="es-PE" sz="1600" spc="-5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contenidos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estarán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20" noProof="0" dirty="0">
                <a:latin typeface="Roboto"/>
                <a:cs typeface="Roboto"/>
              </a:rPr>
              <a:t>disponibles</a:t>
            </a:r>
            <a:r>
              <a:rPr lang="es-PE" sz="1600" spc="-2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en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el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b="1" u="sng" noProof="0" dirty="0">
                <a:solidFill>
                  <a:srgbClr val="1A227D"/>
                </a:solidFill>
                <a:uFill>
                  <a:solidFill>
                    <a:srgbClr val="1A227D"/>
                  </a:solidFill>
                </a:uFill>
                <a:latin typeface="Roboto"/>
                <a:cs typeface="Roboto"/>
                <a:hlinkClick r:id="rId3"/>
              </a:rPr>
              <a:t>repositorio</a:t>
            </a:r>
            <a:r>
              <a:rPr lang="es-PE" sz="1600" spc="-10" noProof="0" dirty="0">
                <a:latin typeface="Roboto"/>
                <a:cs typeface="Roboto"/>
              </a:rPr>
              <a:t>.</a:t>
            </a:r>
          </a:p>
          <a:p>
            <a:pPr marL="487680" lvl="1">
              <a:lnSpc>
                <a:spcPct val="100000"/>
              </a:lnSpc>
              <a:tabLst>
                <a:tab pos="818515" algn="l"/>
              </a:tabLst>
            </a:pPr>
            <a:endParaRPr lang="es-PE" sz="16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98B0-0E53-0F33-7A8B-9D5A05AA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18D14D-1490-E0C7-9CF1-2AA1B84321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Introducción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B87DE27-650B-723B-433F-03CE982046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CB437AF-2405-4FF0-FB99-7AA54C70A621}"/>
              </a:ext>
            </a:extLst>
          </p:cNvPr>
          <p:cNvSpPr txBox="1"/>
          <p:nvPr/>
        </p:nvSpPr>
        <p:spPr>
          <a:xfrm>
            <a:off x="381000" y="590550"/>
            <a:ext cx="7086600" cy="25256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1">
              <a:lnSpc>
                <a:spcPct val="100000"/>
              </a:lnSpc>
              <a:spcBef>
                <a:spcPts val="1350"/>
              </a:spcBef>
            </a:pPr>
            <a:endParaRPr lang="es-PE" noProof="0" dirty="0">
              <a:latin typeface="Roboto"/>
              <a:cs typeface="Roboto"/>
            </a:endParaRPr>
          </a:p>
          <a:p>
            <a:pPr marL="361315" indent="-342900">
              <a:lnSpc>
                <a:spcPct val="100000"/>
              </a:lnSpc>
              <a:buFont typeface="Times New Roman"/>
              <a:buChar char="●"/>
              <a:tabLst>
                <a:tab pos="361315" algn="l"/>
              </a:tabLst>
            </a:pPr>
            <a:r>
              <a:rPr lang="es-PE" sz="2000" b="1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CORREOS DE CONSULTA</a:t>
            </a:r>
            <a:endParaRPr lang="es-PE" sz="2000" b="1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75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Marcos</a:t>
            </a:r>
            <a:r>
              <a:rPr lang="es-PE" spc="-4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Maillot:</a:t>
            </a:r>
            <a:r>
              <a:rPr lang="es-PE" spc="-5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marcos_maillot@yahoo.com.ar</a:t>
            </a:r>
            <a:endParaRPr lang="es-PE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00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Gerardo</a:t>
            </a:r>
            <a:r>
              <a:rPr lang="es-PE" spc="-3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Vilcamiza:</a:t>
            </a:r>
            <a:r>
              <a:rPr lang="es-PE" spc="-5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gvilcamiza.ext@fi.uba.ar</a:t>
            </a:r>
            <a:endParaRPr lang="es-P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00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Clase: </a:t>
            </a:r>
            <a:r>
              <a:rPr lang="es-PE" dirty="0">
                <a:hlinkClick r:id="rId5"/>
              </a:rPr>
              <a:t>ap_a22@cursoscapse.com</a:t>
            </a:r>
            <a:endParaRPr lang="es-PE" dirty="0"/>
          </a:p>
          <a:p>
            <a:pPr marL="495935" lvl="1">
              <a:lnSpc>
                <a:spcPct val="100000"/>
              </a:lnSpc>
              <a:spcBef>
                <a:spcPts val="900"/>
              </a:spcBef>
              <a:tabLst>
                <a:tab pos="818515" algn="l"/>
              </a:tabLst>
            </a:pPr>
            <a:endParaRPr lang="es-P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00"/>
              </a:spcBef>
              <a:buFont typeface="Times New Roman"/>
              <a:buChar char="○"/>
              <a:tabLst>
                <a:tab pos="818515" algn="l"/>
              </a:tabLst>
            </a:pPr>
            <a:endParaRPr lang="es-PE" sz="1600" noProof="0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7991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Contenido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2600" y="895350"/>
            <a:ext cx="5326888" cy="36400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indent="-335280">
              <a:lnSpc>
                <a:spcPct val="100000"/>
              </a:lnSpc>
              <a:spcBef>
                <a:spcPts val="105"/>
              </a:spcBef>
              <a:buSzPct val="121428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35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1</a:t>
            </a:r>
            <a:r>
              <a:rPr lang="es-PE" sz="1400" noProof="0" dirty="0">
                <a:latin typeface="Roboto"/>
                <a:cs typeface="Roboto"/>
              </a:rPr>
              <a:t>:</a:t>
            </a:r>
            <a:r>
              <a:rPr lang="es-PE" sz="1400" spc="-5" noProof="0" dirty="0">
                <a:latin typeface="Roboto"/>
                <a:cs typeface="Roboto"/>
              </a:rPr>
              <a:t> </a:t>
            </a:r>
            <a:r>
              <a:rPr lang="es-PE" sz="1400" spc="-20" noProof="0" dirty="0">
                <a:latin typeface="Roboto"/>
                <a:cs typeface="Roboto"/>
              </a:rPr>
              <a:t>Introducción </a:t>
            </a:r>
            <a:r>
              <a:rPr lang="es-PE" sz="1400" noProof="0" dirty="0">
                <a:latin typeface="Roboto"/>
                <a:cs typeface="Roboto"/>
              </a:rPr>
              <a:t>al</a:t>
            </a:r>
            <a:r>
              <a:rPr lang="es-PE" sz="1400" spc="-5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Deep</a:t>
            </a:r>
            <a:r>
              <a:rPr lang="es-PE" sz="1400" spc="-10" noProof="0" dirty="0"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latin typeface="Roboto"/>
                <a:cs typeface="Roboto"/>
              </a:rPr>
              <a:t>Learning</a:t>
            </a:r>
            <a:r>
              <a:rPr lang="es-PE" sz="1400" spc="-20" noProof="0" dirty="0">
                <a:latin typeface="Roboto"/>
                <a:cs typeface="Roboto"/>
              </a:rPr>
              <a:t>.</a:t>
            </a:r>
            <a:r>
              <a:rPr lang="es-PE" sz="1400" spc="-4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Redes</a:t>
            </a:r>
            <a:r>
              <a:rPr lang="es-PE" sz="1400" spc="-50" noProof="0" dirty="0">
                <a:latin typeface="Roboto"/>
                <a:cs typeface="Roboto"/>
              </a:rPr>
              <a:t> neuronales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Times New Roman"/>
              <a:buChar char="●"/>
            </a:pPr>
            <a:endParaRPr lang="es-PE" sz="1400" noProof="0" dirty="0">
              <a:latin typeface="Roboto"/>
              <a:cs typeface="Roboto"/>
            </a:endParaRPr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SzPct val="128571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20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2</a:t>
            </a:r>
            <a:r>
              <a:rPr lang="es-PE" sz="1400" noProof="0" dirty="0">
                <a:latin typeface="Roboto"/>
                <a:cs typeface="Roboto"/>
              </a:rPr>
              <a:t>:</a:t>
            </a:r>
            <a:r>
              <a:rPr lang="es-PE" sz="1400" spc="5" noProof="0" dirty="0">
                <a:latin typeface="Roboto"/>
                <a:cs typeface="Roboto"/>
              </a:rPr>
              <a:t> </a:t>
            </a:r>
            <a:r>
              <a:rPr lang="es-PE" sz="1400" spc="-20" noProof="0" dirty="0">
                <a:latin typeface="Roboto"/>
                <a:cs typeface="Roboto"/>
              </a:rPr>
              <a:t>Funciones</a:t>
            </a:r>
            <a:r>
              <a:rPr lang="es-PE" sz="1400" spc="-35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</a:t>
            </a:r>
            <a:r>
              <a:rPr lang="es-PE" sz="1400" spc="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activación, funciones de costo y algoritmos de optimización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Char char="●"/>
            </a:pPr>
            <a:endParaRPr lang="es-PE" sz="1400" noProof="0" dirty="0">
              <a:latin typeface="Roboto"/>
              <a:cs typeface="Roboto"/>
            </a:endParaRPr>
          </a:p>
          <a:p>
            <a:pPr marL="352425" indent="-339725">
              <a:lnSpc>
                <a:spcPct val="100000"/>
              </a:lnSpc>
              <a:buSzPct val="128571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20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3</a:t>
            </a:r>
            <a:r>
              <a:rPr lang="es-PE" sz="1400" noProof="0" dirty="0">
                <a:latin typeface="Roboto"/>
                <a:cs typeface="Roboto"/>
              </a:rPr>
              <a:t>:</a:t>
            </a:r>
            <a:r>
              <a:rPr lang="es-PE" sz="1400" spc="5" noProof="0" dirty="0">
                <a:latin typeface="Roboto"/>
                <a:cs typeface="Roboto"/>
              </a:rPr>
              <a:t> Introducción al </a:t>
            </a:r>
            <a:r>
              <a:rPr lang="es-PE" sz="1400" spc="5" noProof="0" dirty="0" err="1">
                <a:latin typeface="Roboto"/>
                <a:cs typeface="Roboto"/>
              </a:rPr>
              <a:t>framework</a:t>
            </a:r>
            <a:r>
              <a:rPr lang="es-PE" sz="1400" spc="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PyTorch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Times New Roman"/>
              <a:buChar char="●"/>
            </a:pPr>
            <a:endParaRPr lang="es-PE" sz="1400" noProof="0" dirty="0">
              <a:latin typeface="Roboto"/>
              <a:cs typeface="Roboto"/>
            </a:endParaRPr>
          </a:p>
          <a:p>
            <a:pPr marL="352425" indent="-339725">
              <a:lnSpc>
                <a:spcPct val="100000"/>
              </a:lnSpc>
              <a:buSzPct val="128571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20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4</a:t>
            </a:r>
            <a:r>
              <a:rPr lang="es-PE" sz="1400" noProof="0" dirty="0">
                <a:latin typeface="Roboto"/>
                <a:cs typeface="Roboto"/>
              </a:rPr>
              <a:t>: </a:t>
            </a:r>
            <a:r>
              <a:rPr lang="es-PE" sz="1400" spc="-20" noProof="0" dirty="0">
                <a:latin typeface="Roboto"/>
                <a:cs typeface="Roboto"/>
              </a:rPr>
              <a:t>Regularización,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hyperparameter</a:t>
            </a:r>
            <a:r>
              <a:rPr lang="es-PE" sz="1400" spc="-10" noProof="0" dirty="0"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latin typeface="Roboto"/>
                <a:cs typeface="Roboto"/>
              </a:rPr>
              <a:t>tuning</a:t>
            </a:r>
            <a:r>
              <a:rPr lang="es-PE" sz="1400" spc="-20" dirty="0">
                <a:latin typeface="Roboto"/>
                <a:cs typeface="Roboto"/>
              </a:rPr>
              <a:t> y </a:t>
            </a:r>
            <a:r>
              <a:rPr lang="es-PE" sz="1400" spc="-10" noProof="0" dirty="0" err="1">
                <a:latin typeface="Roboto"/>
                <a:cs typeface="Roboto"/>
              </a:rPr>
              <a:t>embeddings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Char char="●"/>
            </a:pPr>
            <a:endParaRPr lang="es-PE" sz="1400" noProof="0" dirty="0">
              <a:latin typeface="Roboto"/>
              <a:cs typeface="Roboto"/>
            </a:endParaRPr>
          </a:p>
          <a:p>
            <a:pPr marL="352425" indent="-339725">
              <a:lnSpc>
                <a:spcPct val="100000"/>
              </a:lnSpc>
              <a:buSzPct val="128571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5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5</a:t>
            </a:r>
            <a:r>
              <a:rPr lang="es-PE" sz="1400" noProof="0" dirty="0">
                <a:latin typeface="Roboto"/>
                <a:cs typeface="Roboto"/>
              </a:rPr>
              <a:t>:</a:t>
            </a:r>
            <a:r>
              <a:rPr lang="es-PE" sz="1400" spc="20" noProof="0" dirty="0"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latin typeface="Roboto"/>
                <a:cs typeface="Roboto"/>
              </a:rPr>
              <a:t>Convolutional</a:t>
            </a:r>
            <a:r>
              <a:rPr lang="es-PE" sz="1400" spc="-1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Neural Networks (</a:t>
            </a:r>
            <a:r>
              <a:rPr lang="es-PE" sz="1400" spc="-10" noProof="0" dirty="0" err="1">
                <a:latin typeface="Roboto"/>
                <a:cs typeface="Roboto"/>
              </a:rPr>
              <a:t>CNNs</a:t>
            </a:r>
            <a:r>
              <a:rPr lang="es-PE" sz="1400" spc="-10" noProof="0" dirty="0">
                <a:latin typeface="Roboto"/>
                <a:cs typeface="Roboto"/>
              </a:rPr>
              <a:t>)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Char char="●"/>
            </a:pPr>
            <a:endParaRPr lang="es-PE" sz="1400" noProof="0" dirty="0">
              <a:latin typeface="Roboto"/>
              <a:cs typeface="Roboto"/>
            </a:endParaRPr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SzPct val="128571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50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6</a:t>
            </a:r>
            <a:r>
              <a:rPr lang="es-PE" sz="1400" noProof="0" dirty="0">
                <a:latin typeface="Roboto"/>
                <a:cs typeface="Roboto"/>
              </a:rPr>
              <a:t>: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latin typeface="Roboto"/>
                <a:cs typeface="Roboto"/>
              </a:rPr>
              <a:t>Recurrent</a:t>
            </a:r>
            <a:r>
              <a:rPr lang="es-PE" sz="1400" spc="-6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Neural</a:t>
            </a:r>
            <a:r>
              <a:rPr lang="es-PE" sz="1400" spc="-45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Networks (</a:t>
            </a:r>
            <a:r>
              <a:rPr lang="es-PE" sz="1400" noProof="0" dirty="0" err="1">
                <a:latin typeface="Roboto"/>
                <a:cs typeface="Roboto"/>
              </a:rPr>
              <a:t>RNNs</a:t>
            </a:r>
            <a:r>
              <a:rPr lang="es-PE" sz="1400" noProof="0" dirty="0">
                <a:latin typeface="Roboto"/>
                <a:cs typeface="Roboto"/>
              </a:rPr>
              <a:t>).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Attention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Layers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Times New Roman"/>
              <a:buChar char="●"/>
            </a:pPr>
            <a:endParaRPr lang="es-PE" sz="1400" noProof="0" dirty="0">
              <a:latin typeface="Roboto"/>
              <a:cs typeface="Roboto"/>
            </a:endParaRPr>
          </a:p>
          <a:p>
            <a:pPr marL="352425" indent="-339725">
              <a:lnSpc>
                <a:spcPct val="100000"/>
              </a:lnSpc>
              <a:buSzPct val="128571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5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7</a:t>
            </a:r>
            <a:r>
              <a:rPr lang="es-PE" sz="1400" noProof="0" dirty="0">
                <a:latin typeface="Roboto"/>
                <a:cs typeface="Roboto"/>
              </a:rPr>
              <a:t>:</a:t>
            </a:r>
            <a:r>
              <a:rPr lang="es-PE" sz="1400" spc="10" noProof="0" dirty="0">
                <a:latin typeface="Roboto"/>
                <a:cs typeface="Roboto"/>
              </a:rPr>
              <a:t> </a:t>
            </a:r>
            <a:r>
              <a:rPr lang="es-PE" sz="1400" spc="-40" noProof="0" dirty="0" err="1">
                <a:latin typeface="Roboto"/>
                <a:cs typeface="Roboto"/>
              </a:rPr>
              <a:t>Encoder-</a:t>
            </a:r>
            <a:r>
              <a:rPr lang="es-PE" sz="1400" spc="-10" noProof="0" dirty="0" err="1">
                <a:latin typeface="Roboto"/>
                <a:cs typeface="Roboto"/>
              </a:rPr>
              <a:t>Decoder</a:t>
            </a:r>
            <a:r>
              <a:rPr lang="es-PE" sz="1400" spc="-10" noProof="0" dirty="0">
                <a:latin typeface="Roboto"/>
                <a:cs typeface="Roboto"/>
              </a:rPr>
              <a:t>.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Autoencoder</a:t>
            </a:r>
            <a:r>
              <a:rPr lang="es-PE" sz="1400" spc="-10" noProof="0" dirty="0">
                <a:latin typeface="Roboto"/>
                <a:cs typeface="Roboto"/>
              </a:rPr>
              <a:t>. </a:t>
            </a:r>
            <a:r>
              <a:rPr lang="es-PE" sz="1400" noProof="0" dirty="0">
                <a:latin typeface="Roboto"/>
                <a:cs typeface="Roboto"/>
              </a:rPr>
              <a:t>Transfer</a:t>
            </a:r>
            <a:r>
              <a:rPr lang="es-PE" sz="1400" spc="-10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learning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Times New Roman"/>
              <a:buChar char="●"/>
            </a:pPr>
            <a:endParaRPr lang="es-PE" sz="1400" noProof="0" dirty="0">
              <a:latin typeface="Roboto"/>
              <a:cs typeface="Roboto"/>
            </a:endParaRPr>
          </a:p>
          <a:p>
            <a:pPr marL="352425" indent="-339725">
              <a:lnSpc>
                <a:spcPct val="100000"/>
              </a:lnSpc>
              <a:buSzPct val="128571"/>
              <a:buFont typeface="Times New Roman"/>
              <a:buChar char="●"/>
              <a:tabLst>
                <a:tab pos="35242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Clase</a:t>
            </a:r>
            <a:r>
              <a:rPr lang="es-PE" sz="1400" b="1" spc="-30" noProof="0" dirty="0">
                <a:latin typeface="Roboto"/>
                <a:cs typeface="Roboto"/>
              </a:rPr>
              <a:t> </a:t>
            </a:r>
            <a:r>
              <a:rPr lang="es-PE" sz="1400" b="1" noProof="0" dirty="0">
                <a:latin typeface="Roboto"/>
                <a:cs typeface="Roboto"/>
              </a:rPr>
              <a:t>8</a:t>
            </a:r>
            <a:r>
              <a:rPr lang="es-PE" sz="1400" noProof="0" dirty="0">
                <a:latin typeface="Roboto"/>
                <a:cs typeface="Roboto"/>
              </a:rPr>
              <a:t>:</a:t>
            </a:r>
            <a:r>
              <a:rPr lang="es-PE" sz="1400" spc="-10" noProof="0" dirty="0">
                <a:latin typeface="Roboto"/>
                <a:cs typeface="Roboto"/>
              </a:rPr>
              <a:t> Generative</a:t>
            </a:r>
            <a:r>
              <a:rPr lang="es-PE" sz="1400" spc="-60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Adversarial</a:t>
            </a:r>
            <a:r>
              <a:rPr lang="es-PE" sz="1400" spc="-40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Networks (</a:t>
            </a:r>
            <a:r>
              <a:rPr lang="es-PE" sz="1400" spc="-10" noProof="0" dirty="0" err="1">
                <a:latin typeface="Roboto"/>
                <a:cs typeface="Roboto"/>
              </a:rPr>
              <a:t>GANs</a:t>
            </a:r>
            <a:r>
              <a:rPr lang="es-PE" sz="1400" spc="-10" noProof="0" dirty="0">
                <a:latin typeface="Roboto"/>
                <a:cs typeface="Roboto"/>
              </a:rPr>
              <a:t>)</a:t>
            </a:r>
            <a:endParaRPr lang="es-PE" sz="1400" noProof="0" dirty="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52891" y="802386"/>
            <a:ext cx="5149850" cy="3841522"/>
            <a:chOff x="969403" y="848994"/>
            <a:chExt cx="5149850" cy="3841522"/>
          </a:xfrm>
        </p:grpSpPr>
        <p:sp>
          <p:nvSpPr>
            <p:cNvPr id="6" name="object 6"/>
            <p:cNvSpPr/>
            <p:nvPr/>
          </p:nvSpPr>
          <p:spPr>
            <a:xfrm>
              <a:off x="969403" y="848994"/>
              <a:ext cx="5149850" cy="1962659"/>
            </a:xfrm>
            <a:custGeom>
              <a:avLst/>
              <a:gdLst/>
              <a:ahLst/>
              <a:cxnLst/>
              <a:rect l="l" t="t" r="r" b="b"/>
              <a:pathLst>
                <a:path w="5149850" h="1760855">
                  <a:moveTo>
                    <a:pt x="0" y="293369"/>
                  </a:moveTo>
                  <a:lnTo>
                    <a:pt x="3839" y="245777"/>
                  </a:lnTo>
                  <a:lnTo>
                    <a:pt x="14957" y="200631"/>
                  </a:lnTo>
                  <a:lnTo>
                    <a:pt x="32747" y="158537"/>
                  </a:lnTo>
                  <a:lnTo>
                    <a:pt x="56607" y="120097"/>
                  </a:lnTo>
                  <a:lnTo>
                    <a:pt x="85931" y="85915"/>
                  </a:lnTo>
                  <a:lnTo>
                    <a:pt x="120116" y="56595"/>
                  </a:lnTo>
                  <a:lnTo>
                    <a:pt x="158558" y="32740"/>
                  </a:lnTo>
                  <a:lnTo>
                    <a:pt x="200652" y="14953"/>
                  </a:lnTo>
                  <a:lnTo>
                    <a:pt x="245795" y="3838"/>
                  </a:lnTo>
                  <a:lnTo>
                    <a:pt x="293382" y="0"/>
                  </a:lnTo>
                  <a:lnTo>
                    <a:pt x="4856086" y="0"/>
                  </a:lnTo>
                  <a:lnTo>
                    <a:pt x="4903679" y="3838"/>
                  </a:lnTo>
                  <a:lnTo>
                    <a:pt x="4948824" y="14953"/>
                  </a:lnTo>
                  <a:lnTo>
                    <a:pt x="4990919" y="32740"/>
                  </a:lnTo>
                  <a:lnTo>
                    <a:pt x="5029359" y="56595"/>
                  </a:lnTo>
                  <a:lnTo>
                    <a:pt x="5063540" y="85915"/>
                  </a:lnTo>
                  <a:lnTo>
                    <a:pt x="5092861" y="120097"/>
                  </a:lnTo>
                  <a:lnTo>
                    <a:pt x="5116716" y="158537"/>
                  </a:lnTo>
                  <a:lnTo>
                    <a:pt x="5134502" y="200631"/>
                  </a:lnTo>
                  <a:lnTo>
                    <a:pt x="5145617" y="245777"/>
                  </a:lnTo>
                  <a:lnTo>
                    <a:pt x="5149456" y="293369"/>
                  </a:lnTo>
                  <a:lnTo>
                    <a:pt x="5149456" y="1466849"/>
                  </a:lnTo>
                  <a:lnTo>
                    <a:pt x="5145617" y="1514446"/>
                  </a:lnTo>
                  <a:lnTo>
                    <a:pt x="5134502" y="1559601"/>
                  </a:lnTo>
                  <a:lnTo>
                    <a:pt x="5116716" y="1601710"/>
                  </a:lnTo>
                  <a:lnTo>
                    <a:pt x="5092861" y="1640167"/>
                  </a:lnTo>
                  <a:lnTo>
                    <a:pt x="5063540" y="1674367"/>
                  </a:lnTo>
                  <a:lnTo>
                    <a:pt x="5029359" y="1703707"/>
                  </a:lnTo>
                  <a:lnTo>
                    <a:pt x="4990919" y="1727579"/>
                  </a:lnTo>
                  <a:lnTo>
                    <a:pt x="4948824" y="1745380"/>
                  </a:lnTo>
                  <a:lnTo>
                    <a:pt x="4903679" y="1756504"/>
                  </a:lnTo>
                  <a:lnTo>
                    <a:pt x="4856086" y="1760346"/>
                  </a:lnTo>
                  <a:lnTo>
                    <a:pt x="293382" y="1760346"/>
                  </a:lnTo>
                  <a:lnTo>
                    <a:pt x="245795" y="1756504"/>
                  </a:lnTo>
                  <a:lnTo>
                    <a:pt x="200652" y="1745380"/>
                  </a:lnTo>
                  <a:lnTo>
                    <a:pt x="158558" y="1727579"/>
                  </a:lnTo>
                  <a:lnTo>
                    <a:pt x="120116" y="1703707"/>
                  </a:lnTo>
                  <a:lnTo>
                    <a:pt x="85931" y="1674368"/>
                  </a:lnTo>
                  <a:lnTo>
                    <a:pt x="56607" y="1640167"/>
                  </a:lnTo>
                  <a:lnTo>
                    <a:pt x="32747" y="1601710"/>
                  </a:lnTo>
                  <a:lnTo>
                    <a:pt x="14957" y="1559601"/>
                  </a:lnTo>
                  <a:lnTo>
                    <a:pt x="3839" y="1514446"/>
                  </a:lnTo>
                  <a:lnTo>
                    <a:pt x="0" y="1466849"/>
                  </a:lnTo>
                  <a:lnTo>
                    <a:pt x="0" y="293369"/>
                  </a:lnTo>
                  <a:close/>
                </a:path>
              </a:pathLst>
            </a:custGeom>
            <a:ln w="25400">
              <a:solidFill>
                <a:srgbClr val="002D4E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969403" y="2876549"/>
              <a:ext cx="5149850" cy="1813967"/>
            </a:xfrm>
            <a:custGeom>
              <a:avLst/>
              <a:gdLst/>
              <a:ahLst/>
              <a:cxnLst/>
              <a:rect l="l" t="t" r="r" b="b"/>
              <a:pathLst>
                <a:path w="5149850" h="1760220">
                  <a:moveTo>
                    <a:pt x="0" y="293369"/>
                  </a:moveTo>
                  <a:lnTo>
                    <a:pt x="3839" y="245777"/>
                  </a:lnTo>
                  <a:lnTo>
                    <a:pt x="14957" y="200631"/>
                  </a:lnTo>
                  <a:lnTo>
                    <a:pt x="32747" y="158537"/>
                  </a:lnTo>
                  <a:lnTo>
                    <a:pt x="56607" y="120097"/>
                  </a:lnTo>
                  <a:lnTo>
                    <a:pt x="85931" y="85915"/>
                  </a:lnTo>
                  <a:lnTo>
                    <a:pt x="120116" y="56595"/>
                  </a:lnTo>
                  <a:lnTo>
                    <a:pt x="158558" y="32740"/>
                  </a:lnTo>
                  <a:lnTo>
                    <a:pt x="200652" y="14953"/>
                  </a:lnTo>
                  <a:lnTo>
                    <a:pt x="245795" y="3838"/>
                  </a:lnTo>
                  <a:lnTo>
                    <a:pt x="293382" y="0"/>
                  </a:lnTo>
                  <a:lnTo>
                    <a:pt x="4856086" y="0"/>
                  </a:lnTo>
                  <a:lnTo>
                    <a:pt x="4903679" y="3838"/>
                  </a:lnTo>
                  <a:lnTo>
                    <a:pt x="4948824" y="14953"/>
                  </a:lnTo>
                  <a:lnTo>
                    <a:pt x="4990919" y="32740"/>
                  </a:lnTo>
                  <a:lnTo>
                    <a:pt x="5029359" y="56595"/>
                  </a:lnTo>
                  <a:lnTo>
                    <a:pt x="5063540" y="85915"/>
                  </a:lnTo>
                  <a:lnTo>
                    <a:pt x="5092861" y="120097"/>
                  </a:lnTo>
                  <a:lnTo>
                    <a:pt x="5116716" y="158537"/>
                  </a:lnTo>
                  <a:lnTo>
                    <a:pt x="5134502" y="200631"/>
                  </a:lnTo>
                  <a:lnTo>
                    <a:pt x="5145617" y="245777"/>
                  </a:lnTo>
                  <a:lnTo>
                    <a:pt x="5149456" y="293369"/>
                  </a:lnTo>
                  <a:lnTo>
                    <a:pt x="5149456" y="1466837"/>
                  </a:lnTo>
                  <a:lnTo>
                    <a:pt x="5145617" y="1514424"/>
                  </a:lnTo>
                  <a:lnTo>
                    <a:pt x="5134502" y="1559567"/>
                  </a:lnTo>
                  <a:lnTo>
                    <a:pt x="5116716" y="1601661"/>
                  </a:lnTo>
                  <a:lnTo>
                    <a:pt x="5092861" y="1640103"/>
                  </a:lnTo>
                  <a:lnTo>
                    <a:pt x="5063540" y="1674288"/>
                  </a:lnTo>
                  <a:lnTo>
                    <a:pt x="5029359" y="1703612"/>
                  </a:lnTo>
                  <a:lnTo>
                    <a:pt x="4990919" y="1727472"/>
                  </a:lnTo>
                  <a:lnTo>
                    <a:pt x="4948824" y="1745262"/>
                  </a:lnTo>
                  <a:lnTo>
                    <a:pt x="4903679" y="1756380"/>
                  </a:lnTo>
                  <a:lnTo>
                    <a:pt x="4856086" y="1760220"/>
                  </a:lnTo>
                  <a:lnTo>
                    <a:pt x="293382" y="1760220"/>
                  </a:lnTo>
                  <a:lnTo>
                    <a:pt x="245795" y="1756380"/>
                  </a:lnTo>
                  <a:lnTo>
                    <a:pt x="200652" y="1745262"/>
                  </a:lnTo>
                  <a:lnTo>
                    <a:pt x="158558" y="1727472"/>
                  </a:lnTo>
                  <a:lnTo>
                    <a:pt x="120116" y="1703612"/>
                  </a:lnTo>
                  <a:lnTo>
                    <a:pt x="85931" y="1674288"/>
                  </a:lnTo>
                  <a:lnTo>
                    <a:pt x="56607" y="1640103"/>
                  </a:lnTo>
                  <a:lnTo>
                    <a:pt x="32747" y="1601661"/>
                  </a:lnTo>
                  <a:lnTo>
                    <a:pt x="14957" y="1559567"/>
                  </a:lnTo>
                  <a:lnTo>
                    <a:pt x="3839" y="1514424"/>
                  </a:lnTo>
                  <a:lnTo>
                    <a:pt x="0" y="1466837"/>
                  </a:lnTo>
                  <a:lnTo>
                    <a:pt x="0" y="293369"/>
                  </a:lnTo>
                  <a:close/>
                </a:path>
              </a:pathLst>
            </a:custGeom>
            <a:ln w="25400">
              <a:solidFill>
                <a:srgbClr val="DB4437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50688" y="587997"/>
            <a:ext cx="151701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050" b="1" noProof="0" dirty="0">
                <a:solidFill>
                  <a:srgbClr val="002D4E"/>
                </a:solidFill>
                <a:latin typeface="Arial"/>
                <a:cs typeface="Arial"/>
              </a:rPr>
              <a:t>Gerardo Vilcamiza</a:t>
            </a:r>
            <a:endParaRPr lang="es-PE" sz="1050" noProof="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3088" y="4708804"/>
            <a:ext cx="9550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050" b="1" noProof="0" dirty="0">
                <a:solidFill>
                  <a:srgbClr val="DB4437"/>
                </a:solidFill>
                <a:latin typeface="Arial"/>
                <a:cs typeface="Arial"/>
              </a:rPr>
              <a:t>Marcos</a:t>
            </a:r>
            <a:r>
              <a:rPr lang="es-PE" sz="1050" b="1" spc="-45" noProof="0" dirty="0">
                <a:solidFill>
                  <a:srgbClr val="DB4437"/>
                </a:solidFill>
                <a:latin typeface="Arial"/>
                <a:cs typeface="Arial"/>
              </a:rPr>
              <a:t> </a:t>
            </a:r>
            <a:r>
              <a:rPr lang="es-PE" sz="1050" b="1" spc="-10" noProof="0" dirty="0">
                <a:solidFill>
                  <a:srgbClr val="DB4437"/>
                </a:solidFill>
                <a:latin typeface="Arial"/>
                <a:cs typeface="Arial"/>
              </a:rPr>
              <a:t>Maillot</a:t>
            </a:r>
            <a:endParaRPr lang="es-PE" sz="105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Referencias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8600" y="655726"/>
            <a:ext cx="8758783" cy="3850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100"/>
              </a:spcBef>
            </a:pPr>
            <a:r>
              <a:rPr lang="es-PE" sz="1900" noProof="0" dirty="0">
                <a:latin typeface="Roboto"/>
                <a:cs typeface="Roboto"/>
              </a:rPr>
              <a:t>Bibliografía</a:t>
            </a:r>
            <a:r>
              <a:rPr lang="es-PE" sz="1900" spc="31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solo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a</a:t>
            </a:r>
            <a:r>
              <a:rPr lang="es-PE" sz="1900" spc="31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modo</a:t>
            </a:r>
            <a:r>
              <a:rPr lang="es-PE" sz="1900" spc="33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de</a:t>
            </a:r>
            <a:r>
              <a:rPr lang="es-PE" sz="1900" spc="30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sugerencia</a:t>
            </a:r>
            <a:r>
              <a:rPr lang="es-PE" sz="1900" spc="32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y</a:t>
            </a:r>
            <a:r>
              <a:rPr lang="es-PE" sz="1900" spc="30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no</a:t>
            </a:r>
            <a:r>
              <a:rPr lang="es-PE" sz="1900" spc="31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será</a:t>
            </a:r>
            <a:r>
              <a:rPr lang="es-PE" sz="1900" spc="33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obligatorio</a:t>
            </a:r>
            <a:r>
              <a:rPr lang="es-PE" sz="1900" spc="32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el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uso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de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spc="-10" noProof="0" dirty="0">
                <a:latin typeface="Roboto"/>
                <a:cs typeface="Roboto"/>
              </a:rPr>
              <a:t>dicho m</a:t>
            </a:r>
            <a:r>
              <a:rPr lang="es-PE" sz="1900" spc="-10" noProof="0" dirty="0">
                <a:solidFill>
                  <a:srgbClr val="1F1F1F"/>
                </a:solidFill>
                <a:latin typeface="Roboto"/>
                <a:cs typeface="Roboto"/>
              </a:rPr>
              <a:t>aterial.</a:t>
            </a:r>
            <a:r>
              <a:rPr lang="es-PE" sz="1900" spc="-65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La</a:t>
            </a:r>
            <a:r>
              <a:rPr lang="es-PE" sz="1900" spc="-60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materia</a:t>
            </a:r>
            <a:r>
              <a:rPr lang="es-PE" sz="1900" spc="-65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es</a:t>
            </a:r>
            <a:r>
              <a:rPr lang="es-PE" sz="1900" spc="-75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completamente</a:t>
            </a:r>
            <a:r>
              <a:rPr lang="es-PE" sz="1900" spc="-50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spc="-10" noProof="0" dirty="0">
                <a:solidFill>
                  <a:srgbClr val="1F1F1F"/>
                </a:solidFill>
                <a:latin typeface="Roboto"/>
                <a:cs typeface="Roboto"/>
              </a:rPr>
              <a:t>autocontenida.</a:t>
            </a:r>
          </a:p>
          <a:p>
            <a:pPr marL="12700" marR="5080">
              <a:lnSpc>
                <a:spcPct val="114700"/>
              </a:lnSpc>
              <a:spcBef>
                <a:spcPts val="100"/>
              </a:spcBef>
            </a:pPr>
            <a:endParaRPr lang="es-PE" sz="1900" noProof="0" dirty="0">
              <a:latin typeface="Roboto"/>
              <a:cs typeface="Roboto"/>
            </a:endParaRPr>
          </a:p>
          <a:p>
            <a:pPr marL="342900" indent="-342900">
              <a:lnSpc>
                <a:spcPct val="100000"/>
              </a:lnSpc>
              <a:spcBef>
                <a:spcPts val="1525"/>
              </a:spcBef>
              <a:buFont typeface="Arial" panose="020B0604020202020204" pitchFamily="34" charset="0"/>
              <a:buChar char="•"/>
            </a:pPr>
            <a:r>
              <a:rPr lang="es-PE" sz="1900" noProof="0" dirty="0" err="1">
                <a:latin typeface="Roboto"/>
                <a:cs typeface="Roboto"/>
              </a:rPr>
              <a:t>Goodfellow</a:t>
            </a:r>
            <a:r>
              <a:rPr lang="es-PE" sz="1900" noProof="0" dirty="0">
                <a:latin typeface="Roboto"/>
                <a:cs typeface="Roboto"/>
              </a:rPr>
              <a:t>, I., </a:t>
            </a:r>
            <a:r>
              <a:rPr lang="es-PE" sz="1900" noProof="0" dirty="0" err="1">
                <a:latin typeface="Roboto"/>
                <a:cs typeface="Roboto"/>
              </a:rPr>
              <a:t>Bengio</a:t>
            </a:r>
            <a:r>
              <a:rPr lang="es-PE" sz="1900" noProof="0" dirty="0">
                <a:latin typeface="Roboto"/>
                <a:cs typeface="Roboto"/>
              </a:rPr>
              <a:t>, Y., &amp; </a:t>
            </a:r>
            <a:r>
              <a:rPr lang="es-PE" sz="1900" noProof="0" dirty="0" err="1">
                <a:latin typeface="Roboto"/>
                <a:cs typeface="Roboto"/>
              </a:rPr>
              <a:t>Courville</a:t>
            </a:r>
            <a:r>
              <a:rPr lang="es-PE" sz="1900" noProof="0" dirty="0">
                <a:latin typeface="Roboto"/>
                <a:cs typeface="Roboto"/>
              </a:rPr>
              <a:t>, A. (2016). Deep </a:t>
            </a:r>
            <a:r>
              <a:rPr lang="es-PE" sz="1900" noProof="0" dirty="0" err="1">
                <a:latin typeface="Roboto"/>
                <a:cs typeface="Roboto"/>
              </a:rPr>
              <a:t>Learning</a:t>
            </a:r>
            <a:r>
              <a:rPr lang="es-PE" sz="1900" noProof="0" dirty="0">
                <a:latin typeface="Roboto"/>
                <a:cs typeface="Roboto"/>
              </a:rPr>
              <a:t>. MIT </a:t>
            </a:r>
            <a:r>
              <a:rPr lang="es-PE" sz="1900" noProof="0" dirty="0" err="1">
                <a:latin typeface="Roboto"/>
                <a:cs typeface="Roboto"/>
              </a:rPr>
              <a:t>Press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>
                <a:latin typeface="Roboto"/>
                <a:cs typeface="Roboto"/>
                <a:hlinkClick r:id="rId3"/>
              </a:rPr>
              <a:t>https://www.deeplearningbook.org</a:t>
            </a:r>
            <a:endParaRPr lang="es-PE" sz="1900" noProof="0" dirty="0">
              <a:latin typeface="Roboto"/>
              <a:cs typeface="Roboto"/>
            </a:endParaRPr>
          </a:p>
          <a:p>
            <a:pPr marL="342900" indent="-342900">
              <a:lnSpc>
                <a:spcPct val="100000"/>
              </a:lnSpc>
              <a:spcBef>
                <a:spcPts val="1525"/>
              </a:spcBef>
              <a:buFont typeface="Arial" panose="020B0604020202020204" pitchFamily="34" charset="0"/>
              <a:buChar char="•"/>
            </a:pPr>
            <a:r>
              <a:rPr lang="es-PE" sz="1900" noProof="0" dirty="0">
                <a:latin typeface="Roboto"/>
                <a:cs typeface="Roboto"/>
              </a:rPr>
              <a:t>Zhang, A., </a:t>
            </a:r>
            <a:r>
              <a:rPr lang="es-PE" sz="1900" noProof="0" dirty="0" err="1">
                <a:latin typeface="Roboto"/>
                <a:cs typeface="Roboto"/>
              </a:rPr>
              <a:t>Lipton</a:t>
            </a:r>
            <a:r>
              <a:rPr lang="es-PE" sz="1900" noProof="0" dirty="0">
                <a:latin typeface="Roboto"/>
                <a:cs typeface="Roboto"/>
              </a:rPr>
              <a:t>, Z. C., Li, M., &amp; </a:t>
            </a:r>
            <a:r>
              <a:rPr lang="es-PE" sz="1900" noProof="0" dirty="0" err="1">
                <a:latin typeface="Roboto"/>
                <a:cs typeface="Roboto"/>
              </a:rPr>
              <a:t>Smola</a:t>
            </a:r>
            <a:r>
              <a:rPr lang="es-PE" sz="1900" noProof="0" dirty="0">
                <a:latin typeface="Roboto"/>
                <a:cs typeface="Roboto"/>
              </a:rPr>
              <a:t>, A. J. (2022). Dive </a:t>
            </a:r>
            <a:r>
              <a:rPr lang="es-PE" sz="1900" noProof="0" dirty="0" err="1">
                <a:latin typeface="Roboto"/>
                <a:cs typeface="Roboto"/>
              </a:rPr>
              <a:t>into</a:t>
            </a:r>
            <a:r>
              <a:rPr lang="es-PE" sz="1900" noProof="0" dirty="0">
                <a:latin typeface="Roboto"/>
                <a:cs typeface="Roboto"/>
              </a:rPr>
              <a:t> Deep </a:t>
            </a:r>
            <a:r>
              <a:rPr lang="es-PE" sz="1900" noProof="0" dirty="0" err="1">
                <a:latin typeface="Roboto"/>
                <a:cs typeface="Roboto"/>
              </a:rPr>
              <a:t>Learning</a:t>
            </a:r>
            <a:r>
              <a:rPr lang="es-PE" sz="1900" noProof="0" dirty="0">
                <a:latin typeface="Roboto"/>
                <a:cs typeface="Roboto"/>
              </a:rPr>
              <a:t>. Cambridge </a:t>
            </a:r>
            <a:r>
              <a:rPr lang="es-PE" sz="1900" noProof="0" dirty="0" err="1">
                <a:latin typeface="Roboto"/>
                <a:cs typeface="Roboto"/>
              </a:rPr>
              <a:t>University</a:t>
            </a:r>
            <a:r>
              <a:rPr lang="es-PE" sz="1900" noProof="0" dirty="0">
                <a:latin typeface="Roboto"/>
                <a:cs typeface="Roboto"/>
              </a:rPr>
              <a:t> </a:t>
            </a:r>
            <a:r>
              <a:rPr lang="es-PE" sz="1900" noProof="0" dirty="0" err="1">
                <a:latin typeface="Roboto"/>
                <a:cs typeface="Roboto"/>
              </a:rPr>
              <a:t>Press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>
                <a:latin typeface="Roboto"/>
                <a:cs typeface="Roboto"/>
                <a:hlinkClick r:id="rId4"/>
              </a:rPr>
              <a:t>https://d2l.ai</a:t>
            </a:r>
            <a:endParaRPr lang="es-PE" sz="1900" noProof="0" dirty="0">
              <a:latin typeface="Roboto"/>
              <a:cs typeface="Roboto"/>
            </a:endParaRPr>
          </a:p>
          <a:p>
            <a:pPr marL="342900" indent="-342900">
              <a:lnSpc>
                <a:spcPct val="100000"/>
              </a:lnSpc>
              <a:spcBef>
                <a:spcPts val="1525"/>
              </a:spcBef>
              <a:buFont typeface="Arial" panose="020B0604020202020204" pitchFamily="34" charset="0"/>
              <a:buChar char="•"/>
            </a:pPr>
            <a:r>
              <a:rPr lang="es-PE" sz="1900" noProof="0" dirty="0">
                <a:latin typeface="Roboto"/>
                <a:cs typeface="Roboto"/>
              </a:rPr>
              <a:t>Nielsen, M. A. (2015). Neural Networks and Deep </a:t>
            </a:r>
            <a:r>
              <a:rPr lang="es-PE" sz="1900" noProof="0" dirty="0" err="1">
                <a:latin typeface="Roboto"/>
                <a:cs typeface="Roboto"/>
              </a:rPr>
              <a:t>Learning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 err="1">
                <a:latin typeface="Roboto"/>
                <a:cs typeface="Roboto"/>
              </a:rPr>
              <a:t>Determination</a:t>
            </a:r>
            <a:r>
              <a:rPr lang="es-PE" sz="1900" noProof="0" dirty="0">
                <a:latin typeface="Roboto"/>
                <a:cs typeface="Roboto"/>
              </a:rPr>
              <a:t> </a:t>
            </a:r>
            <a:r>
              <a:rPr lang="es-PE" sz="1900" noProof="0" dirty="0" err="1">
                <a:latin typeface="Roboto"/>
                <a:cs typeface="Roboto"/>
              </a:rPr>
              <a:t>Press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>
                <a:latin typeface="Roboto"/>
                <a:cs typeface="Roboto"/>
                <a:hlinkClick r:id="rId5"/>
              </a:rPr>
              <a:t>http://neuralnetworksanddeeplearning.com</a:t>
            </a:r>
            <a:endParaRPr lang="es-PE" sz="19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lang="es-PE" sz="19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Herramientas</a:t>
            </a:r>
            <a:r>
              <a:rPr lang="es-PE" spc="5" noProof="0" dirty="0"/>
              <a:t> </a:t>
            </a:r>
            <a:r>
              <a:rPr lang="es-PE" noProof="0" dirty="0"/>
              <a:t>de</a:t>
            </a:r>
            <a:r>
              <a:rPr lang="es-PE" spc="5" noProof="0" dirty="0"/>
              <a:t> </a:t>
            </a:r>
            <a:r>
              <a:rPr lang="es-PE" spc="-10" noProof="0" dirty="0"/>
              <a:t>trabajo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3480" y="643762"/>
            <a:ext cx="4655719" cy="4072269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37185" indent="-321945">
              <a:lnSpc>
                <a:spcPct val="100000"/>
              </a:lnSpc>
              <a:spcBef>
                <a:spcPts val="715"/>
              </a:spcBef>
              <a:buSzPct val="96666"/>
              <a:buFont typeface="Times New Roman"/>
              <a:buChar char="●"/>
              <a:tabLst>
                <a:tab pos="33718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Lenguaje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programación: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90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spc="-20" noProof="0" dirty="0">
                <a:latin typeface="Roboto"/>
                <a:cs typeface="Roboto"/>
              </a:rPr>
              <a:t>Python </a:t>
            </a:r>
            <a:r>
              <a:rPr lang="es-PE" sz="1400" spc="-25" noProof="0" dirty="0">
                <a:latin typeface="Roboto"/>
                <a:cs typeface="Roboto"/>
              </a:rPr>
              <a:t>3.11</a:t>
            </a:r>
            <a:endParaRPr lang="es-PE" sz="14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34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noProof="0" dirty="0" err="1">
                <a:latin typeface="Roboto"/>
                <a:cs typeface="Roboto"/>
              </a:rPr>
              <a:t>Pip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/</a:t>
            </a:r>
            <a:r>
              <a:rPr lang="es-PE" sz="1400" spc="-35" noProof="0" dirty="0">
                <a:latin typeface="Roboto"/>
                <a:cs typeface="Roboto"/>
              </a:rPr>
              <a:t> </a:t>
            </a:r>
            <a:r>
              <a:rPr lang="es-PE" sz="1400" noProof="0" dirty="0" err="1">
                <a:latin typeface="Roboto"/>
                <a:cs typeface="Roboto"/>
              </a:rPr>
              <a:t>Conda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para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spc="-20" noProof="0" dirty="0">
                <a:latin typeface="Roboto"/>
                <a:cs typeface="Roboto"/>
              </a:rPr>
              <a:t>instalar</a:t>
            </a:r>
            <a:r>
              <a:rPr lang="es-PE" sz="1400" spc="-3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paquetes</a:t>
            </a:r>
            <a:r>
              <a:rPr lang="es-PE" sz="1400" spc="-2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y</a:t>
            </a:r>
            <a:r>
              <a:rPr lang="es-PE" sz="1400" spc="-40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dependencias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  <a:p>
            <a:pPr marL="337185" indent="-324485">
              <a:lnSpc>
                <a:spcPct val="100000"/>
              </a:lnSpc>
              <a:buFont typeface="Times New Roman"/>
              <a:buChar char="●"/>
              <a:tabLst>
                <a:tab pos="33718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Librerías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principales: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80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spc="-20" noProof="0" dirty="0" err="1">
                <a:latin typeface="Roboto"/>
                <a:cs typeface="Roboto"/>
              </a:rPr>
              <a:t>Numpy</a:t>
            </a:r>
            <a:r>
              <a:rPr lang="es-PE" sz="1400" spc="-20" noProof="0" dirty="0">
                <a:latin typeface="Roboto"/>
                <a:cs typeface="Roboto"/>
              </a:rPr>
              <a:t>,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spc="-30" noProof="0" dirty="0" err="1">
                <a:latin typeface="Roboto"/>
                <a:cs typeface="Roboto"/>
              </a:rPr>
              <a:t>Matplotlib</a:t>
            </a:r>
            <a:r>
              <a:rPr lang="es-PE" sz="1400" spc="-30" noProof="0" dirty="0">
                <a:latin typeface="Roboto"/>
                <a:cs typeface="Roboto"/>
              </a:rPr>
              <a:t>, </a:t>
            </a:r>
            <a:r>
              <a:rPr lang="es-PE" sz="1400" spc="-10" noProof="0" dirty="0">
                <a:latin typeface="Roboto"/>
                <a:cs typeface="Roboto"/>
              </a:rPr>
              <a:t>Pandas,</a:t>
            </a:r>
            <a:r>
              <a:rPr lang="es-PE" sz="1400" noProof="0" dirty="0">
                <a:latin typeface="Roboto"/>
                <a:cs typeface="Roboto"/>
              </a:rPr>
              <a:t> </a:t>
            </a:r>
            <a:r>
              <a:rPr lang="es-PE" sz="1400" spc="-50" noProof="0" dirty="0" err="1">
                <a:latin typeface="Roboto"/>
                <a:cs typeface="Roboto"/>
              </a:rPr>
              <a:t>Scikit-</a:t>
            </a:r>
            <a:r>
              <a:rPr lang="es-PE" sz="1400" noProof="0" dirty="0" err="1">
                <a:latin typeface="Roboto"/>
                <a:cs typeface="Roboto"/>
              </a:rPr>
              <a:t>Learn</a:t>
            </a:r>
            <a:r>
              <a:rPr lang="es-PE" sz="1400" noProof="0" dirty="0">
                <a:latin typeface="Roboto"/>
                <a:cs typeface="Roboto"/>
              </a:rPr>
              <a:t>,</a:t>
            </a:r>
            <a:r>
              <a:rPr lang="es-PE" sz="1400" spc="-20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Scipy</a:t>
            </a:r>
            <a:endParaRPr lang="es-PE" sz="14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34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b="1" spc="-10" noProof="0" dirty="0">
                <a:latin typeface="Roboto"/>
                <a:cs typeface="Roboto"/>
              </a:rPr>
              <a:t>Pytorch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  <a:p>
            <a:pPr marL="337185" indent="-324485">
              <a:lnSpc>
                <a:spcPct val="100000"/>
              </a:lnSpc>
              <a:buFont typeface="Times New Roman"/>
              <a:buChar char="●"/>
              <a:tabLst>
                <a:tab pos="337185" algn="l"/>
              </a:tabLst>
            </a:pPr>
            <a:r>
              <a:rPr lang="es-PE" sz="1600" noProof="0" dirty="0">
                <a:latin typeface="Roboto"/>
                <a:cs typeface="Roboto"/>
              </a:rPr>
              <a:t>Consola</a:t>
            </a:r>
            <a:r>
              <a:rPr lang="es-PE" sz="1600" spc="-9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interactiva: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95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Google</a:t>
            </a:r>
            <a:r>
              <a:rPr lang="es-PE" sz="1400" b="1" spc="-30" noProof="0" dirty="0">
                <a:latin typeface="Roboto"/>
                <a:cs typeface="Roboto"/>
              </a:rPr>
              <a:t> </a:t>
            </a:r>
            <a:r>
              <a:rPr lang="es-PE" sz="1400" b="1" spc="-20" noProof="0" dirty="0" err="1">
                <a:latin typeface="Roboto"/>
                <a:cs typeface="Roboto"/>
              </a:rPr>
              <a:t>Colab</a:t>
            </a:r>
            <a:endParaRPr lang="es-PE" sz="1400" noProof="0" dirty="0">
              <a:latin typeface="Roboto"/>
              <a:cs typeface="Roboto"/>
            </a:endParaRPr>
          </a:p>
          <a:p>
            <a:pPr marL="794385" lvl="1" indent="-312420">
              <a:lnSpc>
                <a:spcPct val="100000"/>
              </a:lnSpc>
              <a:spcBef>
                <a:spcPts val="434"/>
              </a:spcBef>
              <a:buSzPct val="104166"/>
              <a:buFont typeface="Times New Roman"/>
              <a:buChar char="○"/>
              <a:tabLst>
                <a:tab pos="794385" algn="l"/>
              </a:tabLst>
            </a:pPr>
            <a:r>
              <a:rPr lang="es-PE" sz="1400" spc="-10" noProof="0" dirty="0">
                <a:latin typeface="Roboto"/>
                <a:cs typeface="Roboto"/>
              </a:rPr>
              <a:t>(Opcional)</a:t>
            </a:r>
            <a:r>
              <a:rPr lang="es-PE" sz="1400" spc="-1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Jupyter</a:t>
            </a:r>
            <a:r>
              <a:rPr lang="es-PE" sz="1400" spc="-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Notebook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  <a:p>
            <a:pPr marL="337185" indent="-324485">
              <a:lnSpc>
                <a:spcPct val="100000"/>
              </a:lnSpc>
              <a:buFont typeface="Times New Roman"/>
              <a:buChar char="●"/>
              <a:tabLst>
                <a:tab pos="33718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Herramientas: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95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spc="-10" noProof="0" dirty="0" err="1">
                <a:latin typeface="Roboto"/>
                <a:cs typeface="Roboto"/>
              </a:rPr>
              <a:t>Github</a:t>
            </a:r>
            <a:r>
              <a:rPr lang="es-PE" sz="1400" spc="-65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para</a:t>
            </a:r>
            <a:r>
              <a:rPr lang="es-PE" sz="1400" spc="-5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repositorios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Introducción</a:t>
            </a:r>
            <a:r>
              <a:rPr lang="es-PE" spc="15" noProof="0" dirty="0"/>
              <a:t> </a:t>
            </a:r>
            <a:r>
              <a:rPr lang="es-PE" noProof="0" dirty="0"/>
              <a:t>a</a:t>
            </a:r>
            <a:r>
              <a:rPr lang="es-PE" spc="-30" noProof="0" dirty="0"/>
              <a:t> </a:t>
            </a:r>
            <a:r>
              <a:rPr lang="es-PE" noProof="0" dirty="0"/>
              <a:t>Deep</a:t>
            </a:r>
            <a:r>
              <a:rPr lang="es-PE" spc="-30" noProof="0" dirty="0"/>
              <a:t> </a:t>
            </a:r>
            <a:r>
              <a:rPr lang="es-PE" spc="-10" noProof="0" dirty="0" err="1"/>
              <a:t>Learning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5800" y="1276350"/>
            <a:ext cx="7924800" cy="283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37465" indent="-5080" algn="ctr">
              <a:lnSpc>
                <a:spcPct val="120000"/>
              </a:lnSpc>
              <a:spcBef>
                <a:spcPts val="100"/>
              </a:spcBef>
              <a:tabLst>
                <a:tab pos="2120900" algn="l"/>
                <a:tab pos="2947670" algn="l"/>
                <a:tab pos="3562350" algn="l"/>
              </a:tabLst>
            </a:pP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“Deep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learning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is</a:t>
            </a:r>
            <a:r>
              <a:rPr lang="es-PE" sz="1600" i="1" spc="-7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040C28"/>
                </a:solidFill>
                <a:latin typeface="Roboto"/>
                <a:cs typeface="Roboto"/>
              </a:rPr>
              <a:t>a</a:t>
            </a:r>
            <a:r>
              <a:rPr lang="es-PE" sz="1600" i="1" spc="-6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040C28"/>
                </a:solidFill>
                <a:latin typeface="Roboto"/>
                <a:cs typeface="Roboto"/>
              </a:rPr>
              <a:t>form</a:t>
            </a:r>
            <a:r>
              <a:rPr lang="es-PE" sz="1600" i="1" spc="-8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of</a:t>
            </a:r>
            <a:r>
              <a:rPr lang="es-PE" sz="1600" i="1" spc="-6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040C28"/>
                </a:solidFill>
                <a:latin typeface="Roboto"/>
                <a:cs typeface="Roboto"/>
              </a:rPr>
              <a:t>machine</a:t>
            </a:r>
            <a:r>
              <a:rPr lang="es-PE" sz="1600" i="1" spc="-5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040C28"/>
                </a:solidFill>
                <a:latin typeface="Roboto"/>
                <a:cs typeface="Roboto"/>
              </a:rPr>
              <a:t>learning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040C28"/>
                </a:solidFill>
                <a:latin typeface="Roboto"/>
                <a:cs typeface="Roboto"/>
              </a:rPr>
              <a:t>that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040C28"/>
                </a:solidFill>
                <a:latin typeface="Roboto"/>
                <a:cs typeface="Roboto"/>
              </a:rPr>
              <a:t>enables</a:t>
            </a:r>
            <a:r>
              <a:rPr lang="es-PE" sz="1600" i="1" spc="-3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 err="1">
                <a:solidFill>
                  <a:srgbClr val="040C28"/>
                </a:solidFill>
                <a:latin typeface="Roboto"/>
                <a:cs typeface="Roboto"/>
              </a:rPr>
              <a:t>computers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to</a:t>
            </a:r>
            <a:r>
              <a:rPr lang="es-PE" sz="1600" i="1" spc="-7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040C28"/>
                </a:solidFill>
                <a:latin typeface="Roboto"/>
                <a:cs typeface="Roboto"/>
              </a:rPr>
              <a:t>learn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040C28"/>
                </a:solidFill>
                <a:latin typeface="Roboto"/>
                <a:cs typeface="Roboto"/>
              </a:rPr>
              <a:t>from</a:t>
            </a:r>
            <a:r>
              <a:rPr lang="es-PE" sz="1600" i="1" spc="-2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040C28"/>
                </a:solidFill>
                <a:latin typeface="Roboto"/>
                <a:cs typeface="Roboto"/>
              </a:rPr>
              <a:t>experience</a:t>
            </a:r>
            <a:r>
              <a:rPr lang="es-PE" sz="1600" i="1" spc="-2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040C28"/>
                </a:solidFill>
                <a:latin typeface="Roboto"/>
                <a:cs typeface="Roboto"/>
              </a:rPr>
              <a:t>and</a:t>
            </a:r>
            <a:r>
              <a:rPr lang="es-PE" sz="1600" i="1" spc="-4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45" noProof="0" dirty="0" err="1">
                <a:solidFill>
                  <a:srgbClr val="040C28"/>
                </a:solidFill>
                <a:latin typeface="Roboto"/>
                <a:cs typeface="Roboto"/>
              </a:rPr>
              <a:t>understand</a:t>
            </a:r>
            <a:r>
              <a:rPr lang="es-PE" sz="1600" i="1" spc="-2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040C28"/>
                </a:solidFill>
                <a:latin typeface="Roboto"/>
                <a:cs typeface="Roboto"/>
              </a:rPr>
              <a:t>the</a:t>
            </a:r>
            <a:r>
              <a:rPr lang="es-PE" sz="1600" i="1" spc="-25" dirty="0">
                <a:solidFill>
                  <a:srgbClr val="040C28"/>
                </a:solidFill>
                <a:latin typeface="Roboto"/>
                <a:cs typeface="Roboto"/>
              </a:rPr>
              <a:t> w</a:t>
            </a:r>
            <a:r>
              <a:rPr lang="es-PE" sz="1600" i="1" spc="-20" noProof="0" dirty="0" err="1">
                <a:solidFill>
                  <a:srgbClr val="040C28"/>
                </a:solidFill>
                <a:latin typeface="Roboto"/>
                <a:cs typeface="Roboto"/>
              </a:rPr>
              <a:t>orld</a:t>
            </a:r>
            <a:r>
              <a:rPr lang="es-PE" sz="1600" i="1" spc="-6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040C28"/>
                </a:solidFill>
                <a:latin typeface="Roboto"/>
                <a:cs typeface="Roboto"/>
              </a:rPr>
              <a:t>in</a:t>
            </a:r>
            <a:r>
              <a:rPr lang="es-PE" sz="1600" i="1" spc="-4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040C28"/>
                </a:solidFill>
                <a:latin typeface="Roboto"/>
                <a:cs typeface="Roboto"/>
              </a:rPr>
              <a:t>terms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of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040C28"/>
                </a:solidFill>
                <a:latin typeface="Roboto"/>
                <a:cs typeface="Roboto"/>
              </a:rPr>
              <a:t>a</a:t>
            </a:r>
            <a:r>
              <a:rPr lang="es-PE" sz="1600" i="1" spc="-5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 err="1">
                <a:solidFill>
                  <a:srgbClr val="040C28"/>
                </a:solidFill>
                <a:latin typeface="Roboto"/>
                <a:cs typeface="Roboto"/>
              </a:rPr>
              <a:t>hierarchy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of</a:t>
            </a:r>
            <a:r>
              <a:rPr lang="es-PE" sz="1600" i="1" spc="-6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040C28"/>
                </a:solidFill>
                <a:latin typeface="Roboto"/>
                <a:cs typeface="Roboto"/>
              </a:rPr>
              <a:t>concepts</a:t>
            </a: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.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Because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computer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 err="1">
                <a:solidFill>
                  <a:srgbClr val="1F2023"/>
                </a:solidFill>
                <a:latin typeface="Roboto"/>
                <a:cs typeface="Roboto"/>
              </a:rPr>
              <a:t>gathers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kno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ledge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from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experience</a:t>
            </a: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,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there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is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1F2023"/>
                </a:solidFill>
                <a:latin typeface="Roboto"/>
                <a:cs typeface="Roboto"/>
              </a:rPr>
              <a:t>no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need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for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1F2023"/>
                </a:solidFill>
                <a:latin typeface="Roboto"/>
                <a:cs typeface="Roboto"/>
              </a:rPr>
              <a:t>a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human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computer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operator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to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formally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specify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all</a:t>
            </a:r>
            <a:r>
              <a:rPr lang="es-PE" sz="1600" i="1" spc="-7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kno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ledge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that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8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computer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needs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.”</a:t>
            </a:r>
            <a:endParaRPr lang="es-PE" sz="1600" noProof="0" dirty="0">
              <a:latin typeface="Roboto"/>
              <a:cs typeface="Roboto"/>
            </a:endParaRPr>
          </a:p>
          <a:p>
            <a:pPr marL="1270" algn="ctr">
              <a:lnSpc>
                <a:spcPct val="100000"/>
              </a:lnSpc>
              <a:spcBef>
                <a:spcPts val="384"/>
              </a:spcBef>
            </a:pPr>
            <a:r>
              <a:rPr lang="es-PE" sz="1600" b="1" noProof="0" dirty="0">
                <a:solidFill>
                  <a:srgbClr val="1F2023"/>
                </a:solidFill>
                <a:latin typeface="Roboto"/>
                <a:cs typeface="Roboto"/>
              </a:rPr>
              <a:t>Ian</a:t>
            </a:r>
            <a:r>
              <a:rPr lang="es-PE" sz="1600" b="1" spc="-1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b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Goodfellow</a:t>
            </a:r>
            <a:endParaRPr lang="es-PE" sz="16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lang="es-PE" sz="1600" noProof="0" dirty="0">
              <a:latin typeface="Roboto"/>
              <a:cs typeface="Roboto"/>
            </a:endParaRPr>
          </a:p>
          <a:p>
            <a:pPr marL="12065" marR="5080" algn="ctr">
              <a:lnSpc>
                <a:spcPct val="100000"/>
              </a:lnSpc>
              <a:tabLst>
                <a:tab pos="2080895" algn="l"/>
                <a:tab pos="6574790" algn="l"/>
                <a:tab pos="7181850" algn="l"/>
              </a:tabLst>
            </a:pP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“Deep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learning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is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1F2023"/>
                </a:solidFill>
                <a:latin typeface="Roboto"/>
                <a:cs typeface="Roboto"/>
              </a:rPr>
              <a:t>a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subset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of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machine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learning</a:t>
            </a: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that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uses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85" noProof="0" dirty="0" err="1">
                <a:solidFill>
                  <a:srgbClr val="1F2023"/>
                </a:solidFill>
                <a:latin typeface="Roboto"/>
                <a:cs typeface="Roboto"/>
              </a:rPr>
              <a:t>multi-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layered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neural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net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45" noProof="0" dirty="0" err="1">
                <a:solidFill>
                  <a:srgbClr val="1F2023"/>
                </a:solidFill>
                <a:latin typeface="Roboto"/>
                <a:cs typeface="Roboto"/>
              </a:rPr>
              <a:t>orks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,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called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deep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neural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net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orks</a:t>
            </a:r>
            <a:r>
              <a:rPr lang="es-PE" sz="1600" i="1" spc="-20" noProof="0" dirty="0">
                <a:solidFill>
                  <a:srgbClr val="1F2023"/>
                </a:solidFill>
                <a:latin typeface="Roboto"/>
                <a:cs typeface="Roboto"/>
              </a:rPr>
              <a:t>,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to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simulate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7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complex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70" noProof="0" dirty="0" err="1">
                <a:solidFill>
                  <a:srgbClr val="1F2023"/>
                </a:solidFill>
                <a:latin typeface="Roboto"/>
                <a:cs typeface="Roboto"/>
              </a:rPr>
              <a:t>decision-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making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po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er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of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endParaRPr lang="es-PE" sz="1600" noProof="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human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brain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.”</a:t>
            </a:r>
            <a:endParaRPr lang="es-PE" sz="1600" noProof="0" dirty="0">
              <a:latin typeface="Roboto"/>
              <a:cs typeface="Roboto"/>
            </a:endParaRPr>
          </a:p>
          <a:p>
            <a:pPr marL="2540" algn="ctr">
              <a:lnSpc>
                <a:spcPct val="100000"/>
              </a:lnSpc>
            </a:pPr>
            <a:r>
              <a:rPr lang="es-PE" sz="1600" b="1" spc="-25" noProof="0" dirty="0">
                <a:solidFill>
                  <a:srgbClr val="1F2023"/>
                </a:solidFill>
                <a:latin typeface="Roboto"/>
                <a:cs typeface="Roboto"/>
              </a:rPr>
              <a:t>IBM</a:t>
            </a:r>
            <a:endParaRPr lang="es-PE" sz="16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4" name="object 4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Introducción</a:t>
            </a:r>
            <a:r>
              <a:rPr lang="es-PE" spc="15" noProof="0" dirty="0"/>
              <a:t> </a:t>
            </a:r>
            <a:r>
              <a:rPr lang="es-PE" noProof="0" dirty="0"/>
              <a:t>a</a:t>
            </a:r>
            <a:r>
              <a:rPr lang="es-PE" spc="-30" noProof="0" dirty="0"/>
              <a:t> </a:t>
            </a:r>
            <a:r>
              <a:rPr lang="es-PE" noProof="0" dirty="0"/>
              <a:t>Deep</a:t>
            </a:r>
            <a:r>
              <a:rPr lang="es-PE" spc="-30" noProof="0" dirty="0"/>
              <a:t> </a:t>
            </a:r>
            <a:r>
              <a:rPr lang="es-PE" spc="-10" noProof="0" dirty="0" err="1"/>
              <a:t>Learning</a:t>
            </a:r>
            <a:endParaRPr lang="es-PE" spc="-10" noProof="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390" y="715924"/>
            <a:ext cx="7606919" cy="3825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Introducción</a:t>
            </a:r>
            <a:r>
              <a:rPr lang="es-PE" spc="15" noProof="0" dirty="0"/>
              <a:t> </a:t>
            </a:r>
            <a:r>
              <a:rPr lang="es-PE" noProof="0" dirty="0"/>
              <a:t>a</a:t>
            </a:r>
            <a:r>
              <a:rPr lang="es-PE" spc="-30" noProof="0" dirty="0"/>
              <a:t> </a:t>
            </a:r>
            <a:r>
              <a:rPr lang="es-PE" noProof="0" dirty="0"/>
              <a:t>Deep</a:t>
            </a:r>
            <a:r>
              <a:rPr lang="es-PE" spc="-30" noProof="0" dirty="0"/>
              <a:t> </a:t>
            </a:r>
            <a:r>
              <a:rPr lang="es-PE" spc="-10" noProof="0" dirty="0" err="1"/>
              <a:t>Learning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215" y="666407"/>
            <a:ext cx="3733546" cy="37919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0986" y="4529429"/>
            <a:ext cx="2620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>
                <a:latin typeface="Roboto"/>
                <a:cs typeface="Roboto"/>
              </a:rPr>
              <a:t>Diagrama</a:t>
            </a:r>
            <a:r>
              <a:rPr lang="es-PE" sz="1400" spc="-6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Venn</a:t>
            </a:r>
            <a:r>
              <a:rPr lang="es-PE" sz="1400" spc="-55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algoritmos</a:t>
            </a:r>
            <a:endParaRPr lang="es-PE" sz="1400" noProof="0" dirty="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91634" y="666407"/>
            <a:ext cx="2823464" cy="37919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46675" y="4488586"/>
            <a:ext cx="19151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noProof="0" dirty="0">
                <a:latin typeface="Roboto"/>
                <a:cs typeface="Roboto"/>
              </a:rPr>
              <a:t>Enfoques</a:t>
            </a:r>
            <a:r>
              <a:rPr lang="es-PE" sz="1400" spc="-6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</a:t>
            </a:r>
            <a:r>
              <a:rPr lang="es-PE" sz="1400" spc="-4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soluciones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73518" y="1764893"/>
            <a:ext cx="1482090" cy="187007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Redes</a:t>
            </a:r>
            <a:r>
              <a:rPr lang="es-PE" sz="1400" spc="-8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neuronales:</a:t>
            </a:r>
            <a:endParaRPr lang="es-PE" sz="1400" noProof="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s-PE" sz="1400" spc="-245" noProof="0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Aprendizaje</a:t>
            </a:r>
            <a:endParaRPr lang="es-PE" sz="1400" noProof="0" dirty="0">
              <a:latin typeface="Roboto"/>
              <a:cs typeface="Roboto"/>
            </a:endParaRPr>
          </a:p>
          <a:p>
            <a:pPr marL="1905" algn="ctr">
              <a:lnSpc>
                <a:spcPct val="100000"/>
              </a:lnSpc>
            </a:pPr>
            <a:r>
              <a:rPr lang="es-PE" sz="1400" noProof="0" dirty="0" err="1">
                <a:solidFill>
                  <a:srgbClr val="DB4437"/>
                </a:solidFill>
                <a:latin typeface="Roboto"/>
                <a:cs typeface="Roboto"/>
              </a:rPr>
              <a:t>end</a:t>
            </a:r>
            <a:r>
              <a:rPr lang="es-PE" sz="1400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 err="1">
                <a:solidFill>
                  <a:srgbClr val="DB4437"/>
                </a:solidFill>
                <a:latin typeface="Roboto"/>
                <a:cs typeface="Roboto"/>
              </a:rPr>
              <a:t>to</a:t>
            </a:r>
            <a:r>
              <a:rPr lang="es-PE" sz="1400" spc="-2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solidFill>
                  <a:srgbClr val="DB4437"/>
                </a:solidFill>
                <a:latin typeface="Roboto"/>
                <a:cs typeface="Roboto"/>
              </a:rPr>
              <a:t>end</a:t>
            </a:r>
            <a:r>
              <a:rPr lang="es-PE" sz="1400" spc="-20" noProof="0" dirty="0">
                <a:solidFill>
                  <a:srgbClr val="DB4437"/>
                </a:solidFill>
                <a:latin typeface="Roboto"/>
                <a:cs typeface="Roboto"/>
              </a:rPr>
              <a:t>.</a:t>
            </a:r>
            <a:endParaRPr lang="es-PE" sz="1400" noProof="0" dirty="0">
              <a:latin typeface="Roboto"/>
              <a:cs typeface="Roboto"/>
            </a:endParaRPr>
          </a:p>
          <a:p>
            <a:pPr marL="123825" marR="115570" algn="ctr">
              <a:lnSpc>
                <a:spcPct val="100000"/>
              </a:lnSpc>
              <a:spcBef>
                <a:spcPts val="840"/>
              </a:spcBef>
            </a:pPr>
            <a:r>
              <a:rPr lang="es-PE" sz="1400" spc="-245" noProof="0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Aprenden Composiciones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1400" noProof="0" dirty="0">
              <a:latin typeface="Roboto"/>
              <a:cs typeface="Roboto"/>
            </a:endParaRPr>
          </a:p>
          <a:p>
            <a:pPr marL="1905" algn="ctr">
              <a:lnSpc>
                <a:spcPct val="100000"/>
              </a:lnSpc>
            </a:pPr>
            <a:r>
              <a:rPr lang="es-PE" sz="1400" b="1" noProof="0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lang="es-PE" sz="1400" b="1" spc="-4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b="1" noProof="0" dirty="0">
                <a:solidFill>
                  <a:srgbClr val="DB4437"/>
                </a:solidFill>
                <a:latin typeface="Roboto"/>
                <a:cs typeface="Roboto"/>
              </a:rPr>
              <a:t>NO</a:t>
            </a:r>
            <a:r>
              <a:rPr lang="es-PE" sz="1400" b="1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b="1" spc="-10" noProof="0" dirty="0">
                <a:solidFill>
                  <a:srgbClr val="DB4437"/>
                </a:solidFill>
                <a:latin typeface="Roboto"/>
                <a:cs typeface="Roboto"/>
              </a:rPr>
              <a:t>LINEALES</a:t>
            </a:r>
            <a:endParaRPr lang="es-PE" sz="14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79222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800" b="0" spc="-175" noProof="0" dirty="0" err="1">
                <a:latin typeface="Roboto"/>
                <a:cs typeface="Roboto"/>
              </a:rPr>
              <a:t>Feed</a:t>
            </a:r>
            <a:r>
              <a:rPr lang="es-PE" sz="4800" b="0" spc="-175" noProof="0" dirty="0">
                <a:latin typeface="Roboto"/>
                <a:cs typeface="Roboto"/>
              </a:rPr>
              <a:t>-</a:t>
            </a:r>
            <a:r>
              <a:rPr lang="es-PE" sz="4800" b="0" noProof="0" dirty="0">
                <a:latin typeface="Roboto"/>
                <a:cs typeface="Roboto"/>
              </a:rPr>
              <a:t>Forward</a:t>
            </a:r>
            <a:r>
              <a:rPr lang="es-PE" sz="4800" b="0" spc="-200" noProof="0" dirty="0">
                <a:latin typeface="Roboto"/>
                <a:cs typeface="Roboto"/>
              </a:rPr>
              <a:t> </a:t>
            </a:r>
            <a:r>
              <a:rPr lang="es-PE" sz="4800" b="0" spc="-10" noProof="0" dirty="0">
                <a:latin typeface="Roboto"/>
                <a:cs typeface="Roboto"/>
              </a:rPr>
              <a:t>neural</a:t>
            </a:r>
            <a:r>
              <a:rPr lang="es-PE" sz="4800" b="0" spc="-200" noProof="0" dirty="0">
                <a:latin typeface="Roboto"/>
                <a:cs typeface="Roboto"/>
              </a:rPr>
              <a:t> </a:t>
            </a:r>
            <a:r>
              <a:rPr lang="es-PE" sz="4800" b="0" spc="-10" noProof="0" dirty="0">
                <a:latin typeface="Roboto"/>
                <a:cs typeface="Roboto"/>
              </a:rPr>
              <a:t>network</a:t>
            </a:r>
            <a:endParaRPr lang="es-PE" sz="48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CE82F-165E-E5F0-6FFC-D71BF85E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>
            <a:extLst>
              <a:ext uri="{FF2B5EF4-FFF2-40B4-BE49-F238E27FC236}">
                <a16:creationId xmlns:a16="http://schemas.microsoft.com/office/drawing/2014/main" id="{7F18EC4B-CF8E-729B-96FB-0B5DC444AC9B}"/>
              </a:ext>
            </a:extLst>
          </p:cNvPr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9235AA0-7B63-3BED-F08A-4C91DD174519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A51EA4F-2B11-3744-D28B-4F7594D3B5E2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51D583C6-8C65-93A3-8C84-4CA8869CB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7581610C-229F-9A3A-D229-FA275952F9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22" name="Oval 1">
            <a:extLst>
              <a:ext uri="{FF2B5EF4-FFF2-40B4-BE49-F238E27FC236}">
                <a16:creationId xmlns:a16="http://schemas.microsoft.com/office/drawing/2014/main" id="{8DBBC93E-80AE-CB5A-9D40-86DEF9BD9779}"/>
              </a:ext>
            </a:extLst>
          </p:cNvPr>
          <p:cNvSpPr/>
          <p:nvPr/>
        </p:nvSpPr>
        <p:spPr>
          <a:xfrm>
            <a:off x="2464572" y="1975464"/>
            <a:ext cx="705394" cy="7053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3" name="Oval 3">
            <a:extLst>
              <a:ext uri="{FF2B5EF4-FFF2-40B4-BE49-F238E27FC236}">
                <a16:creationId xmlns:a16="http://schemas.microsoft.com/office/drawing/2014/main" id="{FF2B1781-9412-BE81-8040-EB4645A25CDE}"/>
              </a:ext>
            </a:extLst>
          </p:cNvPr>
          <p:cNvSpPr/>
          <p:nvPr/>
        </p:nvSpPr>
        <p:spPr>
          <a:xfrm>
            <a:off x="5681906" y="1975464"/>
            <a:ext cx="705394" cy="705394"/>
          </a:xfrm>
          <a:prstGeom prst="ellips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B8315D6C-308A-A1FF-79C1-DBBCA8D465E3}"/>
              </a:ext>
            </a:extLst>
          </p:cNvPr>
          <p:cNvSpPr txBox="1"/>
          <p:nvPr/>
        </p:nvSpPr>
        <p:spPr>
          <a:xfrm>
            <a:off x="2653602" y="21281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x</a:t>
            </a:r>
          </a:p>
        </p:txBody>
      </p:sp>
      <p:cxnSp>
        <p:nvCxnSpPr>
          <p:cNvPr id="25" name="Straight Connector 6">
            <a:extLst>
              <a:ext uri="{FF2B5EF4-FFF2-40B4-BE49-F238E27FC236}">
                <a16:creationId xmlns:a16="http://schemas.microsoft.com/office/drawing/2014/main" id="{002EA8E0-572C-B4D9-6388-DDE009B48124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3169966" y="2328161"/>
            <a:ext cx="25119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9">
            <a:extLst>
              <a:ext uri="{FF2B5EF4-FFF2-40B4-BE49-F238E27FC236}">
                <a16:creationId xmlns:a16="http://schemas.microsoft.com/office/drawing/2014/main" id="{BA720461-C01F-477A-D816-01623FF7B95E}"/>
              </a:ext>
            </a:extLst>
          </p:cNvPr>
          <p:cNvSpPr txBox="1"/>
          <p:nvPr/>
        </p:nvSpPr>
        <p:spPr>
          <a:xfrm>
            <a:off x="4203002" y="1904345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w</a:t>
            </a:r>
          </a:p>
        </p:txBody>
      </p:sp>
      <p:cxnSp>
        <p:nvCxnSpPr>
          <p:cNvPr id="27" name="Straight Connector 11">
            <a:extLst>
              <a:ext uri="{FF2B5EF4-FFF2-40B4-BE49-F238E27FC236}">
                <a16:creationId xmlns:a16="http://schemas.microsoft.com/office/drawing/2014/main" id="{C1115E0F-4122-E08A-76DC-7DE3C86F8CAE}"/>
              </a:ext>
            </a:extLst>
          </p:cNvPr>
          <p:cNvCxnSpPr>
            <a:stCxn id="23" idx="0"/>
            <a:endCxn id="23" idx="4"/>
          </p:cNvCxnSpPr>
          <p:nvPr/>
        </p:nvCxnSpPr>
        <p:spPr>
          <a:xfrm>
            <a:off x="6034603" y="1975464"/>
            <a:ext cx="0" cy="705394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12">
            <a:extLst>
              <a:ext uri="{FF2B5EF4-FFF2-40B4-BE49-F238E27FC236}">
                <a16:creationId xmlns:a16="http://schemas.microsoft.com/office/drawing/2014/main" id="{067A73A7-B62A-4C8B-03D8-F7D0803423F9}"/>
              </a:ext>
            </a:extLst>
          </p:cNvPr>
          <p:cNvSpPr txBox="1"/>
          <p:nvPr/>
        </p:nvSpPr>
        <p:spPr>
          <a:xfrm>
            <a:off x="5707269" y="212810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b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CFF0EA38-BD4E-18F7-D8C9-4E8DC7971B09}"/>
              </a:ext>
            </a:extLst>
          </p:cNvPr>
          <p:cNvSpPr txBox="1"/>
          <p:nvPr/>
        </p:nvSpPr>
        <p:spPr>
          <a:xfrm>
            <a:off x="6034602" y="206468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y</a:t>
            </a: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3720D79D-4731-4A48-9701-FB78D856E860}"/>
              </a:ext>
            </a:extLst>
          </p:cNvPr>
          <p:cNvSpPr txBox="1"/>
          <p:nvPr/>
        </p:nvSpPr>
        <p:spPr>
          <a:xfrm>
            <a:off x="1905000" y="1200150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Neurona de entrada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DCE64395-BC6C-68B5-9BD0-DFB5E1A4BF6E}"/>
              </a:ext>
            </a:extLst>
          </p:cNvPr>
          <p:cNvSpPr txBox="1"/>
          <p:nvPr/>
        </p:nvSpPr>
        <p:spPr>
          <a:xfrm>
            <a:off x="5216109" y="1200151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Neurona de salida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16">
                <a:extLst>
                  <a:ext uri="{FF2B5EF4-FFF2-40B4-BE49-F238E27FC236}">
                    <a16:creationId xmlns:a16="http://schemas.microsoft.com/office/drawing/2014/main" id="{DA77D8A5-460D-1A88-6F1D-04B4A849AA7B}"/>
                  </a:ext>
                </a:extLst>
              </p:cNvPr>
              <p:cNvSpPr txBox="1"/>
              <p:nvPr/>
            </p:nvSpPr>
            <p:spPr>
              <a:xfrm>
                <a:off x="3450436" y="3113427"/>
                <a:ext cx="18683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32" name="TextBox 16">
                <a:extLst>
                  <a:ext uri="{FF2B5EF4-FFF2-40B4-BE49-F238E27FC236}">
                    <a16:creationId xmlns:a16="http://schemas.microsoft.com/office/drawing/2014/main" id="{DA77D8A5-460D-1A88-6F1D-04B4A849A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436" y="3113427"/>
                <a:ext cx="186839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17">
                <a:extLst>
                  <a:ext uri="{FF2B5EF4-FFF2-40B4-BE49-F238E27FC236}">
                    <a16:creationId xmlns:a16="http://schemas.microsoft.com/office/drawing/2014/main" id="{DC5CC823-DF76-5993-9160-0D2C19873E29}"/>
                  </a:ext>
                </a:extLst>
              </p:cNvPr>
              <p:cNvSpPr txBox="1"/>
              <p:nvPr/>
            </p:nvSpPr>
            <p:spPr>
              <a:xfrm>
                <a:off x="2946172" y="3822646"/>
                <a:ext cx="29595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s-ES_tradn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33" name="TextBox 17">
                <a:extLst>
                  <a:ext uri="{FF2B5EF4-FFF2-40B4-BE49-F238E27FC236}">
                    <a16:creationId xmlns:a16="http://schemas.microsoft.com/office/drawing/2014/main" id="{DC5CC823-DF76-5993-9160-0D2C19873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72" y="3822646"/>
                <a:ext cx="29595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5">
            <a:extLst>
              <a:ext uri="{FF2B5EF4-FFF2-40B4-BE49-F238E27FC236}">
                <a16:creationId xmlns:a16="http://schemas.microsoft.com/office/drawing/2014/main" id="{B1D67CB7-4B0E-C0F4-CF60-22CC9BF07527}"/>
              </a:ext>
            </a:extLst>
          </p:cNvPr>
          <p:cNvSpPr txBox="1"/>
          <p:nvPr/>
        </p:nvSpPr>
        <p:spPr>
          <a:xfrm>
            <a:off x="2639174" y="2157014"/>
            <a:ext cx="32733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2000" dirty="0"/>
              <a:t>5</a:t>
            </a: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FD6510E8-24BB-6FD7-21FB-C9BE3FCFF644}"/>
              </a:ext>
            </a:extLst>
          </p:cNvPr>
          <p:cNvSpPr txBox="1"/>
          <p:nvPr/>
        </p:nvSpPr>
        <p:spPr>
          <a:xfrm>
            <a:off x="4246282" y="1916198"/>
            <a:ext cx="32733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2000" dirty="0"/>
              <a:t>3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50723AB5-4CA0-F1D3-E89F-D139716411D0}"/>
              </a:ext>
            </a:extLst>
          </p:cNvPr>
          <p:cNvSpPr txBox="1"/>
          <p:nvPr/>
        </p:nvSpPr>
        <p:spPr>
          <a:xfrm>
            <a:off x="5765992" y="2128106"/>
            <a:ext cx="23874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4503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/>
      <p:bldP spid="29" grpId="0"/>
      <p:bldP spid="32" grpId="0"/>
      <p:bldP spid="33" grpId="0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AB6C5-A5CE-47CF-0E2A-72FD09AC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>
            <a:extLst>
              <a:ext uri="{FF2B5EF4-FFF2-40B4-BE49-F238E27FC236}">
                <a16:creationId xmlns:a16="http://schemas.microsoft.com/office/drawing/2014/main" id="{4CFFCC0B-E4E1-8F01-0C69-BEECDBE59D09}"/>
              </a:ext>
            </a:extLst>
          </p:cNvPr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86E0584-BF43-62CF-D70A-A0E4D2604F35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5E00F13-F255-1549-A8B0-491EE7E134BB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6463322E-41CB-CB6C-5323-5A953C18B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D2903CE5-A905-A9CD-22A7-273D8CBB4B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graphicFrame>
        <p:nvGraphicFramePr>
          <p:cNvPr id="109" name="Tabla 108">
            <a:extLst>
              <a:ext uri="{FF2B5EF4-FFF2-40B4-BE49-F238E27FC236}">
                <a16:creationId xmlns:a16="http://schemas.microsoft.com/office/drawing/2014/main" id="{18FA3F53-6AD1-2884-D38E-3E0E51F4F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572852"/>
              </p:ext>
            </p:extLst>
          </p:nvPr>
        </p:nvGraphicFramePr>
        <p:xfrm>
          <a:off x="5181600" y="895350"/>
          <a:ext cx="3666368" cy="2061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3184">
                  <a:extLst>
                    <a:ext uri="{9D8B030D-6E8A-4147-A177-3AD203B41FA5}">
                      <a16:colId xmlns:a16="http://schemas.microsoft.com/office/drawing/2014/main" val="3665396146"/>
                    </a:ext>
                  </a:extLst>
                </a:gridCol>
                <a:gridCol w="1833184">
                  <a:extLst>
                    <a:ext uri="{9D8B030D-6E8A-4147-A177-3AD203B41FA5}">
                      <a16:colId xmlns:a16="http://schemas.microsoft.com/office/drawing/2014/main" val="1497712358"/>
                    </a:ext>
                  </a:extLst>
                </a:gridCol>
              </a:tblGrid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Fahrenheit (°F)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Celsius (°C)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3402450740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32.4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0.2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3232904686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50.1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10.4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355623799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67.6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19.7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2846551738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85.8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29.9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2214495077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103.5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39.4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1356840892"/>
                  </a:ext>
                </a:extLst>
              </a:tr>
            </a:tbl>
          </a:graphicData>
        </a:graphic>
      </p:graphicFrame>
      <p:pic>
        <p:nvPicPr>
          <p:cNvPr id="111" name="Imagen 110">
            <a:extLst>
              <a:ext uri="{FF2B5EF4-FFF2-40B4-BE49-F238E27FC236}">
                <a16:creationId xmlns:a16="http://schemas.microsoft.com/office/drawing/2014/main" id="{5181E454-61CF-BF15-AD2A-8B22B053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62"/>
          <a:stretch>
            <a:fillRect/>
          </a:stretch>
        </p:blipFill>
        <p:spPr>
          <a:xfrm>
            <a:off x="390033" y="895350"/>
            <a:ext cx="4181967" cy="2876550"/>
          </a:xfrm>
          <a:prstGeom prst="rect">
            <a:avLst/>
          </a:prstGeom>
        </p:spPr>
      </p:pic>
      <p:grpSp>
        <p:nvGrpSpPr>
          <p:cNvPr id="146" name="Grupo 145">
            <a:extLst>
              <a:ext uri="{FF2B5EF4-FFF2-40B4-BE49-F238E27FC236}">
                <a16:creationId xmlns:a16="http://schemas.microsoft.com/office/drawing/2014/main" id="{7705BA3F-0B90-F635-4BF5-71CC3E097A7C}"/>
              </a:ext>
            </a:extLst>
          </p:cNvPr>
          <p:cNvGrpSpPr/>
          <p:nvPr/>
        </p:nvGrpSpPr>
        <p:grpSpPr>
          <a:xfrm>
            <a:off x="428133" y="4019622"/>
            <a:ext cx="4862050" cy="716824"/>
            <a:chOff x="428133" y="4019622"/>
            <a:chExt cx="4862050" cy="716824"/>
          </a:xfrm>
        </p:grpSpPr>
        <p:sp>
          <p:nvSpPr>
            <p:cNvPr id="125" name="Oval 1">
              <a:extLst>
                <a:ext uri="{FF2B5EF4-FFF2-40B4-BE49-F238E27FC236}">
                  <a16:creationId xmlns:a16="http://schemas.microsoft.com/office/drawing/2014/main" id="{D640569A-EA44-1B38-6F48-ACA5D6B9212A}"/>
                </a:ext>
              </a:extLst>
            </p:cNvPr>
            <p:cNvSpPr/>
            <p:nvPr/>
          </p:nvSpPr>
          <p:spPr>
            <a:xfrm>
              <a:off x="428133" y="4031052"/>
              <a:ext cx="705394" cy="70539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26" name="Oval 3">
              <a:extLst>
                <a:ext uri="{FF2B5EF4-FFF2-40B4-BE49-F238E27FC236}">
                  <a16:creationId xmlns:a16="http://schemas.microsoft.com/office/drawing/2014/main" id="{E5C4A472-F1D1-75D3-79F9-C1BC5E1B6071}"/>
                </a:ext>
              </a:extLst>
            </p:cNvPr>
            <p:cNvSpPr/>
            <p:nvPr/>
          </p:nvSpPr>
          <p:spPr>
            <a:xfrm>
              <a:off x="3645466" y="4031052"/>
              <a:ext cx="1644717" cy="705394"/>
            </a:xfrm>
            <a:prstGeom prst="ellipse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27" name="TextBox 5">
              <a:extLst>
                <a:ext uri="{FF2B5EF4-FFF2-40B4-BE49-F238E27FC236}">
                  <a16:creationId xmlns:a16="http://schemas.microsoft.com/office/drawing/2014/main" id="{4F4B3E66-1C9D-4BBD-07D3-80925022F35D}"/>
                </a:ext>
              </a:extLst>
            </p:cNvPr>
            <p:cNvSpPr txBox="1"/>
            <p:nvPr/>
          </p:nvSpPr>
          <p:spPr>
            <a:xfrm>
              <a:off x="617163" y="418369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00" dirty="0"/>
                <a:t>x</a:t>
              </a:r>
            </a:p>
          </p:txBody>
        </p:sp>
        <p:cxnSp>
          <p:nvCxnSpPr>
            <p:cNvPr id="128" name="Straight Connector 6">
              <a:extLst>
                <a:ext uri="{FF2B5EF4-FFF2-40B4-BE49-F238E27FC236}">
                  <a16:creationId xmlns:a16="http://schemas.microsoft.com/office/drawing/2014/main" id="{72942ADB-FD05-F0C1-01F7-DDC5E9FECB60}"/>
                </a:ext>
              </a:extLst>
            </p:cNvPr>
            <p:cNvCxnSpPr>
              <a:cxnSpLocks/>
              <a:stCxn id="125" idx="6"/>
              <a:endCxn id="126" idx="2"/>
            </p:cNvCxnSpPr>
            <p:nvPr/>
          </p:nvCxnSpPr>
          <p:spPr>
            <a:xfrm>
              <a:off x="1133527" y="4383749"/>
              <a:ext cx="2511939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1">
              <a:extLst>
                <a:ext uri="{FF2B5EF4-FFF2-40B4-BE49-F238E27FC236}">
                  <a16:creationId xmlns:a16="http://schemas.microsoft.com/office/drawing/2014/main" id="{9654F3BD-EFFB-5705-1268-EA19B84C81E2}"/>
                </a:ext>
              </a:extLst>
            </p:cNvPr>
            <p:cNvCxnSpPr>
              <a:cxnSpLocks/>
              <a:stCxn id="126" idx="0"/>
              <a:endCxn id="126" idx="4"/>
            </p:cNvCxnSpPr>
            <p:nvPr/>
          </p:nvCxnSpPr>
          <p:spPr>
            <a:xfrm>
              <a:off x="4467825" y="4031052"/>
              <a:ext cx="0" cy="705394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1" name="TextBox 12">
              <a:extLst>
                <a:ext uri="{FF2B5EF4-FFF2-40B4-BE49-F238E27FC236}">
                  <a16:creationId xmlns:a16="http://schemas.microsoft.com/office/drawing/2014/main" id="{A1318B0F-C211-F589-46D3-8200B0FE6726}"/>
                </a:ext>
              </a:extLst>
            </p:cNvPr>
            <p:cNvSpPr txBox="1"/>
            <p:nvPr/>
          </p:nvSpPr>
          <p:spPr>
            <a:xfrm>
              <a:off x="3608446" y="4209142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/>
                <a:t>−17.44</a:t>
              </a:r>
              <a:endParaRPr lang="es-ES_tradnl" dirty="0"/>
            </a:p>
          </p:txBody>
        </p:sp>
        <p:sp>
          <p:nvSpPr>
            <p:cNvPr id="132" name="TextBox 13">
              <a:extLst>
                <a:ext uri="{FF2B5EF4-FFF2-40B4-BE49-F238E27FC236}">
                  <a16:creationId xmlns:a16="http://schemas.microsoft.com/office/drawing/2014/main" id="{FDBD42CC-B556-9B9F-79C7-D04BFD250806}"/>
                </a:ext>
              </a:extLst>
            </p:cNvPr>
            <p:cNvSpPr txBox="1"/>
            <p:nvPr/>
          </p:nvSpPr>
          <p:spPr>
            <a:xfrm>
              <a:off x="4654397" y="411680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400" dirty="0"/>
                <a:t>y</a:t>
              </a:r>
            </a:p>
          </p:txBody>
        </p:sp>
        <p:sp>
          <p:nvSpPr>
            <p:cNvPr id="134" name="TextBox 9">
              <a:extLst>
                <a:ext uri="{FF2B5EF4-FFF2-40B4-BE49-F238E27FC236}">
                  <a16:creationId xmlns:a16="http://schemas.microsoft.com/office/drawing/2014/main" id="{7A881279-4534-8443-6CA8-86342E3F67A7}"/>
                </a:ext>
              </a:extLst>
            </p:cNvPr>
            <p:cNvSpPr txBox="1"/>
            <p:nvPr/>
          </p:nvSpPr>
          <p:spPr>
            <a:xfrm>
              <a:off x="1905229" y="4019622"/>
              <a:ext cx="9685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2000" dirty="0"/>
                <a:t>0.5503</a:t>
              </a:r>
              <a:endParaRPr lang="es-ES_tradnl" sz="2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TextBox 16">
                <a:extLst>
                  <a:ext uri="{FF2B5EF4-FFF2-40B4-BE49-F238E27FC236}">
                    <a16:creationId xmlns:a16="http://schemas.microsoft.com/office/drawing/2014/main" id="{E41B01CA-A4E7-3957-7F37-35BB7D234E06}"/>
                  </a:ext>
                </a:extLst>
              </p:cNvPr>
              <p:cNvSpPr txBox="1"/>
              <p:nvPr/>
            </p:nvSpPr>
            <p:spPr>
              <a:xfrm>
                <a:off x="5647430" y="3382076"/>
                <a:ext cx="261661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2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=0.55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03</m:t>
                      </m:r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−17.44</m:t>
                      </m:r>
                    </m:oMath>
                  </m:oMathPara>
                </a14:m>
                <a:endParaRPr lang="es-ES_tradnl" sz="2200" dirty="0"/>
              </a:p>
            </p:txBody>
          </p:sp>
        </mc:Choice>
        <mc:Fallback>
          <p:sp>
            <p:nvSpPr>
              <p:cNvPr id="144" name="TextBox 16">
                <a:extLst>
                  <a:ext uri="{FF2B5EF4-FFF2-40B4-BE49-F238E27FC236}">
                    <a16:creationId xmlns:a16="http://schemas.microsoft.com/office/drawing/2014/main" id="{E41B01CA-A4E7-3957-7F37-35BB7D234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430" y="3382076"/>
                <a:ext cx="2616614" cy="338554"/>
              </a:xfrm>
              <a:prstGeom prst="rect">
                <a:avLst/>
              </a:prstGeom>
              <a:blipFill>
                <a:blip r:embed="rId4"/>
                <a:stretch>
                  <a:fillRect l="-1860" t="-14545" r="-1395" b="-2909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6">
                <a:extLst>
                  <a:ext uri="{FF2B5EF4-FFF2-40B4-BE49-F238E27FC236}">
                    <a16:creationId xmlns:a16="http://schemas.microsoft.com/office/drawing/2014/main" id="{BDF05912-5970-10E4-7522-8ABFCAB2E4FE}"/>
                  </a:ext>
                </a:extLst>
              </p:cNvPr>
              <p:cNvSpPr txBox="1"/>
              <p:nvPr/>
            </p:nvSpPr>
            <p:spPr>
              <a:xfrm>
                <a:off x="5542717" y="3932143"/>
                <a:ext cx="27142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0.5556</m:t>
                      </m:r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−17.78</m:t>
                      </m:r>
                    </m:oMath>
                  </m:oMathPara>
                </a14:m>
                <a:endParaRPr lang="es-ES_tradnl" sz="2200" dirty="0"/>
              </a:p>
            </p:txBody>
          </p:sp>
        </mc:Choice>
        <mc:Fallback xmlns="">
          <p:sp>
            <p:nvSpPr>
              <p:cNvPr id="145" name="TextBox 16">
                <a:extLst>
                  <a:ext uri="{FF2B5EF4-FFF2-40B4-BE49-F238E27FC236}">
                    <a16:creationId xmlns:a16="http://schemas.microsoft.com/office/drawing/2014/main" id="{BDF05912-5970-10E4-7522-8ABFCAB2E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717" y="3932143"/>
                <a:ext cx="2714269" cy="338554"/>
              </a:xfrm>
              <a:prstGeom prst="rect">
                <a:avLst/>
              </a:prstGeom>
              <a:blipFill>
                <a:blip r:embed="rId5"/>
                <a:stretch>
                  <a:fillRect l="-1798" r="-1573" b="-2857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0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68352" y="672909"/>
            <a:ext cx="2194560" cy="2004695"/>
            <a:chOff x="5868352" y="672909"/>
            <a:chExt cx="2194560" cy="2004695"/>
          </a:xfrm>
        </p:grpSpPr>
        <p:sp>
          <p:nvSpPr>
            <p:cNvPr id="4" name="object 4"/>
            <p:cNvSpPr/>
            <p:nvPr/>
          </p:nvSpPr>
          <p:spPr>
            <a:xfrm>
              <a:off x="5908421" y="1102741"/>
              <a:ext cx="1419860" cy="1560830"/>
            </a:xfrm>
            <a:custGeom>
              <a:avLst/>
              <a:gdLst/>
              <a:ahLst/>
              <a:cxnLst/>
              <a:rect l="l" t="t" r="r" b="b"/>
              <a:pathLst>
                <a:path w="1419859" h="1560830">
                  <a:moveTo>
                    <a:pt x="0" y="236600"/>
                  </a:moveTo>
                  <a:lnTo>
                    <a:pt x="4806" y="188914"/>
                  </a:lnTo>
                  <a:lnTo>
                    <a:pt x="18591" y="144500"/>
                  </a:lnTo>
                  <a:lnTo>
                    <a:pt x="40404" y="104309"/>
                  </a:lnTo>
                  <a:lnTo>
                    <a:pt x="69294" y="69294"/>
                  </a:lnTo>
                  <a:lnTo>
                    <a:pt x="104309" y="40404"/>
                  </a:lnTo>
                  <a:lnTo>
                    <a:pt x="144500" y="18591"/>
                  </a:lnTo>
                  <a:lnTo>
                    <a:pt x="188914" y="4806"/>
                  </a:lnTo>
                  <a:lnTo>
                    <a:pt x="236600" y="0"/>
                  </a:lnTo>
                  <a:lnTo>
                    <a:pt x="1183004" y="0"/>
                  </a:lnTo>
                  <a:lnTo>
                    <a:pt x="1230691" y="4806"/>
                  </a:lnTo>
                  <a:lnTo>
                    <a:pt x="1275105" y="18591"/>
                  </a:lnTo>
                  <a:lnTo>
                    <a:pt x="1315296" y="40404"/>
                  </a:lnTo>
                  <a:lnTo>
                    <a:pt x="1350311" y="69294"/>
                  </a:lnTo>
                  <a:lnTo>
                    <a:pt x="1379201" y="104309"/>
                  </a:lnTo>
                  <a:lnTo>
                    <a:pt x="1401014" y="144500"/>
                  </a:lnTo>
                  <a:lnTo>
                    <a:pt x="1414799" y="188914"/>
                  </a:lnTo>
                  <a:lnTo>
                    <a:pt x="1419605" y="236600"/>
                  </a:lnTo>
                  <a:lnTo>
                    <a:pt x="1419605" y="1323975"/>
                  </a:lnTo>
                  <a:lnTo>
                    <a:pt x="1414799" y="1371661"/>
                  </a:lnTo>
                  <a:lnTo>
                    <a:pt x="1401014" y="1416075"/>
                  </a:lnTo>
                  <a:lnTo>
                    <a:pt x="1379201" y="1456266"/>
                  </a:lnTo>
                  <a:lnTo>
                    <a:pt x="1350311" y="1491281"/>
                  </a:lnTo>
                  <a:lnTo>
                    <a:pt x="1315296" y="1520171"/>
                  </a:lnTo>
                  <a:lnTo>
                    <a:pt x="1275105" y="1541984"/>
                  </a:lnTo>
                  <a:lnTo>
                    <a:pt x="1230691" y="1555769"/>
                  </a:lnTo>
                  <a:lnTo>
                    <a:pt x="1183004" y="1560576"/>
                  </a:lnTo>
                  <a:lnTo>
                    <a:pt x="236600" y="1560576"/>
                  </a:lnTo>
                  <a:lnTo>
                    <a:pt x="188914" y="1555769"/>
                  </a:lnTo>
                  <a:lnTo>
                    <a:pt x="144500" y="1541984"/>
                  </a:lnTo>
                  <a:lnTo>
                    <a:pt x="104309" y="1520171"/>
                  </a:lnTo>
                  <a:lnTo>
                    <a:pt x="69294" y="1491281"/>
                  </a:lnTo>
                  <a:lnTo>
                    <a:pt x="40404" y="1456266"/>
                  </a:lnTo>
                  <a:lnTo>
                    <a:pt x="18591" y="1416075"/>
                  </a:lnTo>
                  <a:lnTo>
                    <a:pt x="4806" y="1371661"/>
                  </a:lnTo>
                  <a:lnTo>
                    <a:pt x="0" y="1323975"/>
                  </a:lnTo>
                  <a:lnTo>
                    <a:pt x="0" y="236600"/>
                  </a:lnTo>
                  <a:close/>
                </a:path>
              </a:pathLst>
            </a:custGeom>
            <a:ln w="28575">
              <a:solidFill>
                <a:srgbClr val="1A227D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5877814" y="682396"/>
              <a:ext cx="2175510" cy="396240"/>
            </a:xfrm>
            <a:custGeom>
              <a:avLst/>
              <a:gdLst/>
              <a:ahLst/>
              <a:cxnLst/>
              <a:rect l="l" t="t" r="r" b="b"/>
              <a:pathLst>
                <a:path w="2175509" h="396240">
                  <a:moveTo>
                    <a:pt x="725106" y="0"/>
                  </a:moveTo>
                  <a:lnTo>
                    <a:pt x="0" y="0"/>
                  </a:lnTo>
                  <a:lnTo>
                    <a:pt x="0" y="396214"/>
                  </a:lnTo>
                  <a:lnTo>
                    <a:pt x="725106" y="396214"/>
                  </a:lnTo>
                  <a:lnTo>
                    <a:pt x="725106" y="0"/>
                  </a:lnTo>
                  <a:close/>
                </a:path>
                <a:path w="2175509" h="396240">
                  <a:moveTo>
                    <a:pt x="1450289" y="0"/>
                  </a:moveTo>
                  <a:lnTo>
                    <a:pt x="725157" y="0"/>
                  </a:lnTo>
                  <a:lnTo>
                    <a:pt x="725157" y="396214"/>
                  </a:lnTo>
                  <a:lnTo>
                    <a:pt x="1450289" y="396214"/>
                  </a:lnTo>
                  <a:lnTo>
                    <a:pt x="1450289" y="0"/>
                  </a:lnTo>
                  <a:close/>
                </a:path>
                <a:path w="2175509" h="396240">
                  <a:moveTo>
                    <a:pt x="2175459" y="0"/>
                  </a:moveTo>
                  <a:lnTo>
                    <a:pt x="1450340" y="0"/>
                  </a:lnTo>
                  <a:lnTo>
                    <a:pt x="1450340" y="396214"/>
                  </a:lnTo>
                  <a:lnTo>
                    <a:pt x="2175459" y="396214"/>
                  </a:lnTo>
                  <a:lnTo>
                    <a:pt x="2175459" y="0"/>
                  </a:lnTo>
                  <a:close/>
                </a:path>
              </a:pathLst>
            </a:custGeom>
            <a:solidFill>
              <a:srgbClr val="6EA8DC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5873115" y="677672"/>
              <a:ext cx="2185035" cy="1990725"/>
            </a:xfrm>
            <a:custGeom>
              <a:avLst/>
              <a:gdLst/>
              <a:ahLst/>
              <a:cxnLst/>
              <a:rect l="l" t="t" r="r" b="b"/>
              <a:pathLst>
                <a:path w="2185034" h="1990725">
                  <a:moveTo>
                    <a:pt x="729868" y="0"/>
                  </a:moveTo>
                  <a:lnTo>
                    <a:pt x="729868" y="1990470"/>
                  </a:lnTo>
                </a:path>
                <a:path w="2185034" h="1990725">
                  <a:moveTo>
                    <a:pt x="1455039" y="0"/>
                  </a:moveTo>
                  <a:lnTo>
                    <a:pt x="1455039" y="1990470"/>
                  </a:lnTo>
                </a:path>
                <a:path w="2185034" h="1990725">
                  <a:moveTo>
                    <a:pt x="0" y="400938"/>
                  </a:moveTo>
                  <a:lnTo>
                    <a:pt x="2184908" y="400938"/>
                  </a:lnTo>
                </a:path>
                <a:path w="2185034" h="1990725">
                  <a:moveTo>
                    <a:pt x="0" y="797178"/>
                  </a:moveTo>
                  <a:lnTo>
                    <a:pt x="2184908" y="797178"/>
                  </a:lnTo>
                </a:path>
                <a:path w="2185034" h="1990725">
                  <a:moveTo>
                    <a:pt x="0" y="1193291"/>
                  </a:moveTo>
                  <a:lnTo>
                    <a:pt x="2184908" y="1193291"/>
                  </a:lnTo>
                </a:path>
                <a:path w="2185034" h="1990725">
                  <a:moveTo>
                    <a:pt x="0" y="1589532"/>
                  </a:moveTo>
                  <a:lnTo>
                    <a:pt x="2184908" y="1589532"/>
                  </a:lnTo>
                </a:path>
                <a:path w="2185034" h="1990725">
                  <a:moveTo>
                    <a:pt x="4699" y="0"/>
                  </a:moveTo>
                  <a:lnTo>
                    <a:pt x="4699" y="1990470"/>
                  </a:lnTo>
                </a:path>
                <a:path w="2185034" h="1990725">
                  <a:moveTo>
                    <a:pt x="2180082" y="0"/>
                  </a:moveTo>
                  <a:lnTo>
                    <a:pt x="2180082" y="1990470"/>
                  </a:lnTo>
                </a:path>
                <a:path w="2185034" h="1990725">
                  <a:moveTo>
                    <a:pt x="0" y="4699"/>
                  </a:moveTo>
                  <a:lnTo>
                    <a:pt x="2184908" y="4699"/>
                  </a:lnTo>
                </a:path>
                <a:path w="2185034" h="1990725">
                  <a:moveTo>
                    <a:pt x="0" y="1985771"/>
                  </a:moveTo>
                  <a:lnTo>
                    <a:pt x="2184908" y="1985771"/>
                  </a:lnTo>
                </a:path>
              </a:pathLst>
            </a:custGeom>
            <a:ln w="952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8409" y="691642"/>
            <a:ext cx="403415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noProof="0" dirty="0">
                <a:latin typeface="Roboto"/>
                <a:cs typeface="Roboto"/>
              </a:rPr>
              <a:t>¿Por</a:t>
            </a:r>
            <a:r>
              <a:rPr lang="es-PE" sz="1600" b="1" spc="-20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qué</a:t>
            </a:r>
            <a:r>
              <a:rPr lang="es-PE" sz="1600" b="1" spc="-5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necesitamos</a:t>
            </a:r>
            <a:r>
              <a:rPr lang="es-PE" sz="1600" b="1" spc="5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modelos</a:t>
            </a:r>
            <a:r>
              <a:rPr lang="es-PE" sz="1600" b="1" spc="-15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no</a:t>
            </a:r>
            <a:r>
              <a:rPr lang="es-PE" sz="1600" b="1" spc="-30" noProof="0" dirty="0">
                <a:latin typeface="Roboto"/>
                <a:cs typeface="Roboto"/>
              </a:rPr>
              <a:t> </a:t>
            </a:r>
            <a:r>
              <a:rPr lang="es-PE" sz="1600" b="1" spc="-10" noProof="0" dirty="0">
                <a:latin typeface="Roboto"/>
                <a:cs typeface="Roboto"/>
              </a:rPr>
              <a:t>lineales?</a:t>
            </a:r>
            <a:endParaRPr lang="es-PE" sz="16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1600" noProof="0" dirty="0">
              <a:latin typeface="Roboto"/>
              <a:cs typeface="Roboto"/>
            </a:endParaRPr>
          </a:p>
          <a:p>
            <a:pPr marL="139065">
              <a:lnSpc>
                <a:spcPct val="100000"/>
              </a:lnSpc>
              <a:tabLst>
                <a:tab pos="469265" algn="l"/>
              </a:tabLst>
            </a:pPr>
            <a:r>
              <a:rPr lang="es-PE" sz="1600" spc="-350" noProof="0" dirty="0">
                <a:latin typeface="Roboto"/>
                <a:cs typeface="Roboto"/>
              </a:rPr>
              <a:t>-</a:t>
            </a:r>
            <a:r>
              <a:rPr lang="es-PE" sz="1600" noProof="0" dirty="0">
                <a:latin typeface="Roboto"/>
                <a:cs typeface="Roboto"/>
              </a:rPr>
              <a:t>	Caso</a:t>
            </a:r>
            <a:r>
              <a:rPr lang="es-PE" sz="1600" spc="-5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simple: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Compuerta</a:t>
            </a:r>
            <a:r>
              <a:rPr lang="es-PE" sz="1600" spc="-50" noProof="0" dirty="0">
                <a:latin typeface="Roboto"/>
                <a:cs typeface="Roboto"/>
              </a:rPr>
              <a:t> </a:t>
            </a:r>
            <a:r>
              <a:rPr lang="es-PE" sz="1600" spc="-25" noProof="0" dirty="0">
                <a:latin typeface="Roboto"/>
                <a:cs typeface="Roboto"/>
              </a:rPr>
              <a:t>XOR</a:t>
            </a:r>
            <a:endParaRPr lang="es-PE" sz="1600" noProof="0" dirty="0">
              <a:latin typeface="Roboto"/>
              <a:cs typeface="Roboto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6808" y="1580641"/>
            <a:ext cx="3253867" cy="14001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99463" y="1834387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spc="-25" noProof="0" dirty="0">
                <a:latin typeface="Roboto"/>
                <a:cs typeface="Roboto"/>
              </a:rPr>
              <a:t>X1</a:t>
            </a:r>
            <a:endParaRPr lang="es-PE" sz="1600" noProof="0" dirty="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9463" y="2422905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spc="-25" noProof="0" dirty="0">
                <a:latin typeface="Roboto"/>
                <a:cs typeface="Roboto"/>
              </a:rPr>
              <a:t>X2</a:t>
            </a:r>
            <a:endParaRPr lang="es-PE" sz="1600" noProof="0" dirty="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80178" y="2135504"/>
            <a:ext cx="150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spc="-50" noProof="0" dirty="0">
                <a:latin typeface="Roboto"/>
                <a:cs typeface="Roboto"/>
              </a:rPr>
              <a:t>S</a:t>
            </a:r>
            <a:endParaRPr lang="es-PE" sz="1600" noProof="0" dirty="0">
              <a:latin typeface="Roboto"/>
              <a:cs typeface="Roboto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253371"/>
              </p:ext>
            </p:extLst>
          </p:nvPr>
        </p:nvGraphicFramePr>
        <p:xfrm>
          <a:off x="6076060" y="784986"/>
          <a:ext cx="1706244" cy="187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70">
                <a:tc>
                  <a:txBody>
                    <a:bodyPr/>
                    <a:lstStyle/>
                    <a:p>
                      <a:pPr marL="55880">
                        <a:lnSpc>
                          <a:spcPts val="1550"/>
                        </a:lnSpc>
                      </a:pPr>
                      <a:r>
                        <a:rPr lang="es-PE" sz="1400" b="1" spc="-25" noProof="0" dirty="0">
                          <a:latin typeface="Arial"/>
                          <a:cs typeface="Arial"/>
                        </a:rPr>
                        <a:t>X1</a:t>
                      </a:r>
                      <a:endParaRPr lang="es-PE" sz="1400" noProof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6EA8DC"/>
                    </a:solidFill>
                  </a:tcPr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ts val="1550"/>
                        </a:lnSpc>
                      </a:pPr>
                      <a:r>
                        <a:rPr lang="es-PE" sz="1400" b="1" spc="-25" noProof="0" dirty="0">
                          <a:latin typeface="Arial"/>
                          <a:cs typeface="Arial"/>
                        </a:rPr>
                        <a:t>X2</a:t>
                      </a:r>
                      <a:endParaRPr lang="es-PE" sz="1400" noProof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6EA8DC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50"/>
                        </a:lnSpc>
                      </a:pPr>
                      <a:r>
                        <a:rPr lang="es-PE" sz="1400" b="1" spc="-50" noProof="0" dirty="0">
                          <a:latin typeface="Arial"/>
                          <a:cs typeface="Arial"/>
                        </a:rPr>
                        <a:t>S</a:t>
                      </a:r>
                      <a:endParaRPr lang="es-PE" sz="1400" noProof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6E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475399" y="3147872"/>
            <a:ext cx="4361180" cy="1720850"/>
            <a:chOff x="475399" y="3147872"/>
            <a:chExt cx="4361180" cy="17208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399" y="3147872"/>
              <a:ext cx="4360672" cy="17208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5226" y="3366630"/>
              <a:ext cx="798055" cy="1737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2994" y="3604386"/>
              <a:ext cx="636587" cy="17373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3083" y="4077373"/>
              <a:ext cx="385927" cy="1737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16632" y="4383760"/>
              <a:ext cx="683526" cy="1750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76880" y="4638001"/>
              <a:ext cx="660882" cy="175044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6027546" y="1122552"/>
            <a:ext cx="1179830" cy="291465"/>
          </a:xfrm>
          <a:custGeom>
            <a:avLst/>
            <a:gdLst/>
            <a:ahLst/>
            <a:cxnLst/>
            <a:rect l="l" t="t" r="r" b="b"/>
            <a:pathLst>
              <a:path w="1179829" h="291465">
                <a:moveTo>
                  <a:pt x="0" y="48513"/>
                </a:moveTo>
                <a:lnTo>
                  <a:pt x="3811" y="29628"/>
                </a:lnTo>
                <a:lnTo>
                  <a:pt x="14208" y="14208"/>
                </a:lnTo>
                <a:lnTo>
                  <a:pt x="29628" y="3811"/>
                </a:lnTo>
                <a:lnTo>
                  <a:pt x="48513" y="0"/>
                </a:lnTo>
                <a:lnTo>
                  <a:pt x="1130807" y="0"/>
                </a:lnTo>
                <a:lnTo>
                  <a:pt x="1149693" y="3811"/>
                </a:lnTo>
                <a:lnTo>
                  <a:pt x="1165113" y="14208"/>
                </a:lnTo>
                <a:lnTo>
                  <a:pt x="1175510" y="29628"/>
                </a:lnTo>
                <a:lnTo>
                  <a:pt x="1179322" y="48513"/>
                </a:lnTo>
                <a:lnTo>
                  <a:pt x="1179322" y="242443"/>
                </a:lnTo>
                <a:lnTo>
                  <a:pt x="1175510" y="261328"/>
                </a:lnTo>
                <a:lnTo>
                  <a:pt x="1165113" y="276748"/>
                </a:lnTo>
                <a:lnTo>
                  <a:pt x="1149693" y="287145"/>
                </a:lnTo>
                <a:lnTo>
                  <a:pt x="1130807" y="290957"/>
                </a:lnTo>
                <a:lnTo>
                  <a:pt x="48513" y="290957"/>
                </a:lnTo>
                <a:lnTo>
                  <a:pt x="29628" y="287145"/>
                </a:lnTo>
                <a:lnTo>
                  <a:pt x="14208" y="276748"/>
                </a:lnTo>
                <a:lnTo>
                  <a:pt x="3811" y="261328"/>
                </a:lnTo>
                <a:lnTo>
                  <a:pt x="0" y="242443"/>
                </a:lnTo>
                <a:lnTo>
                  <a:pt x="0" y="48513"/>
                </a:lnTo>
                <a:close/>
              </a:path>
            </a:pathLst>
          </a:custGeom>
          <a:ln w="28575">
            <a:solidFill>
              <a:srgbClr val="0E9D57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6" name="object 26"/>
          <p:cNvSpPr txBox="1"/>
          <p:nvPr/>
        </p:nvSpPr>
        <p:spPr>
          <a:xfrm>
            <a:off x="5459221" y="1083309"/>
            <a:ext cx="22097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400" b="1" spc="-25" noProof="0" dirty="0">
                <a:solidFill>
                  <a:srgbClr val="0E9D57"/>
                </a:solidFill>
                <a:latin typeface="Roboto"/>
                <a:cs typeface="Roboto"/>
              </a:rPr>
              <a:t>X</a:t>
            </a:r>
            <a:r>
              <a:rPr lang="es-PE" sz="1350" b="1" spc="-37" baseline="-21604" noProof="0" dirty="0">
                <a:solidFill>
                  <a:srgbClr val="0E9D57"/>
                </a:solidFill>
                <a:latin typeface="Roboto"/>
                <a:cs typeface="Roboto"/>
              </a:rPr>
              <a:t>i</a:t>
            </a:r>
            <a:endParaRPr lang="es-PE" sz="1350" baseline="-21604" noProof="0" dirty="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55332" y="2733802"/>
            <a:ext cx="139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b="1" spc="-50" noProof="0" dirty="0">
                <a:solidFill>
                  <a:srgbClr val="1A227D"/>
                </a:solidFill>
                <a:latin typeface="Roboto"/>
                <a:cs typeface="Roboto"/>
              </a:rPr>
              <a:t>X</a:t>
            </a:r>
            <a:endParaRPr lang="es-PE" sz="1400" noProof="0" dirty="0">
              <a:latin typeface="Roboto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23340" y="1167828"/>
            <a:ext cx="505459" cy="1428750"/>
            <a:chOff x="7423340" y="1167828"/>
            <a:chExt cx="505459" cy="1428750"/>
          </a:xfrm>
        </p:grpSpPr>
        <p:sp>
          <p:nvSpPr>
            <p:cNvPr id="29" name="object 29"/>
            <p:cNvSpPr/>
            <p:nvPr/>
          </p:nvSpPr>
          <p:spPr>
            <a:xfrm>
              <a:off x="7437628" y="1182116"/>
              <a:ext cx="476884" cy="1400175"/>
            </a:xfrm>
            <a:custGeom>
              <a:avLst/>
              <a:gdLst/>
              <a:ahLst/>
              <a:cxnLst/>
              <a:rect l="l" t="t" r="r" b="b"/>
              <a:pathLst>
                <a:path w="476884" h="1400175">
                  <a:moveTo>
                    <a:pt x="0" y="79501"/>
                  </a:moveTo>
                  <a:lnTo>
                    <a:pt x="6240" y="48541"/>
                  </a:lnTo>
                  <a:lnTo>
                    <a:pt x="23256" y="23272"/>
                  </a:lnTo>
                  <a:lnTo>
                    <a:pt x="48488" y="6242"/>
                  </a:lnTo>
                  <a:lnTo>
                    <a:pt x="79375" y="0"/>
                  </a:lnTo>
                  <a:lnTo>
                    <a:pt x="397255" y="0"/>
                  </a:lnTo>
                  <a:lnTo>
                    <a:pt x="428142" y="6242"/>
                  </a:lnTo>
                  <a:lnTo>
                    <a:pt x="453374" y="23272"/>
                  </a:lnTo>
                  <a:lnTo>
                    <a:pt x="470390" y="48541"/>
                  </a:lnTo>
                  <a:lnTo>
                    <a:pt x="476630" y="79501"/>
                  </a:lnTo>
                  <a:lnTo>
                    <a:pt x="476630" y="1320673"/>
                  </a:lnTo>
                  <a:lnTo>
                    <a:pt x="470390" y="1351559"/>
                  </a:lnTo>
                  <a:lnTo>
                    <a:pt x="453374" y="1376791"/>
                  </a:lnTo>
                  <a:lnTo>
                    <a:pt x="428142" y="1393807"/>
                  </a:lnTo>
                  <a:lnTo>
                    <a:pt x="397255" y="1400048"/>
                  </a:lnTo>
                  <a:lnTo>
                    <a:pt x="79375" y="1400048"/>
                  </a:lnTo>
                  <a:lnTo>
                    <a:pt x="48488" y="1393807"/>
                  </a:lnTo>
                  <a:lnTo>
                    <a:pt x="23256" y="1376791"/>
                  </a:lnTo>
                  <a:lnTo>
                    <a:pt x="6240" y="1351559"/>
                  </a:lnTo>
                  <a:lnTo>
                    <a:pt x="0" y="1320673"/>
                  </a:lnTo>
                  <a:lnTo>
                    <a:pt x="0" y="79501"/>
                  </a:lnTo>
                  <a:close/>
                </a:path>
              </a:pathLst>
            </a:custGeom>
            <a:ln w="28575">
              <a:solidFill>
                <a:srgbClr val="1A227D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530211" y="1511554"/>
              <a:ext cx="304165" cy="683895"/>
            </a:xfrm>
            <a:custGeom>
              <a:avLst/>
              <a:gdLst/>
              <a:ahLst/>
              <a:cxnLst/>
              <a:rect l="l" t="t" r="r" b="b"/>
              <a:pathLst>
                <a:path w="304165" h="683894">
                  <a:moveTo>
                    <a:pt x="0" y="50673"/>
                  </a:moveTo>
                  <a:lnTo>
                    <a:pt x="3988" y="30968"/>
                  </a:lnTo>
                  <a:lnTo>
                    <a:pt x="14858" y="14859"/>
                  </a:lnTo>
                  <a:lnTo>
                    <a:pt x="30968" y="3988"/>
                  </a:lnTo>
                  <a:lnTo>
                    <a:pt x="50673" y="0"/>
                  </a:lnTo>
                  <a:lnTo>
                    <a:pt x="253111" y="0"/>
                  </a:lnTo>
                  <a:lnTo>
                    <a:pt x="272796" y="3988"/>
                  </a:lnTo>
                  <a:lnTo>
                    <a:pt x="288861" y="14858"/>
                  </a:lnTo>
                  <a:lnTo>
                    <a:pt x="299688" y="30968"/>
                  </a:lnTo>
                  <a:lnTo>
                    <a:pt x="303657" y="50673"/>
                  </a:lnTo>
                  <a:lnTo>
                    <a:pt x="303657" y="633095"/>
                  </a:lnTo>
                  <a:lnTo>
                    <a:pt x="299688" y="652799"/>
                  </a:lnTo>
                  <a:lnTo>
                    <a:pt x="288861" y="668909"/>
                  </a:lnTo>
                  <a:lnTo>
                    <a:pt x="272796" y="679779"/>
                  </a:lnTo>
                  <a:lnTo>
                    <a:pt x="253111" y="683768"/>
                  </a:lnTo>
                  <a:lnTo>
                    <a:pt x="50673" y="683768"/>
                  </a:lnTo>
                  <a:lnTo>
                    <a:pt x="30968" y="679779"/>
                  </a:lnTo>
                  <a:lnTo>
                    <a:pt x="14859" y="668909"/>
                  </a:lnTo>
                  <a:lnTo>
                    <a:pt x="3988" y="652799"/>
                  </a:lnTo>
                  <a:lnTo>
                    <a:pt x="0" y="633095"/>
                  </a:lnTo>
                  <a:lnTo>
                    <a:pt x="0" y="50673"/>
                  </a:lnTo>
                  <a:close/>
                </a:path>
              </a:pathLst>
            </a:custGeom>
            <a:ln w="28575">
              <a:solidFill>
                <a:srgbClr val="DB4437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75117" y="1252220"/>
            <a:ext cx="115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b="1" spc="-50" noProof="0" dirty="0">
                <a:solidFill>
                  <a:srgbClr val="1A227D"/>
                </a:solidFill>
                <a:latin typeface="Roboto"/>
                <a:cs typeface="Roboto"/>
              </a:rPr>
              <a:t>y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027546" y="2314067"/>
            <a:ext cx="386080" cy="268605"/>
          </a:xfrm>
          <a:custGeom>
            <a:avLst/>
            <a:gdLst/>
            <a:ahLst/>
            <a:cxnLst/>
            <a:rect l="l" t="t" r="r" b="b"/>
            <a:pathLst>
              <a:path w="386079" h="268605">
                <a:moveTo>
                  <a:pt x="0" y="44703"/>
                </a:moveTo>
                <a:lnTo>
                  <a:pt x="3520" y="27324"/>
                </a:lnTo>
                <a:lnTo>
                  <a:pt x="13112" y="13112"/>
                </a:lnTo>
                <a:lnTo>
                  <a:pt x="27324" y="3520"/>
                </a:lnTo>
                <a:lnTo>
                  <a:pt x="44703" y="0"/>
                </a:lnTo>
                <a:lnTo>
                  <a:pt x="341122" y="0"/>
                </a:lnTo>
                <a:lnTo>
                  <a:pt x="358501" y="3520"/>
                </a:lnTo>
                <a:lnTo>
                  <a:pt x="372713" y="13112"/>
                </a:lnTo>
                <a:lnTo>
                  <a:pt x="382305" y="27324"/>
                </a:lnTo>
                <a:lnTo>
                  <a:pt x="385825" y="44703"/>
                </a:lnTo>
                <a:lnTo>
                  <a:pt x="385825" y="223519"/>
                </a:lnTo>
                <a:lnTo>
                  <a:pt x="382305" y="240899"/>
                </a:lnTo>
                <a:lnTo>
                  <a:pt x="372713" y="255111"/>
                </a:lnTo>
                <a:lnTo>
                  <a:pt x="358501" y="264703"/>
                </a:lnTo>
                <a:lnTo>
                  <a:pt x="341122" y="268224"/>
                </a:lnTo>
                <a:lnTo>
                  <a:pt x="44703" y="268224"/>
                </a:lnTo>
                <a:lnTo>
                  <a:pt x="27324" y="264703"/>
                </a:lnTo>
                <a:lnTo>
                  <a:pt x="13112" y="255111"/>
                </a:lnTo>
                <a:lnTo>
                  <a:pt x="3520" y="240899"/>
                </a:lnTo>
                <a:lnTo>
                  <a:pt x="0" y="223519"/>
                </a:lnTo>
                <a:lnTo>
                  <a:pt x="0" y="44703"/>
                </a:lnTo>
                <a:close/>
              </a:path>
            </a:pathLst>
          </a:custGeom>
          <a:ln w="28575">
            <a:solidFill>
              <a:srgbClr val="F4B400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3" name="object 33"/>
          <p:cNvSpPr txBox="1"/>
          <p:nvPr/>
        </p:nvSpPr>
        <p:spPr>
          <a:xfrm>
            <a:off x="5962777" y="2776474"/>
            <a:ext cx="3403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PE" sz="2100" b="1" baseline="13888" noProof="0" dirty="0">
                <a:solidFill>
                  <a:srgbClr val="F4B400"/>
                </a:solidFill>
                <a:latin typeface="Roboto"/>
                <a:cs typeface="Roboto"/>
              </a:rPr>
              <a:t>X</a:t>
            </a:r>
            <a:r>
              <a:rPr lang="es-PE" sz="900" b="1" noProof="0" dirty="0">
                <a:solidFill>
                  <a:srgbClr val="F4B400"/>
                </a:solidFill>
                <a:latin typeface="Roboto"/>
                <a:cs typeface="Roboto"/>
              </a:rPr>
              <a:t>i</a:t>
            </a:r>
            <a:r>
              <a:rPr lang="es-PE" sz="900" b="1" spc="10" noProof="0" dirty="0">
                <a:solidFill>
                  <a:srgbClr val="F4B400"/>
                </a:solidFill>
                <a:latin typeface="Roboto"/>
                <a:cs typeface="Roboto"/>
              </a:rPr>
              <a:t> </a:t>
            </a:r>
            <a:r>
              <a:rPr lang="es-PE" sz="900" b="1" noProof="0" dirty="0">
                <a:solidFill>
                  <a:srgbClr val="F4B400"/>
                </a:solidFill>
                <a:latin typeface="Roboto"/>
                <a:cs typeface="Roboto"/>
              </a:rPr>
              <a:t>, </a:t>
            </a:r>
            <a:r>
              <a:rPr lang="es-PE" sz="900" b="1" spc="-50" noProof="0" dirty="0">
                <a:solidFill>
                  <a:srgbClr val="F4B400"/>
                </a:solidFill>
                <a:latin typeface="Roboto"/>
                <a:cs typeface="Roboto"/>
              </a:rPr>
              <a:t>j</a:t>
            </a:r>
            <a:endParaRPr lang="es-PE" sz="900" noProof="0" dirty="0">
              <a:latin typeface="Roboto"/>
              <a:cs typeface="Robot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987796" y="1529714"/>
            <a:ext cx="1268730" cy="683895"/>
          </a:xfrm>
          <a:custGeom>
            <a:avLst/>
            <a:gdLst/>
            <a:ahLst/>
            <a:cxnLst/>
            <a:rect l="l" t="t" r="r" b="b"/>
            <a:pathLst>
              <a:path w="1268729" h="683894">
                <a:moveTo>
                  <a:pt x="0" y="113919"/>
                </a:moveTo>
                <a:lnTo>
                  <a:pt x="8961" y="69544"/>
                </a:lnTo>
                <a:lnTo>
                  <a:pt x="33400" y="33337"/>
                </a:lnTo>
                <a:lnTo>
                  <a:pt x="69651" y="8941"/>
                </a:lnTo>
                <a:lnTo>
                  <a:pt x="114045" y="0"/>
                </a:lnTo>
                <a:lnTo>
                  <a:pt x="1154810" y="0"/>
                </a:lnTo>
                <a:lnTo>
                  <a:pt x="1199132" y="8941"/>
                </a:lnTo>
                <a:lnTo>
                  <a:pt x="1235344" y="33337"/>
                </a:lnTo>
                <a:lnTo>
                  <a:pt x="1259770" y="69544"/>
                </a:lnTo>
                <a:lnTo>
                  <a:pt x="1268729" y="113919"/>
                </a:lnTo>
                <a:lnTo>
                  <a:pt x="1268729" y="569722"/>
                </a:lnTo>
                <a:lnTo>
                  <a:pt x="1259770" y="614043"/>
                </a:lnTo>
                <a:lnTo>
                  <a:pt x="1235344" y="650255"/>
                </a:lnTo>
                <a:lnTo>
                  <a:pt x="1199132" y="674681"/>
                </a:lnTo>
                <a:lnTo>
                  <a:pt x="1154810" y="683641"/>
                </a:lnTo>
                <a:lnTo>
                  <a:pt x="114045" y="683641"/>
                </a:lnTo>
                <a:lnTo>
                  <a:pt x="69651" y="674681"/>
                </a:lnTo>
                <a:lnTo>
                  <a:pt x="33400" y="650255"/>
                </a:lnTo>
                <a:lnTo>
                  <a:pt x="8961" y="614043"/>
                </a:lnTo>
                <a:lnTo>
                  <a:pt x="0" y="569722"/>
                </a:lnTo>
                <a:lnTo>
                  <a:pt x="0" y="113919"/>
                </a:lnTo>
                <a:close/>
              </a:path>
            </a:pathLst>
          </a:custGeom>
          <a:ln w="28575">
            <a:solidFill>
              <a:srgbClr val="DB4437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5" name="object 35"/>
          <p:cNvSpPr txBox="1"/>
          <p:nvPr/>
        </p:nvSpPr>
        <p:spPr>
          <a:xfrm>
            <a:off x="5484240" y="1768602"/>
            <a:ext cx="2654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400" b="1" spc="-25" noProof="0" dirty="0">
                <a:solidFill>
                  <a:srgbClr val="DB4437"/>
                </a:solidFill>
                <a:latin typeface="Roboto"/>
                <a:cs typeface="Roboto"/>
              </a:rPr>
              <a:t>X</a:t>
            </a:r>
            <a:r>
              <a:rPr lang="es-PE" sz="1350" b="1" spc="-37" baseline="-21604" noProof="0" dirty="0">
                <a:solidFill>
                  <a:srgbClr val="DB4437"/>
                </a:solidFill>
                <a:latin typeface="Roboto"/>
                <a:cs typeface="Roboto"/>
              </a:rPr>
              <a:t>B</a:t>
            </a:r>
            <a:endParaRPr lang="es-PE" sz="1350" baseline="-21604" noProof="0" dirty="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33333" y="1665224"/>
            <a:ext cx="115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b="1" spc="-50" noProof="0" dirty="0">
                <a:solidFill>
                  <a:srgbClr val="DB4437"/>
                </a:solidFill>
                <a:latin typeface="Roboto"/>
                <a:cs typeface="Roboto"/>
              </a:rPr>
              <a:t>y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23250" y="1767332"/>
            <a:ext cx="10160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PE" sz="900" b="1" spc="-50" noProof="0" dirty="0">
                <a:solidFill>
                  <a:srgbClr val="DB4437"/>
                </a:solidFill>
                <a:latin typeface="Roboto"/>
                <a:cs typeface="Roboto"/>
              </a:rPr>
              <a:t>B</a:t>
            </a:r>
            <a:endParaRPr lang="es-PE" sz="900" noProof="0" dirty="0">
              <a:latin typeface="Roboto"/>
              <a:cs typeface="Roboto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97523" y="3210801"/>
            <a:ext cx="1630679" cy="15011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2015" y="738378"/>
            <a:ext cx="26777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280" algn="l"/>
              </a:tabLst>
            </a:pPr>
            <a:r>
              <a:rPr lang="es-PE" sz="1500" spc="-10" noProof="0" dirty="0">
                <a:latin typeface="Roboto"/>
                <a:cs typeface="Roboto"/>
              </a:rPr>
              <a:t>Arquitectura:</a:t>
            </a:r>
            <a:r>
              <a:rPr lang="es-PE" sz="1500" spc="-4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Modelo</a:t>
            </a:r>
            <a:r>
              <a:rPr lang="es-PE" sz="1500" spc="-4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Lineal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396" y="1045679"/>
            <a:ext cx="5684138" cy="2884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2015" y="1582673"/>
            <a:ext cx="35318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280" algn="l"/>
              </a:tabLst>
            </a:pPr>
            <a:r>
              <a:rPr lang="es-PE" sz="1500" noProof="0" dirty="0" err="1">
                <a:latin typeface="Roboto"/>
                <a:cs typeface="Roboto"/>
              </a:rPr>
              <a:t>Loss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10" noProof="0" dirty="0" err="1">
                <a:latin typeface="Roboto"/>
                <a:cs typeface="Roboto"/>
              </a:rPr>
              <a:t>function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Error</a:t>
            </a:r>
            <a:r>
              <a:rPr lang="es-PE" sz="1500" spc="-4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cuadrático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medio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6396" y="1773961"/>
            <a:ext cx="5684138" cy="6471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2015" y="2447925"/>
            <a:ext cx="29006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280" algn="l"/>
              </a:tabLst>
            </a:pPr>
            <a:r>
              <a:rPr lang="es-PE" sz="1500" spc="-10" noProof="0" dirty="0">
                <a:latin typeface="Roboto"/>
                <a:cs typeface="Roboto"/>
              </a:rPr>
              <a:t>Optimizador: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Solución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cerrada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2236" y="2784703"/>
            <a:ext cx="2976499" cy="9215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878" y="3916413"/>
            <a:ext cx="4076700" cy="733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60C6A22E-0EAF-AD88-46EA-92194EE7429C}"/>
                  </a:ext>
                </a:extLst>
              </p14:cNvPr>
              <p14:cNvContentPartPr/>
              <p14:nvPr/>
            </p14:nvContentPartPr>
            <p14:xfrm>
              <a:off x="3862440" y="3424320"/>
              <a:ext cx="360" cy="36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60C6A22E-0EAF-AD88-46EA-92194EE742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53080" y="34149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4A4C-41A9-AA3E-7B7D-009E46FF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>
            <a:extLst>
              <a:ext uri="{FF2B5EF4-FFF2-40B4-BE49-F238E27FC236}">
                <a16:creationId xmlns:a16="http://schemas.microsoft.com/office/drawing/2014/main" id="{F481C5FE-4DCD-613A-3BC0-0237EE958086}"/>
              </a:ext>
            </a:extLst>
          </p:cNvPr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0747FFF-2CD9-6364-6E01-950EC1EAE320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2E18E82-00F9-552E-396E-A6C38740B352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F0C1CAB4-2659-A8FB-C4FD-81E24AA11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A3466474-522D-3A2D-D541-311E3FC55C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pic>
        <p:nvPicPr>
          <p:cNvPr id="4" name="object 38">
            <a:extLst>
              <a:ext uri="{FF2B5EF4-FFF2-40B4-BE49-F238E27FC236}">
                <a16:creationId xmlns:a16="http://schemas.microsoft.com/office/drawing/2014/main" id="{D9DE1C30-24FC-E36E-5F4C-12698B1D2B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1427" y="1184923"/>
            <a:ext cx="3048000" cy="2971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BF53C1B-2AD1-C841-FAD6-396BE2FAE9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07"/>
          <a:stretch>
            <a:fillRect/>
          </a:stretch>
        </p:blipFill>
        <p:spPr>
          <a:xfrm>
            <a:off x="381000" y="992384"/>
            <a:ext cx="4267200" cy="3164339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E46EC764-28C9-FDD2-709C-D43BBF03F90B}"/>
              </a:ext>
            </a:extLst>
          </p:cNvPr>
          <p:cNvSpPr txBox="1"/>
          <p:nvPr/>
        </p:nvSpPr>
        <p:spPr>
          <a:xfrm>
            <a:off x="1579561" y="429355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Lineal o Constante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573D6783-A914-B38F-3900-5BB6F98F16B8}"/>
              </a:ext>
            </a:extLst>
          </p:cNvPr>
          <p:cNvSpPr txBox="1"/>
          <p:nvPr/>
        </p:nvSpPr>
        <p:spPr>
          <a:xfrm>
            <a:off x="6168227" y="4275573"/>
            <a:ext cx="114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No lineal</a:t>
            </a:r>
          </a:p>
        </p:txBody>
      </p:sp>
    </p:spTree>
    <p:extLst>
      <p:ext uri="{BB962C8B-B14F-4D97-AF65-F5344CB8AC3E}">
        <p14:creationId xmlns:p14="http://schemas.microsoft.com/office/powerpoint/2010/main" val="2104164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66E5F3A6-016B-CC34-3232-71A4567BF21A}"/>
              </a:ext>
            </a:extLst>
          </p:cNvPr>
          <p:cNvGrpSpPr/>
          <p:nvPr/>
        </p:nvGrpSpPr>
        <p:grpSpPr>
          <a:xfrm>
            <a:off x="2753457" y="853757"/>
            <a:ext cx="645005" cy="3609243"/>
            <a:chOff x="3825888" y="1138342"/>
            <a:chExt cx="705394" cy="481232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45D219D-8289-5D8A-C91D-830A59FA520A}"/>
                </a:ext>
              </a:extLst>
            </p:cNvPr>
            <p:cNvGrpSpPr/>
            <p:nvPr/>
          </p:nvGrpSpPr>
          <p:grpSpPr>
            <a:xfrm>
              <a:off x="3825888" y="1138342"/>
              <a:ext cx="705394" cy="4812324"/>
              <a:chOff x="3825888" y="1138342"/>
              <a:chExt cx="705394" cy="481232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E59B35E-9543-5154-6DB8-9405A8C36B4B}"/>
                  </a:ext>
                </a:extLst>
              </p:cNvPr>
              <p:cNvGrpSpPr/>
              <p:nvPr/>
            </p:nvGrpSpPr>
            <p:grpSpPr>
              <a:xfrm>
                <a:off x="3825888" y="1138342"/>
                <a:ext cx="705394" cy="4812324"/>
                <a:chOff x="4124272" y="1022838"/>
                <a:chExt cx="705394" cy="4812324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5088654-759A-29AC-D762-BE8A99FE8F81}"/>
                    </a:ext>
                  </a:extLst>
                </p:cNvPr>
                <p:cNvSpPr/>
                <p:nvPr/>
              </p:nvSpPr>
              <p:spPr>
                <a:xfrm>
                  <a:off x="4124272" y="102283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4C1BF3D-68BE-8B27-5BAC-1E9491ACF3EE}"/>
                    </a:ext>
                  </a:extLst>
                </p:cNvPr>
                <p:cNvSpPr/>
                <p:nvPr/>
              </p:nvSpPr>
              <p:spPr>
                <a:xfrm>
                  <a:off x="4124272" y="239166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135142F-9ECD-A52E-8F1F-541E2F90160C}"/>
                    </a:ext>
                  </a:extLst>
                </p:cNvPr>
                <p:cNvSpPr/>
                <p:nvPr/>
              </p:nvSpPr>
              <p:spPr>
                <a:xfrm>
                  <a:off x="4124272" y="376071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08F2528-BD36-2D95-ACA4-25F725A471E8}"/>
                    </a:ext>
                  </a:extLst>
                </p:cNvPr>
                <p:cNvSpPr/>
                <p:nvPr/>
              </p:nvSpPr>
              <p:spPr>
                <a:xfrm>
                  <a:off x="4124272" y="512976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6F70758-521A-FDB1-11C7-8BD6945CF02F}"/>
                  </a:ext>
                </a:extLst>
              </p:cNvPr>
              <p:cNvCxnSpPr>
                <a:stCxn id="6" idx="0"/>
                <a:endCxn id="6" idx="4"/>
              </p:cNvCxnSpPr>
              <p:nvPr/>
            </p:nvCxnSpPr>
            <p:spPr>
              <a:xfrm>
                <a:off x="4178585" y="1138342"/>
                <a:ext cx="0" cy="705394"/>
              </a:xfrm>
              <a:prstGeom prst="line">
                <a:avLst/>
              </a:prstGeom>
              <a:ln w="19050" cap="flat" cmpd="sng" algn="ctr">
                <a:solidFill>
                  <a:srgbClr val="7030A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E3AD1A5-0FE7-BE73-D5BC-C66DE4765549}"/>
                  </a:ext>
                </a:extLst>
              </p:cNvPr>
              <p:cNvCxnSpPr>
                <a:cxnSpLocks/>
                <a:stCxn id="7" idx="0"/>
                <a:endCxn id="7" idx="4"/>
              </p:cNvCxnSpPr>
              <p:nvPr/>
            </p:nvCxnSpPr>
            <p:spPr>
              <a:xfrm>
                <a:off x="4178585" y="2507172"/>
                <a:ext cx="0" cy="705394"/>
              </a:xfrm>
              <a:prstGeom prst="line">
                <a:avLst/>
              </a:prstGeom>
              <a:ln w="19050" cap="flat" cmpd="sng" algn="ctr">
                <a:solidFill>
                  <a:srgbClr val="7030A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2DEB1A0-1294-1373-EC48-324EFEE762DB}"/>
                  </a:ext>
                </a:extLst>
              </p:cNvPr>
              <p:cNvCxnSpPr>
                <a:cxnSpLocks/>
                <a:stCxn id="8" idx="0"/>
                <a:endCxn id="8" idx="4"/>
              </p:cNvCxnSpPr>
              <p:nvPr/>
            </p:nvCxnSpPr>
            <p:spPr>
              <a:xfrm>
                <a:off x="4178585" y="3876222"/>
                <a:ext cx="0" cy="705394"/>
              </a:xfrm>
              <a:prstGeom prst="line">
                <a:avLst/>
              </a:prstGeom>
              <a:ln w="19050" cap="flat" cmpd="sng" algn="ctr">
                <a:solidFill>
                  <a:srgbClr val="7030A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64676FC-C6CD-C1D3-73A3-CFB106141C3B}"/>
                </a:ext>
              </a:extLst>
            </p:cNvPr>
            <p:cNvCxnSpPr>
              <a:cxnSpLocks/>
              <a:stCxn id="9" idx="0"/>
              <a:endCxn id="9" idx="4"/>
            </p:cNvCxnSpPr>
            <p:nvPr/>
          </p:nvCxnSpPr>
          <p:spPr>
            <a:xfrm>
              <a:off x="4178585" y="5245272"/>
              <a:ext cx="0" cy="705394"/>
            </a:xfrm>
            <a:prstGeom prst="line">
              <a:avLst/>
            </a:prstGeom>
            <a:ln w="1905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39B995-433A-5F6C-FA2C-DABD5AA498C3}"/>
              </a:ext>
            </a:extLst>
          </p:cNvPr>
          <p:cNvGrpSpPr/>
          <p:nvPr/>
        </p:nvGrpSpPr>
        <p:grpSpPr>
          <a:xfrm>
            <a:off x="1017640" y="1880135"/>
            <a:ext cx="529046" cy="1556486"/>
            <a:chOff x="2021305" y="2111600"/>
            <a:chExt cx="705394" cy="207531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C908437-912B-E0BD-5342-C0EAD1BC9F82}"/>
                </a:ext>
              </a:extLst>
            </p:cNvPr>
            <p:cNvSpPr/>
            <p:nvPr/>
          </p:nvSpPr>
          <p:spPr>
            <a:xfrm>
              <a:off x="2021305" y="2111600"/>
              <a:ext cx="705394" cy="70539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69AEA1A-8A76-11D6-4AFD-36AAB3B15A18}"/>
                </a:ext>
              </a:extLst>
            </p:cNvPr>
            <p:cNvSpPr/>
            <p:nvPr/>
          </p:nvSpPr>
          <p:spPr>
            <a:xfrm>
              <a:off x="2021305" y="3481520"/>
              <a:ext cx="705394" cy="70539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83A768-D7BF-4A10-DE8E-59A8C3296273}"/>
              </a:ext>
            </a:extLst>
          </p:cNvPr>
          <p:cNvGrpSpPr/>
          <p:nvPr/>
        </p:nvGrpSpPr>
        <p:grpSpPr>
          <a:xfrm>
            <a:off x="6100354" y="1366645"/>
            <a:ext cx="529046" cy="2582621"/>
            <a:chOff x="5497281" y="2497546"/>
            <a:chExt cx="705394" cy="344349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20DACD4-06DD-1FC9-389A-AEBA57645CF2}"/>
                </a:ext>
              </a:extLst>
            </p:cNvPr>
            <p:cNvSpPr/>
            <p:nvPr/>
          </p:nvSpPr>
          <p:spPr>
            <a:xfrm>
              <a:off x="5497281" y="2497546"/>
              <a:ext cx="705394" cy="705394"/>
            </a:xfrm>
            <a:prstGeom prst="ellips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7762C06-0ECE-D6F8-C4B8-44F20D49DB03}"/>
                </a:ext>
              </a:extLst>
            </p:cNvPr>
            <p:cNvSpPr/>
            <p:nvPr/>
          </p:nvSpPr>
          <p:spPr>
            <a:xfrm>
              <a:off x="5497281" y="3866596"/>
              <a:ext cx="705394" cy="705394"/>
            </a:xfrm>
            <a:prstGeom prst="ellips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2CC20EF-6612-A91C-83ED-6677F1507A8F}"/>
                </a:ext>
              </a:extLst>
            </p:cNvPr>
            <p:cNvSpPr/>
            <p:nvPr/>
          </p:nvSpPr>
          <p:spPr>
            <a:xfrm>
              <a:off x="5497281" y="5235646"/>
              <a:ext cx="705394" cy="705394"/>
            </a:xfrm>
            <a:prstGeom prst="ellips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E1F1D0C6-DADC-CDE1-993A-6B6A36CC21FF}"/>
              </a:ext>
            </a:extLst>
          </p:cNvPr>
          <p:cNvSpPr/>
          <p:nvPr/>
        </p:nvSpPr>
        <p:spPr>
          <a:xfrm>
            <a:off x="7546552" y="2394893"/>
            <a:ext cx="529046" cy="529046"/>
          </a:xfrm>
          <a:prstGeom prst="ellips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7C2FE1-0688-0CDC-5DB0-5221D8DC92BA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546686" y="1118280"/>
            <a:ext cx="1206771" cy="10263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93847A-89DF-31D1-F5E3-4B2F7427059A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544801" y="2144415"/>
            <a:ext cx="1208656" cy="4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F131B79-6AFB-F0AF-468C-0E9ECA941430}"/>
              </a:ext>
            </a:extLst>
          </p:cNvPr>
          <p:cNvSpPr txBox="1"/>
          <p:nvPr/>
        </p:nvSpPr>
        <p:spPr>
          <a:xfrm>
            <a:off x="1932550" y="1361025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222444-4C1D-38AD-BC24-C85F6EA04CAA}"/>
              </a:ext>
            </a:extLst>
          </p:cNvPr>
          <p:cNvSpPr txBox="1"/>
          <p:nvPr/>
        </p:nvSpPr>
        <p:spPr>
          <a:xfrm>
            <a:off x="2787584" y="955542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48175-87A0-0D5D-A966-1E279BFF3CCA}"/>
              </a:ext>
            </a:extLst>
          </p:cNvPr>
          <p:cNvSpPr txBox="1"/>
          <p:nvPr/>
        </p:nvSpPr>
        <p:spPr>
          <a:xfrm>
            <a:off x="3042971" y="954280"/>
            <a:ext cx="38095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350" dirty="0"/>
              <a:t>16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18B06C-D38D-3CE1-7AF0-C49DD6D795DB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546686" y="1118280"/>
            <a:ext cx="1206771" cy="20538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412510B-D115-07C2-B986-8C9E758F47E7}"/>
              </a:ext>
            </a:extLst>
          </p:cNvPr>
          <p:cNvSpPr txBox="1"/>
          <p:nvPr/>
        </p:nvSpPr>
        <p:spPr>
          <a:xfrm>
            <a:off x="2284716" y="1746027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C9165-5F2C-0B9D-B3FF-A35C1890570B}"/>
              </a:ext>
            </a:extLst>
          </p:cNvPr>
          <p:cNvSpPr txBox="1"/>
          <p:nvPr/>
        </p:nvSpPr>
        <p:spPr>
          <a:xfrm>
            <a:off x="1156418" y="1994373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61A204-E763-750B-87D8-FC29E3DB6C44}"/>
              </a:ext>
            </a:extLst>
          </p:cNvPr>
          <p:cNvSpPr txBox="1"/>
          <p:nvPr/>
        </p:nvSpPr>
        <p:spPr>
          <a:xfrm>
            <a:off x="1163858" y="3020996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A1D00C-6EEE-7A7F-7B87-AC2DCFD789DA}"/>
              </a:ext>
            </a:extLst>
          </p:cNvPr>
          <p:cNvSpPr txBox="1"/>
          <p:nvPr/>
        </p:nvSpPr>
        <p:spPr>
          <a:xfrm>
            <a:off x="1816713" y="1867124"/>
            <a:ext cx="4523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1.5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D02E703-33F5-D25C-3808-7987F26E9B61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546686" y="2144903"/>
            <a:ext cx="1206771" cy="102719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C79B832-671A-2448-6B72-0ED2E85AF7D5}"/>
              </a:ext>
            </a:extLst>
          </p:cNvPr>
          <p:cNvSpPr txBox="1"/>
          <p:nvPr/>
        </p:nvSpPr>
        <p:spPr>
          <a:xfrm>
            <a:off x="2259260" y="2446185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-2.7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300043-B37B-60BD-E1CE-8372D3FAD1F4}"/>
              </a:ext>
            </a:extLst>
          </p:cNvPr>
          <p:cNvSpPr txBox="1"/>
          <p:nvPr/>
        </p:nvSpPr>
        <p:spPr>
          <a:xfrm>
            <a:off x="2715449" y="2006061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1.1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3C51F7-B815-B060-D261-18DCBEC8367D}"/>
              </a:ext>
            </a:extLst>
          </p:cNvPr>
          <p:cNvSpPr txBox="1"/>
          <p:nvPr/>
        </p:nvSpPr>
        <p:spPr>
          <a:xfrm>
            <a:off x="3020169" y="2003619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4.4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CB5F2BF-BF67-5A42-6DF5-FC8C6C17702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546686" y="2144658"/>
            <a:ext cx="1206771" cy="10270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51259A9-AAAE-22E5-40CC-23318CD708BD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 flipV="1">
            <a:off x="1546686" y="3171690"/>
            <a:ext cx="1206771" cy="4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7C39FFA-AFC1-FA48-7143-EC1646FC5327}"/>
              </a:ext>
            </a:extLst>
          </p:cNvPr>
          <p:cNvSpPr txBox="1"/>
          <p:nvPr/>
        </p:nvSpPr>
        <p:spPr>
          <a:xfrm>
            <a:off x="2057151" y="2837992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-1.3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074B90-A39F-38CE-2466-178E223FAE33}"/>
              </a:ext>
            </a:extLst>
          </p:cNvPr>
          <p:cNvSpPr txBox="1"/>
          <p:nvPr/>
        </p:nvSpPr>
        <p:spPr>
          <a:xfrm>
            <a:off x="1848771" y="3113212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F20188-BE5A-C67D-0591-CC4A4480D41B}"/>
              </a:ext>
            </a:extLst>
          </p:cNvPr>
          <p:cNvSpPr txBox="1"/>
          <p:nvPr/>
        </p:nvSpPr>
        <p:spPr>
          <a:xfrm>
            <a:off x="2808836" y="3026145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430473-EB60-AFD9-65C6-266C66CF8A25}"/>
              </a:ext>
            </a:extLst>
          </p:cNvPr>
          <p:cNvSpPr txBox="1"/>
          <p:nvPr/>
        </p:nvSpPr>
        <p:spPr>
          <a:xfrm>
            <a:off x="3032137" y="3018479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0.8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B844020-3C92-DE0F-9C2D-49510A19B13D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1546686" y="2144658"/>
            <a:ext cx="1206771" cy="20538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8FFF555-72EA-460D-B98B-85FFF88BE990}"/>
              </a:ext>
            </a:extLst>
          </p:cNvPr>
          <p:cNvCxnSpPr>
            <a:cxnSpLocks/>
            <a:stCxn id="3" idx="6"/>
            <a:endCxn id="9" idx="2"/>
          </p:cNvCxnSpPr>
          <p:nvPr/>
        </p:nvCxnSpPr>
        <p:spPr>
          <a:xfrm>
            <a:off x="1546686" y="3172098"/>
            <a:ext cx="1206771" cy="10263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AEC942F-D2C7-D286-83AA-09AC232FFCA2}"/>
              </a:ext>
            </a:extLst>
          </p:cNvPr>
          <p:cNvSpPr txBox="1"/>
          <p:nvPr/>
        </p:nvSpPr>
        <p:spPr>
          <a:xfrm>
            <a:off x="2380922" y="3467448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3AA216-F11D-87E6-8964-5076268C2C09}"/>
              </a:ext>
            </a:extLst>
          </p:cNvPr>
          <p:cNvSpPr txBox="1"/>
          <p:nvPr/>
        </p:nvSpPr>
        <p:spPr>
          <a:xfrm>
            <a:off x="1783968" y="3711597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-3.5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B143FDD-97E6-CF56-5562-718A53A80C51}"/>
              </a:ext>
            </a:extLst>
          </p:cNvPr>
          <p:cNvSpPr txBox="1"/>
          <p:nvPr/>
        </p:nvSpPr>
        <p:spPr>
          <a:xfrm>
            <a:off x="2713559" y="4055197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4.2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7AD884-F3DD-7F77-DF46-B927B505FAFA}"/>
              </a:ext>
            </a:extLst>
          </p:cNvPr>
          <p:cNvSpPr txBox="1"/>
          <p:nvPr/>
        </p:nvSpPr>
        <p:spPr>
          <a:xfrm>
            <a:off x="3020169" y="4049658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4.7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33F5679-72ED-FE46-4632-B5C62DE1680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3398462" y="1118280"/>
            <a:ext cx="1029081" cy="5306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7F367D4-C9ED-E6CB-FAA7-D90A7F58FF42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3398462" y="1647325"/>
            <a:ext cx="1024780" cy="4975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029DF03-AABD-5058-F7D3-676D1045CACC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3398462" y="1647325"/>
            <a:ext cx="1024780" cy="15243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347A7DD-C7AF-5348-1164-609D7429550B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3398462" y="1647325"/>
            <a:ext cx="1024780" cy="255115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0073B89-4B44-EC84-A435-93390E10E34B}"/>
              </a:ext>
            </a:extLst>
          </p:cNvPr>
          <p:cNvSpPr txBox="1"/>
          <p:nvPr/>
        </p:nvSpPr>
        <p:spPr>
          <a:xfrm>
            <a:off x="3817065" y="1094042"/>
            <a:ext cx="356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23DA7F5-8C55-D568-270E-1CA2AACA8D1D}"/>
              </a:ext>
            </a:extLst>
          </p:cNvPr>
          <p:cNvSpPr txBox="1"/>
          <p:nvPr/>
        </p:nvSpPr>
        <p:spPr>
          <a:xfrm>
            <a:off x="3503006" y="1666728"/>
            <a:ext cx="4523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2.3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8D58F1C-2548-6BA9-AD9C-724CE965F6FE}"/>
              </a:ext>
            </a:extLst>
          </p:cNvPr>
          <p:cNvSpPr txBox="1"/>
          <p:nvPr/>
        </p:nvSpPr>
        <p:spPr>
          <a:xfrm>
            <a:off x="3437118" y="2466187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5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259F8A1-9400-738E-9623-0157CCF0267C}"/>
              </a:ext>
            </a:extLst>
          </p:cNvPr>
          <p:cNvSpPr txBox="1"/>
          <p:nvPr/>
        </p:nvSpPr>
        <p:spPr>
          <a:xfrm>
            <a:off x="3747186" y="3233996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-5.2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CEB2F83-EDC9-FCDA-D233-12AEC50F0BFB}"/>
              </a:ext>
            </a:extLst>
          </p:cNvPr>
          <p:cNvGrpSpPr/>
          <p:nvPr/>
        </p:nvGrpSpPr>
        <p:grpSpPr>
          <a:xfrm>
            <a:off x="4423242" y="1382802"/>
            <a:ext cx="1076421" cy="2582621"/>
            <a:chOff x="5897657" y="1843736"/>
            <a:chExt cx="705394" cy="344349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514DB06-5C1B-7D20-CBFE-BD695470E3C8}"/>
                </a:ext>
              </a:extLst>
            </p:cNvPr>
            <p:cNvGrpSpPr/>
            <p:nvPr/>
          </p:nvGrpSpPr>
          <p:grpSpPr>
            <a:xfrm>
              <a:off x="5897657" y="1843736"/>
              <a:ext cx="705394" cy="3443494"/>
              <a:chOff x="5497281" y="2497546"/>
              <a:chExt cx="705394" cy="344349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4781AA6-E614-2D7C-6879-0920A26A4703}"/>
                  </a:ext>
                </a:extLst>
              </p:cNvPr>
              <p:cNvSpPr/>
              <p:nvPr/>
            </p:nvSpPr>
            <p:spPr>
              <a:xfrm>
                <a:off x="5497281" y="2497546"/>
                <a:ext cx="705394" cy="705394"/>
              </a:xfrm>
              <a:prstGeom prst="ellips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7737A72-E283-2D43-D9AC-5865334CC980}"/>
                  </a:ext>
                </a:extLst>
              </p:cNvPr>
              <p:cNvSpPr/>
              <p:nvPr/>
            </p:nvSpPr>
            <p:spPr>
              <a:xfrm>
                <a:off x="5497281" y="3866596"/>
                <a:ext cx="705394" cy="705394"/>
              </a:xfrm>
              <a:prstGeom prst="ellips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811D12D-BB84-2ABB-4729-D8D794247F0B}"/>
                  </a:ext>
                </a:extLst>
              </p:cNvPr>
              <p:cNvSpPr/>
              <p:nvPr/>
            </p:nvSpPr>
            <p:spPr>
              <a:xfrm>
                <a:off x="5497281" y="5235646"/>
                <a:ext cx="705394" cy="705394"/>
              </a:xfrm>
              <a:prstGeom prst="ellips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</p:grp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CC1D745-695F-DF86-DD58-61A7909FD501}"/>
                </a:ext>
              </a:extLst>
            </p:cNvPr>
            <p:cNvCxnSpPr>
              <a:cxnSpLocks/>
              <a:stCxn id="10" idx="0"/>
              <a:endCxn id="10" idx="4"/>
            </p:cNvCxnSpPr>
            <p:nvPr/>
          </p:nvCxnSpPr>
          <p:spPr>
            <a:xfrm>
              <a:off x="6250354" y="1843736"/>
              <a:ext cx="0" cy="705394"/>
            </a:xfrm>
            <a:prstGeom prst="line">
              <a:avLst/>
            </a:prstGeom>
            <a:ln w="1905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28834CFB-6153-DE58-468A-B867CF52D9A9}"/>
              </a:ext>
            </a:extLst>
          </p:cNvPr>
          <p:cNvSpPr txBox="1"/>
          <p:nvPr/>
        </p:nvSpPr>
        <p:spPr>
          <a:xfrm>
            <a:off x="4580066" y="1497284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A28C9E0-7100-2FA6-218C-9146B19FEFD0}"/>
              </a:ext>
            </a:extLst>
          </p:cNvPr>
          <p:cNvSpPr txBox="1"/>
          <p:nvPr/>
        </p:nvSpPr>
        <p:spPr>
          <a:xfrm>
            <a:off x="4869287" y="1504585"/>
            <a:ext cx="6928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350" dirty="0"/>
              <a:t>-24.32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75F9D92-3AA4-C2DC-DD55-E3A82296C2EC}"/>
              </a:ext>
            </a:extLst>
          </p:cNvPr>
          <p:cNvSpPr txBox="1"/>
          <p:nvPr/>
        </p:nvSpPr>
        <p:spPr>
          <a:xfrm>
            <a:off x="7674499" y="2421997"/>
            <a:ext cx="3193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100" dirty="0"/>
              <a:t>y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35435EC-66E3-EFE9-3371-00B475251312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4961453" y="2409590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053F35B-CBF3-340A-0EBD-6066F19DE8DF}"/>
              </a:ext>
            </a:extLst>
          </p:cNvPr>
          <p:cNvCxnSpPr>
            <a:cxnSpLocks/>
            <a:stCxn id="12" idx="0"/>
            <a:endCxn id="12" idx="4"/>
          </p:cNvCxnSpPr>
          <p:nvPr/>
        </p:nvCxnSpPr>
        <p:spPr>
          <a:xfrm>
            <a:off x="4961453" y="3436377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BAC6D7C-2AE1-498C-319A-D8C874A4E8EF}"/>
              </a:ext>
            </a:extLst>
          </p:cNvPr>
          <p:cNvCxnSpPr>
            <a:cxnSpLocks/>
            <a:stCxn id="16" idx="0"/>
            <a:endCxn id="16" idx="4"/>
          </p:cNvCxnSpPr>
          <p:nvPr/>
        </p:nvCxnSpPr>
        <p:spPr>
          <a:xfrm>
            <a:off x="6364877" y="1366645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4BE91D9-233B-1302-4DF8-18065D0D0363}"/>
              </a:ext>
            </a:extLst>
          </p:cNvPr>
          <p:cNvCxnSpPr>
            <a:cxnSpLocks/>
            <a:stCxn id="17" idx="0"/>
            <a:endCxn id="17" idx="4"/>
          </p:cNvCxnSpPr>
          <p:nvPr/>
        </p:nvCxnSpPr>
        <p:spPr>
          <a:xfrm>
            <a:off x="6364877" y="2393433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60217A1-61D9-DFEA-9B80-2AA1DE65AA2A}"/>
              </a:ext>
            </a:extLst>
          </p:cNvPr>
          <p:cNvCxnSpPr>
            <a:cxnSpLocks/>
            <a:stCxn id="18" idx="0"/>
            <a:endCxn id="18" idx="4"/>
          </p:cNvCxnSpPr>
          <p:nvPr/>
        </p:nvCxnSpPr>
        <p:spPr>
          <a:xfrm>
            <a:off x="6364877" y="3420220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1AFE0FC-88EE-94CC-7C17-AF8AC8264732}"/>
              </a:ext>
            </a:extLst>
          </p:cNvPr>
          <p:cNvCxnSpPr>
            <a:cxnSpLocks/>
            <a:stCxn id="6" idx="5"/>
            <a:endCxn id="11" idx="2"/>
          </p:cNvCxnSpPr>
          <p:nvPr/>
        </p:nvCxnSpPr>
        <p:spPr>
          <a:xfrm>
            <a:off x="3304003" y="1305326"/>
            <a:ext cx="1119239" cy="13687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36038BD-0354-6F05-B8FB-550A2D1F11E5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3398462" y="2190751"/>
            <a:ext cx="1024780" cy="4833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F4D281D-CAA0-D6CE-9869-B9CEB4C51FA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398462" y="2674113"/>
            <a:ext cx="1024780" cy="55988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D9DFD44-FB6F-967A-50FA-96E6EF8196C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398462" y="2674113"/>
            <a:ext cx="1024780" cy="14660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B7995A3-DD03-1321-E953-9856083C276F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 flipV="1">
            <a:off x="5499663" y="1631168"/>
            <a:ext cx="600691" cy="161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0212013-E1FB-69EC-BBF4-5CF77B95010C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5499663" y="1631168"/>
            <a:ext cx="600691" cy="104294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64F0E02A-1E49-232D-BBFE-6EFF67E3692A}"/>
              </a:ext>
            </a:extLst>
          </p:cNvPr>
          <p:cNvCxnSpPr>
            <a:cxnSpLocks/>
            <a:stCxn id="12" idx="7"/>
            <a:endCxn id="16" idx="2"/>
          </p:cNvCxnSpPr>
          <p:nvPr/>
        </p:nvCxnSpPr>
        <p:spPr>
          <a:xfrm flipV="1">
            <a:off x="5342025" y="1631168"/>
            <a:ext cx="758329" cy="188268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4394808-7F9F-8853-116B-A9B9D56676C3}"/>
              </a:ext>
            </a:extLst>
          </p:cNvPr>
          <p:cNvCxnSpPr>
            <a:cxnSpLocks/>
            <a:stCxn id="10" idx="5"/>
            <a:endCxn id="17" idx="2"/>
          </p:cNvCxnSpPr>
          <p:nvPr/>
        </p:nvCxnSpPr>
        <p:spPr>
          <a:xfrm>
            <a:off x="5342025" y="1834371"/>
            <a:ext cx="758329" cy="8235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11C8A4E-F2BB-DC20-7F0D-714BF24209FC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 flipV="1">
            <a:off x="5499663" y="2657956"/>
            <a:ext cx="600691" cy="161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F454B35-4CE7-53DA-1343-BA90432F4AEB}"/>
              </a:ext>
            </a:extLst>
          </p:cNvPr>
          <p:cNvCxnSpPr>
            <a:cxnSpLocks/>
            <a:stCxn id="12" idx="7"/>
            <a:endCxn id="17" idx="2"/>
          </p:cNvCxnSpPr>
          <p:nvPr/>
        </p:nvCxnSpPr>
        <p:spPr>
          <a:xfrm flipV="1">
            <a:off x="5342025" y="2657956"/>
            <a:ext cx="758329" cy="85589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B6204F9-BE9B-6CCE-2A3C-44BF6E8C4C3D}"/>
              </a:ext>
            </a:extLst>
          </p:cNvPr>
          <p:cNvCxnSpPr>
            <a:cxnSpLocks/>
            <a:stCxn id="10" idx="5"/>
            <a:endCxn id="18" idx="2"/>
          </p:cNvCxnSpPr>
          <p:nvPr/>
        </p:nvCxnSpPr>
        <p:spPr>
          <a:xfrm>
            <a:off x="5342025" y="1834371"/>
            <a:ext cx="758329" cy="185037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7F734BA9-BE33-5F99-0DD3-16C20B4A9B7F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>
            <a:off x="5499663" y="2674113"/>
            <a:ext cx="600691" cy="101063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50DA997-FFFC-D351-363E-D3F57D7CFCB7}"/>
              </a:ext>
            </a:extLst>
          </p:cNvPr>
          <p:cNvCxnSpPr>
            <a:cxnSpLocks/>
            <a:stCxn id="12" idx="6"/>
            <a:endCxn id="18" idx="2"/>
          </p:cNvCxnSpPr>
          <p:nvPr/>
        </p:nvCxnSpPr>
        <p:spPr>
          <a:xfrm flipV="1">
            <a:off x="5499663" y="3684743"/>
            <a:ext cx="600691" cy="161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002D6B0-2493-70A2-E9D7-D6BDAB34D67A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>
            <a:off x="6629400" y="1631168"/>
            <a:ext cx="917152" cy="10282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C2D77B1-77A2-34F0-545B-7788FCAE87F6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>
            <a:off x="6629400" y="2657956"/>
            <a:ext cx="917152" cy="14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1B2002B-38E1-DDFB-7EEA-11C3B11BB836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 flipV="1">
            <a:off x="6629400" y="2659416"/>
            <a:ext cx="917152" cy="10253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02825750-FA9B-9962-6627-4D9C0E432E0E}"/>
              </a:ext>
            </a:extLst>
          </p:cNvPr>
          <p:cNvCxnSpPr>
            <a:cxnSpLocks/>
            <a:stCxn id="12" idx="2"/>
            <a:endCxn id="6" idx="5"/>
          </p:cNvCxnSpPr>
          <p:nvPr/>
        </p:nvCxnSpPr>
        <p:spPr>
          <a:xfrm flipH="1" flipV="1">
            <a:off x="3304003" y="1305326"/>
            <a:ext cx="1119239" cy="239557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757B2EA-325D-E4D5-FC6C-8693E7BB65E8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3375033" y="2198900"/>
            <a:ext cx="1048209" cy="150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1BCAD6F-8101-F740-D901-A5B2505B4F4E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3399346" y="3233996"/>
            <a:ext cx="1023896" cy="4669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2F652942-F454-0C78-75A9-9B99539489A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387670" y="3700900"/>
            <a:ext cx="1035572" cy="453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50FF707A-EF32-7875-967E-703A55A5E623}"/>
              </a:ext>
            </a:extLst>
          </p:cNvPr>
          <p:cNvSpPr txBox="1"/>
          <p:nvPr/>
        </p:nvSpPr>
        <p:spPr>
          <a:xfrm>
            <a:off x="637045" y="770842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/>
                </a:solidFill>
              </a:rPr>
              <a:t>Capa de entrada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061138E-B9A8-4843-E6BD-CD2F8D9CC417}"/>
              </a:ext>
            </a:extLst>
          </p:cNvPr>
          <p:cNvSpPr txBox="1"/>
          <p:nvPr/>
        </p:nvSpPr>
        <p:spPr>
          <a:xfrm>
            <a:off x="4114515" y="72589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rgbClr val="7030A0"/>
                </a:solidFill>
              </a:rPr>
              <a:t>Capas ocultas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45A6AE8-052C-5CB5-58B3-5443B92ACE4B}"/>
              </a:ext>
            </a:extLst>
          </p:cNvPr>
          <p:cNvSpPr txBox="1"/>
          <p:nvPr/>
        </p:nvSpPr>
        <p:spPr>
          <a:xfrm>
            <a:off x="7229667" y="770842"/>
            <a:ext cx="1205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rgbClr val="00B050"/>
                </a:solidFill>
              </a:rPr>
              <a:t>Capa de salida</a:t>
            </a: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6547A268-0019-D6B6-082A-24B0C3BA752D}"/>
              </a:ext>
            </a:extLst>
          </p:cNvPr>
          <p:cNvSpPr txBox="1">
            <a:spLocks/>
          </p:cNvSpPr>
          <p:nvPr/>
        </p:nvSpPr>
        <p:spPr>
          <a:xfrm>
            <a:off x="78739" y="38012"/>
            <a:ext cx="5211445" cy="363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b" anchorCtr="0">
            <a:sp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s-PE" sz="2200" spc="-2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Feed</a:t>
            </a:r>
            <a:r>
              <a:rPr lang="es-PE" sz="2200" spc="-2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s-PE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Forward</a:t>
            </a:r>
            <a:r>
              <a:rPr lang="es-PE" sz="2200" spc="2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neural</a:t>
            </a:r>
            <a:r>
              <a:rPr lang="es-PE" sz="2200" spc="5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z="2200" spc="-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289468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7" grpId="0"/>
      <p:bldP spid="38" grpId="0"/>
      <p:bldP spid="39" grpId="0"/>
      <p:bldP spid="46" grpId="0"/>
      <p:bldP spid="47" grpId="0"/>
      <p:bldP spid="48" grpId="0"/>
      <p:bldP spid="49" grpId="0"/>
      <p:bldP spid="53" grpId="0"/>
      <p:bldP spid="57" grpId="0"/>
      <p:bldP spid="58" grpId="0"/>
      <p:bldP spid="74" grpId="0"/>
      <p:bldP spid="75" grpId="0"/>
      <p:bldP spid="76" grpId="0"/>
      <p:bldP spid="77" grpId="0"/>
      <p:bldP spid="84" grpId="0"/>
      <p:bldP spid="85" grpId="0"/>
      <p:bldP spid="86" grpId="0"/>
      <p:bldP spid="87" grpId="0"/>
      <p:bldP spid="117" grpId="0"/>
      <p:bldP spid="118" grpId="0"/>
      <p:bldP spid="119" grpId="0"/>
      <p:bldP spid="120" grpId="0"/>
      <p:bldP spid="124" grpId="0"/>
      <p:bldP spid="125" grpId="0"/>
      <p:bldP spid="1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3311905" y="4977307"/>
            <a:ext cx="25196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Datos</a:t>
            </a:r>
            <a:r>
              <a:rPr lang="es-PE" sz="800" spc="-35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elaborados</a:t>
            </a:r>
            <a:r>
              <a:rPr lang="es-PE" sz="800" spc="-1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por</a:t>
            </a:r>
            <a:r>
              <a:rPr lang="es-PE" sz="800" spc="-3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BCP</a:t>
            </a:r>
            <a:r>
              <a:rPr lang="es-PE" sz="800" spc="-4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únicamente</a:t>
            </a:r>
            <a:r>
              <a:rPr lang="es-PE" sz="800" spc="-25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para</a:t>
            </a:r>
            <a:r>
              <a:rPr lang="es-PE" sz="800" spc="-3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fines</a:t>
            </a:r>
            <a:r>
              <a:rPr lang="es-PE" sz="800" spc="-1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del</a:t>
            </a:r>
            <a:r>
              <a:rPr lang="es-PE" sz="800" spc="-3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spc="-10" noProof="0" dirty="0">
                <a:solidFill>
                  <a:srgbClr val="008000"/>
                </a:solidFill>
                <a:latin typeface="Calibri"/>
                <a:cs typeface="Calibri"/>
              </a:rPr>
              <a:t>negocio</a:t>
            </a:r>
            <a:endParaRPr lang="es-PE" sz="800" noProof="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686036"/>
            <a:ext cx="9144000" cy="3457575"/>
            <a:chOff x="0" y="1686036"/>
            <a:chExt cx="9144000" cy="3457575"/>
          </a:xfrm>
        </p:grpSpPr>
        <p:sp>
          <p:nvSpPr>
            <p:cNvPr id="5" name="object 5"/>
            <p:cNvSpPr/>
            <p:nvPr/>
          </p:nvSpPr>
          <p:spPr>
            <a:xfrm>
              <a:off x="0" y="1794637"/>
              <a:ext cx="9144000" cy="3348990"/>
            </a:xfrm>
            <a:custGeom>
              <a:avLst/>
              <a:gdLst/>
              <a:ahLst/>
              <a:cxnLst/>
              <a:rect l="l" t="t" r="r" b="b"/>
              <a:pathLst>
                <a:path w="9144000" h="3348990">
                  <a:moveTo>
                    <a:pt x="0" y="3348862"/>
                  </a:moveTo>
                  <a:lnTo>
                    <a:pt x="9144000" y="334886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348862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86036"/>
              <a:ext cx="9144000" cy="108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6567" y="3004438"/>
              <a:ext cx="1707514" cy="965200"/>
            </a:xfrm>
            <a:custGeom>
              <a:avLst/>
              <a:gdLst/>
              <a:ahLst/>
              <a:cxnLst/>
              <a:rect l="l" t="t" r="r" b="b"/>
              <a:pathLst>
                <a:path w="1707514" h="965200">
                  <a:moveTo>
                    <a:pt x="76136" y="887272"/>
                  </a:moveTo>
                  <a:lnTo>
                    <a:pt x="42811" y="888517"/>
                  </a:lnTo>
                  <a:lnTo>
                    <a:pt x="30683" y="562737"/>
                  </a:lnTo>
                  <a:lnTo>
                    <a:pt x="30670" y="562356"/>
                  </a:lnTo>
                  <a:lnTo>
                    <a:pt x="21145" y="562737"/>
                  </a:lnTo>
                  <a:lnTo>
                    <a:pt x="33248" y="887272"/>
                  </a:lnTo>
                  <a:lnTo>
                    <a:pt x="33299" y="888873"/>
                  </a:lnTo>
                  <a:lnTo>
                    <a:pt x="0" y="890104"/>
                  </a:lnTo>
                  <a:lnTo>
                    <a:pt x="40906" y="964831"/>
                  </a:lnTo>
                  <a:lnTo>
                    <a:pt x="69634" y="901560"/>
                  </a:lnTo>
                  <a:lnTo>
                    <a:pt x="76136" y="887272"/>
                  </a:lnTo>
                  <a:close/>
                </a:path>
                <a:path w="1707514" h="965200">
                  <a:moveTo>
                    <a:pt x="1707057" y="531368"/>
                  </a:moveTo>
                  <a:lnTo>
                    <a:pt x="1673809" y="531368"/>
                  </a:lnTo>
                  <a:lnTo>
                    <a:pt x="1672450" y="0"/>
                  </a:lnTo>
                  <a:lnTo>
                    <a:pt x="1662925" y="0"/>
                  </a:lnTo>
                  <a:lnTo>
                    <a:pt x="1664284" y="531368"/>
                  </a:lnTo>
                  <a:lnTo>
                    <a:pt x="1630921" y="531368"/>
                  </a:lnTo>
                  <a:lnTo>
                    <a:pt x="1669275" y="607568"/>
                  </a:lnTo>
                  <a:lnTo>
                    <a:pt x="1700758" y="544068"/>
                  </a:lnTo>
                  <a:lnTo>
                    <a:pt x="1707057" y="531368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0875" y="893826"/>
            <a:ext cx="15843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3200" spc="-10" noProof="0" dirty="0"/>
              <a:t>Neurona</a:t>
            </a:r>
            <a:endParaRPr lang="es-PE" sz="3200" noProof="0" dirty="0"/>
          </a:p>
        </p:txBody>
      </p:sp>
      <p:sp>
        <p:nvSpPr>
          <p:cNvPr id="9" name="object 9"/>
          <p:cNvSpPr txBox="1"/>
          <p:nvPr/>
        </p:nvSpPr>
        <p:spPr>
          <a:xfrm>
            <a:off x="242315" y="3552850"/>
            <a:ext cx="2110105" cy="625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indent="1354455">
              <a:lnSpc>
                <a:spcPct val="140600"/>
              </a:lnSpc>
              <a:spcBef>
                <a:spcPts val="95"/>
              </a:spcBef>
            </a:pPr>
            <a:r>
              <a:rPr lang="es-PE" sz="1400" spc="-20" noProof="0" dirty="0">
                <a:solidFill>
                  <a:srgbClr val="DB4437"/>
                </a:solidFill>
                <a:latin typeface="Roboto"/>
                <a:cs typeface="Roboto"/>
              </a:rPr>
              <a:t>Neurona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Fila</a:t>
            </a:r>
            <a:r>
              <a:rPr lang="es-PE" sz="1400" spc="-5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i</a:t>
            </a:r>
            <a:r>
              <a:rPr lang="es-PE" sz="1400" spc="-5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del</a:t>
            </a:r>
            <a:r>
              <a:rPr lang="es-PE" sz="1400" spc="-7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 err="1">
                <a:solidFill>
                  <a:srgbClr val="DB4437"/>
                </a:solidFill>
                <a:latin typeface="Roboto"/>
                <a:cs typeface="Roboto"/>
              </a:rPr>
              <a:t>dataset</a:t>
            </a:r>
            <a:r>
              <a:rPr lang="es-PE" sz="1400" spc="8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2100" spc="-75" baseline="27777" noProof="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endParaRPr lang="es-PE" sz="2100" baseline="27777" noProof="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88642" y="2122423"/>
            <a:ext cx="76200" cy="516890"/>
          </a:xfrm>
          <a:custGeom>
            <a:avLst/>
            <a:gdLst/>
            <a:ahLst/>
            <a:cxnLst/>
            <a:rect l="l" t="t" r="r" b="b"/>
            <a:pathLst>
              <a:path w="76200" h="516889">
                <a:moveTo>
                  <a:pt x="42914" y="76103"/>
                </a:moveTo>
                <a:lnTo>
                  <a:pt x="33388" y="76294"/>
                </a:lnTo>
                <a:lnTo>
                  <a:pt x="41782" y="516381"/>
                </a:lnTo>
                <a:lnTo>
                  <a:pt x="51310" y="516381"/>
                </a:lnTo>
                <a:lnTo>
                  <a:pt x="42931" y="76962"/>
                </a:lnTo>
                <a:lnTo>
                  <a:pt x="42914" y="76103"/>
                </a:lnTo>
                <a:close/>
              </a:path>
              <a:path w="76200" h="516889">
                <a:moveTo>
                  <a:pt x="36702" y="0"/>
                </a:moveTo>
                <a:lnTo>
                  <a:pt x="0" y="76962"/>
                </a:lnTo>
                <a:lnTo>
                  <a:pt x="33388" y="76294"/>
                </a:lnTo>
                <a:lnTo>
                  <a:pt x="33146" y="63626"/>
                </a:lnTo>
                <a:lnTo>
                  <a:pt x="42671" y="63373"/>
                </a:lnTo>
                <a:lnTo>
                  <a:pt x="69883" y="63373"/>
                </a:lnTo>
                <a:lnTo>
                  <a:pt x="36702" y="0"/>
                </a:lnTo>
                <a:close/>
              </a:path>
              <a:path w="76200" h="516889">
                <a:moveTo>
                  <a:pt x="42671" y="63373"/>
                </a:moveTo>
                <a:lnTo>
                  <a:pt x="33146" y="63626"/>
                </a:lnTo>
                <a:lnTo>
                  <a:pt x="33372" y="75437"/>
                </a:lnTo>
                <a:lnTo>
                  <a:pt x="33388" y="76294"/>
                </a:lnTo>
                <a:lnTo>
                  <a:pt x="42914" y="76103"/>
                </a:lnTo>
                <a:lnTo>
                  <a:pt x="42676" y="63626"/>
                </a:lnTo>
                <a:lnTo>
                  <a:pt x="42671" y="63373"/>
                </a:lnTo>
                <a:close/>
              </a:path>
              <a:path w="76200" h="516889">
                <a:moveTo>
                  <a:pt x="69883" y="63373"/>
                </a:moveTo>
                <a:lnTo>
                  <a:pt x="42671" y="63373"/>
                </a:lnTo>
                <a:lnTo>
                  <a:pt x="42902" y="75437"/>
                </a:lnTo>
                <a:lnTo>
                  <a:pt x="42914" y="76103"/>
                </a:lnTo>
                <a:lnTo>
                  <a:pt x="76200" y="75437"/>
                </a:lnTo>
                <a:lnTo>
                  <a:pt x="69883" y="63373"/>
                </a:lnTo>
                <a:close/>
              </a:path>
            </a:pathLst>
          </a:custGeom>
          <a:solidFill>
            <a:srgbClr val="DB4437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1837182" y="1853895"/>
            <a:ext cx="6000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spc="-10" noProof="0" dirty="0" err="1">
                <a:solidFill>
                  <a:srgbClr val="DB4437"/>
                </a:solidFill>
                <a:latin typeface="Roboto"/>
                <a:cs typeface="Roboto"/>
              </a:rPr>
              <a:t>Layer</a:t>
            </a:r>
            <a:r>
              <a:rPr lang="es-PE" sz="1400" spc="-7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50" noProof="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19555" y="2340864"/>
            <a:ext cx="1569085" cy="963294"/>
          </a:xfrm>
          <a:custGeom>
            <a:avLst/>
            <a:gdLst/>
            <a:ahLst/>
            <a:cxnLst/>
            <a:rect l="l" t="t" r="r" b="b"/>
            <a:pathLst>
              <a:path w="1569085" h="963295">
                <a:moveTo>
                  <a:pt x="0" y="481711"/>
                </a:moveTo>
                <a:lnTo>
                  <a:pt x="8507" y="410522"/>
                </a:lnTo>
                <a:lnTo>
                  <a:pt x="33218" y="342577"/>
                </a:lnTo>
                <a:lnTo>
                  <a:pt x="72920" y="278623"/>
                </a:lnTo>
                <a:lnTo>
                  <a:pt x="98014" y="248375"/>
                </a:lnTo>
                <a:lnTo>
                  <a:pt x="126399" y="219403"/>
                </a:lnTo>
                <a:lnTo>
                  <a:pt x="157924" y="191802"/>
                </a:lnTo>
                <a:lnTo>
                  <a:pt x="192439" y="165663"/>
                </a:lnTo>
                <a:lnTo>
                  <a:pt x="229790" y="141081"/>
                </a:lnTo>
                <a:lnTo>
                  <a:pt x="269827" y="118147"/>
                </a:lnTo>
                <a:lnTo>
                  <a:pt x="312396" y="96956"/>
                </a:lnTo>
                <a:lnTo>
                  <a:pt x="357347" y="77600"/>
                </a:lnTo>
                <a:lnTo>
                  <a:pt x="404528" y="60173"/>
                </a:lnTo>
                <a:lnTo>
                  <a:pt x="453787" y="44767"/>
                </a:lnTo>
                <a:lnTo>
                  <a:pt x="504973" y="31476"/>
                </a:lnTo>
                <a:lnTo>
                  <a:pt x="557932" y="20393"/>
                </a:lnTo>
                <a:lnTo>
                  <a:pt x="612514" y="11610"/>
                </a:lnTo>
                <a:lnTo>
                  <a:pt x="668567" y="5222"/>
                </a:lnTo>
                <a:lnTo>
                  <a:pt x="725939" y="1321"/>
                </a:lnTo>
                <a:lnTo>
                  <a:pt x="784478" y="0"/>
                </a:lnTo>
                <a:lnTo>
                  <a:pt x="843034" y="1321"/>
                </a:lnTo>
                <a:lnTo>
                  <a:pt x="900418" y="5222"/>
                </a:lnTo>
                <a:lnTo>
                  <a:pt x="956482" y="11610"/>
                </a:lnTo>
                <a:lnTo>
                  <a:pt x="1011071" y="20393"/>
                </a:lnTo>
                <a:lnTo>
                  <a:pt x="1064036" y="31476"/>
                </a:lnTo>
                <a:lnTo>
                  <a:pt x="1115225" y="44767"/>
                </a:lnTo>
                <a:lnTo>
                  <a:pt x="1164485" y="60173"/>
                </a:lnTo>
                <a:lnTo>
                  <a:pt x="1211666" y="77600"/>
                </a:lnTo>
                <a:lnTo>
                  <a:pt x="1256615" y="96956"/>
                </a:lnTo>
                <a:lnTo>
                  <a:pt x="1299182" y="118147"/>
                </a:lnTo>
                <a:lnTo>
                  <a:pt x="1339215" y="141081"/>
                </a:lnTo>
                <a:lnTo>
                  <a:pt x="1376561" y="165663"/>
                </a:lnTo>
                <a:lnTo>
                  <a:pt x="1411070" y="191802"/>
                </a:lnTo>
                <a:lnTo>
                  <a:pt x="1442590" y="219403"/>
                </a:lnTo>
                <a:lnTo>
                  <a:pt x="1470970" y="248375"/>
                </a:lnTo>
                <a:lnTo>
                  <a:pt x="1496057" y="278623"/>
                </a:lnTo>
                <a:lnTo>
                  <a:pt x="1517701" y="310055"/>
                </a:lnTo>
                <a:lnTo>
                  <a:pt x="1550050" y="376097"/>
                </a:lnTo>
                <a:lnTo>
                  <a:pt x="1566806" y="445757"/>
                </a:lnTo>
                <a:lnTo>
                  <a:pt x="1568958" y="481711"/>
                </a:lnTo>
                <a:lnTo>
                  <a:pt x="1566806" y="517648"/>
                </a:lnTo>
                <a:lnTo>
                  <a:pt x="1550050" y="587278"/>
                </a:lnTo>
                <a:lnTo>
                  <a:pt x="1517701" y="653298"/>
                </a:lnTo>
                <a:lnTo>
                  <a:pt x="1496057" y="684720"/>
                </a:lnTo>
                <a:lnTo>
                  <a:pt x="1470970" y="714959"/>
                </a:lnTo>
                <a:lnTo>
                  <a:pt x="1442590" y="743923"/>
                </a:lnTo>
                <a:lnTo>
                  <a:pt x="1411070" y="771518"/>
                </a:lnTo>
                <a:lnTo>
                  <a:pt x="1376561" y="797651"/>
                </a:lnTo>
                <a:lnTo>
                  <a:pt x="1339215" y="822229"/>
                </a:lnTo>
                <a:lnTo>
                  <a:pt x="1299182" y="845159"/>
                </a:lnTo>
                <a:lnTo>
                  <a:pt x="1256615" y="866347"/>
                </a:lnTo>
                <a:lnTo>
                  <a:pt x="1211666" y="885700"/>
                </a:lnTo>
                <a:lnTo>
                  <a:pt x="1164485" y="903125"/>
                </a:lnTo>
                <a:lnTo>
                  <a:pt x="1115225" y="918529"/>
                </a:lnTo>
                <a:lnTo>
                  <a:pt x="1064036" y="931819"/>
                </a:lnTo>
                <a:lnTo>
                  <a:pt x="1011071" y="942902"/>
                </a:lnTo>
                <a:lnTo>
                  <a:pt x="956482" y="951684"/>
                </a:lnTo>
                <a:lnTo>
                  <a:pt x="900418" y="958072"/>
                </a:lnTo>
                <a:lnTo>
                  <a:pt x="843034" y="961973"/>
                </a:lnTo>
                <a:lnTo>
                  <a:pt x="784478" y="963294"/>
                </a:lnTo>
                <a:lnTo>
                  <a:pt x="725939" y="961973"/>
                </a:lnTo>
                <a:lnTo>
                  <a:pt x="668567" y="958072"/>
                </a:lnTo>
                <a:lnTo>
                  <a:pt x="612514" y="951684"/>
                </a:lnTo>
                <a:lnTo>
                  <a:pt x="557932" y="942902"/>
                </a:lnTo>
                <a:lnTo>
                  <a:pt x="504973" y="931819"/>
                </a:lnTo>
                <a:lnTo>
                  <a:pt x="453787" y="918529"/>
                </a:lnTo>
                <a:lnTo>
                  <a:pt x="404528" y="903125"/>
                </a:lnTo>
                <a:lnTo>
                  <a:pt x="357347" y="885700"/>
                </a:lnTo>
                <a:lnTo>
                  <a:pt x="312396" y="866347"/>
                </a:lnTo>
                <a:lnTo>
                  <a:pt x="269827" y="845159"/>
                </a:lnTo>
                <a:lnTo>
                  <a:pt x="229790" y="822229"/>
                </a:lnTo>
                <a:lnTo>
                  <a:pt x="192439" y="797651"/>
                </a:lnTo>
                <a:lnTo>
                  <a:pt x="157924" y="771518"/>
                </a:lnTo>
                <a:lnTo>
                  <a:pt x="126399" y="743923"/>
                </a:lnTo>
                <a:lnTo>
                  <a:pt x="98014" y="714959"/>
                </a:lnTo>
                <a:lnTo>
                  <a:pt x="72920" y="684720"/>
                </a:lnTo>
                <a:lnTo>
                  <a:pt x="51272" y="653298"/>
                </a:lnTo>
                <a:lnTo>
                  <a:pt x="18913" y="587278"/>
                </a:lnTo>
                <a:lnTo>
                  <a:pt x="2152" y="517648"/>
                </a:lnTo>
                <a:lnTo>
                  <a:pt x="0" y="48171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3" name="object 13"/>
          <p:cNvSpPr txBox="1"/>
          <p:nvPr/>
        </p:nvSpPr>
        <p:spPr>
          <a:xfrm>
            <a:off x="1790192" y="2644521"/>
            <a:ext cx="1017905" cy="33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>
              <a:lnSpc>
                <a:spcPts val="1220"/>
              </a:lnSpc>
              <a:spcBef>
                <a:spcPts val="100"/>
              </a:spcBef>
              <a:tabLst>
                <a:tab pos="597535" algn="l"/>
              </a:tabLst>
            </a:pPr>
            <a:r>
              <a:rPr lang="es-PE" sz="900" spc="-25" noProof="0" dirty="0">
                <a:latin typeface="Arial MT"/>
                <a:cs typeface="Arial MT"/>
              </a:rPr>
              <a:t>(1)</a:t>
            </a:r>
            <a:r>
              <a:rPr lang="es-PE" sz="900" noProof="0" dirty="0">
                <a:latin typeface="Arial MT"/>
                <a:cs typeface="Arial MT"/>
              </a:rPr>
              <a:t>	</a:t>
            </a:r>
            <a:r>
              <a:rPr lang="es-PE" sz="2100" baseline="-15873" noProof="0" dirty="0">
                <a:latin typeface="Arial MT"/>
                <a:cs typeface="Arial MT"/>
              </a:rPr>
              <a:t>a</a:t>
            </a:r>
            <a:r>
              <a:rPr lang="es-PE" sz="2100" spc="150" baseline="-15873" noProof="0" dirty="0">
                <a:latin typeface="Arial MT"/>
                <a:cs typeface="Arial MT"/>
              </a:rPr>
              <a:t>  </a:t>
            </a:r>
            <a:r>
              <a:rPr lang="es-PE" sz="900" spc="-25" noProof="0" dirty="0">
                <a:latin typeface="Arial MT"/>
                <a:cs typeface="Arial MT"/>
              </a:rPr>
              <a:t>(1)</a:t>
            </a:r>
            <a:endParaRPr lang="es-PE" sz="900" noProof="0" dirty="0">
              <a:latin typeface="Arial MT"/>
              <a:cs typeface="Arial MT"/>
            </a:endParaRPr>
          </a:p>
          <a:p>
            <a:pPr marL="50800">
              <a:lnSpc>
                <a:spcPts val="1220"/>
              </a:lnSpc>
              <a:tabLst>
                <a:tab pos="696595" algn="l"/>
              </a:tabLst>
            </a:pPr>
            <a:r>
              <a:rPr lang="es-PE" sz="2100" spc="-30" baseline="13888" noProof="0" dirty="0">
                <a:latin typeface="Arial MT"/>
                <a:cs typeface="Arial MT"/>
              </a:rPr>
              <a:t>Z</a:t>
            </a:r>
            <a:r>
              <a:rPr lang="es-PE" sz="900" spc="-20" noProof="0" dirty="0">
                <a:latin typeface="Arial MT"/>
                <a:cs typeface="Arial MT"/>
              </a:rPr>
              <a:t>i,1</a:t>
            </a:r>
            <a:r>
              <a:rPr lang="es-PE" sz="900" noProof="0" dirty="0">
                <a:latin typeface="Arial MT"/>
                <a:cs typeface="Arial MT"/>
              </a:rPr>
              <a:t>	</a:t>
            </a:r>
            <a:r>
              <a:rPr lang="es-PE" sz="900" spc="-25" noProof="0" dirty="0">
                <a:latin typeface="Arial MT"/>
                <a:cs typeface="Arial MT"/>
              </a:rPr>
              <a:t>i,1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04033" y="2340864"/>
            <a:ext cx="0" cy="963294"/>
          </a:xfrm>
          <a:custGeom>
            <a:avLst/>
            <a:gdLst/>
            <a:ahLst/>
            <a:cxnLst/>
            <a:rect l="l" t="t" r="r" b="b"/>
            <a:pathLst>
              <a:path h="963295">
                <a:moveTo>
                  <a:pt x="0" y="0"/>
                </a:moveTo>
                <a:lnTo>
                  <a:pt x="0" y="963294"/>
                </a:lnTo>
              </a:path>
            </a:pathLst>
          </a:custGeom>
          <a:ln w="19050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5" name="object 15"/>
          <p:cNvSpPr txBox="1"/>
          <p:nvPr/>
        </p:nvSpPr>
        <p:spPr>
          <a:xfrm>
            <a:off x="182879" y="2189860"/>
            <a:ext cx="36131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1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lang="es-PE" sz="1000" spc="-50" noProof="0" dirty="0">
                <a:latin typeface="Roboto"/>
                <a:cs typeface="Roboto"/>
              </a:rPr>
              <a:t>…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lang="es-PE" sz="2250" spc="-30" baseline="12962" noProof="0" dirty="0" err="1">
                <a:latin typeface="Roboto"/>
                <a:cs typeface="Roboto"/>
              </a:rPr>
              <a:t>X</a:t>
            </a:r>
            <a:r>
              <a:rPr lang="es-PE" sz="1000" spc="-20" noProof="0" dirty="0" err="1">
                <a:latin typeface="Roboto"/>
                <a:cs typeface="Roboto"/>
              </a:rPr>
              <a:t>i,m</a:t>
            </a:r>
            <a:endParaRPr lang="es-PE" sz="1000" noProof="0" dirty="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5099" y="2395982"/>
            <a:ext cx="7951470" cy="1446530"/>
            <a:chOff x="465099" y="2395982"/>
            <a:chExt cx="7951470" cy="1446530"/>
          </a:xfrm>
        </p:grpSpPr>
        <p:sp>
          <p:nvSpPr>
            <p:cNvPr id="17" name="object 17"/>
            <p:cNvSpPr/>
            <p:nvPr/>
          </p:nvSpPr>
          <p:spPr>
            <a:xfrm>
              <a:off x="465099" y="2395981"/>
              <a:ext cx="3457575" cy="932180"/>
            </a:xfrm>
            <a:custGeom>
              <a:avLst/>
              <a:gdLst/>
              <a:ahLst/>
              <a:cxnLst/>
              <a:rect l="l" t="t" r="r" b="b"/>
              <a:pathLst>
                <a:path w="3457575" h="932179">
                  <a:moveTo>
                    <a:pt x="1054455" y="426593"/>
                  </a:moveTo>
                  <a:lnTo>
                    <a:pt x="1037336" y="407289"/>
                  </a:lnTo>
                  <a:lnTo>
                    <a:pt x="997940" y="362839"/>
                  </a:lnTo>
                  <a:lnTo>
                    <a:pt x="987882" y="387921"/>
                  </a:lnTo>
                  <a:lnTo>
                    <a:pt x="980795" y="383794"/>
                  </a:lnTo>
                  <a:lnTo>
                    <a:pt x="980300" y="391718"/>
                  </a:lnTo>
                  <a:lnTo>
                    <a:pt x="3543" y="0"/>
                  </a:lnTo>
                  <a:lnTo>
                    <a:pt x="0" y="8890"/>
                  </a:lnTo>
                  <a:lnTo>
                    <a:pt x="979678" y="401662"/>
                  </a:lnTo>
                  <a:lnTo>
                    <a:pt x="979182" y="409651"/>
                  </a:lnTo>
                  <a:lnTo>
                    <a:pt x="976223" y="417042"/>
                  </a:lnTo>
                  <a:lnTo>
                    <a:pt x="2070" y="357251"/>
                  </a:lnTo>
                  <a:lnTo>
                    <a:pt x="1473" y="366776"/>
                  </a:lnTo>
                  <a:lnTo>
                    <a:pt x="969645" y="426072"/>
                  </a:lnTo>
                  <a:lnTo>
                    <a:pt x="971270" y="429437"/>
                  </a:lnTo>
                  <a:lnTo>
                    <a:pt x="969619" y="433578"/>
                  </a:lnTo>
                  <a:lnTo>
                    <a:pt x="973124" y="433298"/>
                  </a:lnTo>
                  <a:lnTo>
                    <a:pt x="977201" y="441782"/>
                  </a:lnTo>
                  <a:lnTo>
                    <a:pt x="976147" y="458851"/>
                  </a:lnTo>
                  <a:lnTo>
                    <a:pt x="9906" y="923544"/>
                  </a:lnTo>
                  <a:lnTo>
                    <a:pt x="14033" y="932180"/>
                  </a:lnTo>
                  <a:lnTo>
                    <a:pt x="987818" y="463880"/>
                  </a:lnTo>
                  <a:lnTo>
                    <a:pt x="1002258" y="493903"/>
                  </a:lnTo>
                  <a:lnTo>
                    <a:pt x="1036523" y="449707"/>
                  </a:lnTo>
                  <a:lnTo>
                    <a:pt x="1054455" y="426593"/>
                  </a:lnTo>
                  <a:close/>
                </a:path>
                <a:path w="3457575" h="932179">
                  <a:moveTo>
                    <a:pt x="3457422" y="419100"/>
                  </a:moveTo>
                  <a:lnTo>
                    <a:pt x="3449739" y="415417"/>
                  </a:lnTo>
                  <a:lnTo>
                    <a:pt x="3380587" y="382270"/>
                  </a:lnTo>
                  <a:lnTo>
                    <a:pt x="3381184" y="415417"/>
                  </a:lnTo>
                  <a:lnTo>
                    <a:pt x="3381197" y="415645"/>
                  </a:lnTo>
                  <a:lnTo>
                    <a:pt x="2623413" y="429260"/>
                  </a:lnTo>
                  <a:lnTo>
                    <a:pt x="2623540" y="438785"/>
                  </a:lnTo>
                  <a:lnTo>
                    <a:pt x="3381362" y="425170"/>
                  </a:lnTo>
                  <a:lnTo>
                    <a:pt x="3381984" y="458470"/>
                  </a:lnTo>
                  <a:lnTo>
                    <a:pt x="3457422" y="4191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5805" y="2638717"/>
              <a:ext cx="4380484" cy="67572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69079" y="3235071"/>
              <a:ext cx="76200" cy="607695"/>
            </a:xfrm>
            <a:custGeom>
              <a:avLst/>
              <a:gdLst/>
              <a:ahLst/>
              <a:cxnLst/>
              <a:rect l="l" t="t" r="r" b="b"/>
              <a:pathLst>
                <a:path w="76200" h="607695">
                  <a:moveTo>
                    <a:pt x="33371" y="531368"/>
                  </a:moveTo>
                  <a:lnTo>
                    <a:pt x="0" y="531368"/>
                  </a:lnTo>
                  <a:lnTo>
                    <a:pt x="38354" y="607441"/>
                  </a:lnTo>
                  <a:lnTo>
                    <a:pt x="69839" y="543941"/>
                  </a:lnTo>
                  <a:lnTo>
                    <a:pt x="33400" y="543941"/>
                  </a:lnTo>
                  <a:lnTo>
                    <a:pt x="33371" y="531368"/>
                  </a:lnTo>
                  <a:close/>
                </a:path>
                <a:path w="76200" h="607695">
                  <a:moveTo>
                    <a:pt x="41656" y="0"/>
                  </a:moveTo>
                  <a:lnTo>
                    <a:pt x="32131" y="0"/>
                  </a:lnTo>
                  <a:lnTo>
                    <a:pt x="33371" y="531368"/>
                  </a:lnTo>
                  <a:lnTo>
                    <a:pt x="33400" y="543941"/>
                  </a:lnTo>
                  <a:lnTo>
                    <a:pt x="42925" y="543941"/>
                  </a:lnTo>
                  <a:lnTo>
                    <a:pt x="41656" y="0"/>
                  </a:lnTo>
                  <a:close/>
                </a:path>
                <a:path w="76200" h="607695">
                  <a:moveTo>
                    <a:pt x="76074" y="531368"/>
                  </a:moveTo>
                  <a:lnTo>
                    <a:pt x="42896" y="531368"/>
                  </a:lnTo>
                  <a:lnTo>
                    <a:pt x="42925" y="543941"/>
                  </a:lnTo>
                  <a:lnTo>
                    <a:pt x="69839" y="543941"/>
                  </a:lnTo>
                  <a:lnTo>
                    <a:pt x="76074" y="531368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83634" y="3858869"/>
            <a:ext cx="17945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Función</a:t>
            </a:r>
            <a:r>
              <a:rPr lang="es-PE" sz="1400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de</a:t>
            </a:r>
            <a:r>
              <a:rPr lang="es-PE" sz="1400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activación: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23842" y="4072839"/>
            <a:ext cx="10128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Char char="-"/>
              <a:tabLst>
                <a:tab pos="329565" algn="l"/>
              </a:tabLst>
            </a:pPr>
            <a:r>
              <a:rPr lang="es-PE" sz="1400" spc="-10" noProof="0" dirty="0" err="1">
                <a:solidFill>
                  <a:srgbClr val="DB4437"/>
                </a:solidFill>
                <a:latin typeface="Roboto"/>
                <a:cs typeface="Roboto"/>
              </a:rPr>
              <a:t>Sigmoid</a:t>
            </a:r>
            <a:endParaRPr lang="es-PE" sz="1400" noProof="0" dirty="0">
              <a:latin typeface="Roboto"/>
              <a:cs typeface="Roboto"/>
            </a:endParaRPr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z="1400" spc="-20" noProof="0" dirty="0" err="1">
                <a:solidFill>
                  <a:srgbClr val="DB4437"/>
                </a:solidFill>
                <a:latin typeface="Roboto"/>
                <a:cs typeface="Roboto"/>
              </a:rPr>
              <a:t>ReLU</a:t>
            </a:r>
            <a:endParaRPr lang="es-PE" sz="1400" noProof="0" dirty="0">
              <a:latin typeface="Roboto"/>
              <a:cs typeface="Roboto"/>
            </a:endParaRPr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z="1400" spc="-20" noProof="0" dirty="0" err="1">
                <a:solidFill>
                  <a:srgbClr val="DB4437"/>
                </a:solidFill>
                <a:latin typeface="Roboto"/>
                <a:cs typeface="Roboto"/>
              </a:rPr>
              <a:t>Tanh</a:t>
            </a:r>
            <a:endParaRPr lang="es-PE" sz="1400" noProof="0" dirty="0">
              <a:latin typeface="Roboto"/>
              <a:cs typeface="Roboto"/>
            </a:endParaRPr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Softmax</a:t>
            </a:r>
            <a:endParaRPr lang="es-PE" sz="1400" noProof="0" dirty="0">
              <a:latin typeface="Roboto"/>
              <a:cs typeface="Roboto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13A44C76-FDFA-D06A-931D-8BC013F2BFC2}"/>
              </a:ext>
            </a:extLst>
          </p:cNvPr>
          <p:cNvSpPr/>
          <p:nvPr/>
        </p:nvSpPr>
        <p:spPr>
          <a:xfrm>
            <a:off x="149859" y="2547327"/>
            <a:ext cx="361315" cy="356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B9B8922-ADD1-4CE8-10EB-DD9A639784C7}"/>
              </a:ext>
            </a:extLst>
          </p:cNvPr>
          <p:cNvSpPr/>
          <p:nvPr/>
        </p:nvSpPr>
        <p:spPr>
          <a:xfrm>
            <a:off x="149858" y="2189733"/>
            <a:ext cx="361315" cy="356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E50D0F9-243D-88B5-7C9D-E47F771D5215}"/>
              </a:ext>
            </a:extLst>
          </p:cNvPr>
          <p:cNvSpPr/>
          <p:nvPr/>
        </p:nvSpPr>
        <p:spPr>
          <a:xfrm>
            <a:off x="176935" y="3141157"/>
            <a:ext cx="361315" cy="356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 err="1"/>
              <a:t>Layer</a:t>
            </a:r>
            <a:r>
              <a:rPr lang="es-PE" spc="-35" noProof="0" dirty="0"/>
              <a:t> </a:t>
            </a:r>
            <a:r>
              <a:rPr lang="es-PE" noProof="0" dirty="0"/>
              <a:t>Lineal</a:t>
            </a:r>
            <a:r>
              <a:rPr lang="es-PE" spc="-20" noProof="0" dirty="0"/>
              <a:t> </a:t>
            </a:r>
            <a:r>
              <a:rPr lang="es-PE" noProof="0" dirty="0"/>
              <a:t>con</a:t>
            </a:r>
            <a:r>
              <a:rPr lang="es-PE" spc="-20" noProof="0" dirty="0"/>
              <a:t> </a:t>
            </a:r>
            <a:r>
              <a:rPr lang="es-PE" noProof="0" dirty="0"/>
              <a:t>función</a:t>
            </a:r>
            <a:r>
              <a:rPr lang="es-PE" spc="-10" noProof="0" dirty="0"/>
              <a:t> </a:t>
            </a:r>
            <a:r>
              <a:rPr lang="es-PE" noProof="0" dirty="0"/>
              <a:t>de</a:t>
            </a:r>
            <a:r>
              <a:rPr lang="es-PE" spc="-40" noProof="0" dirty="0"/>
              <a:t> </a:t>
            </a:r>
            <a:r>
              <a:rPr lang="es-PE" spc="-10" noProof="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96047" y="657161"/>
            <a:ext cx="1448435" cy="2501265"/>
            <a:chOff x="1396047" y="657161"/>
            <a:chExt cx="1448435" cy="2501265"/>
          </a:xfrm>
        </p:grpSpPr>
        <p:sp>
          <p:nvSpPr>
            <p:cNvPr id="5" name="object 5"/>
            <p:cNvSpPr/>
            <p:nvPr/>
          </p:nvSpPr>
          <p:spPr>
            <a:xfrm>
              <a:off x="1410335" y="671448"/>
              <a:ext cx="1419860" cy="2472690"/>
            </a:xfrm>
            <a:custGeom>
              <a:avLst/>
              <a:gdLst/>
              <a:ahLst/>
              <a:cxnLst/>
              <a:rect l="l" t="t" r="r" b="b"/>
              <a:pathLst>
                <a:path w="1419860" h="2472690">
                  <a:moveTo>
                    <a:pt x="0" y="2472563"/>
                  </a:moveTo>
                  <a:lnTo>
                    <a:pt x="1419860" y="2472563"/>
                  </a:lnTo>
                  <a:lnTo>
                    <a:pt x="1419860" y="0"/>
                  </a:lnTo>
                  <a:lnTo>
                    <a:pt x="0" y="0"/>
                  </a:lnTo>
                  <a:lnTo>
                    <a:pt x="0" y="2472563"/>
                  </a:lnTo>
                  <a:close/>
                </a:path>
              </a:pathLst>
            </a:custGeom>
            <a:ln w="28575">
              <a:solidFill>
                <a:srgbClr val="0E9D57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519555" y="792479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40">
                  <a:moveTo>
                    <a:pt x="0" y="337693"/>
                  </a:moveTo>
                  <a:lnTo>
                    <a:pt x="12107" y="269618"/>
                  </a:lnTo>
                  <a:lnTo>
                    <a:pt x="46831" y="206222"/>
                  </a:lnTo>
                  <a:lnTo>
                    <a:pt x="71924" y="176701"/>
                  </a:lnTo>
                  <a:lnTo>
                    <a:pt x="101771" y="148859"/>
                  </a:lnTo>
                  <a:lnTo>
                    <a:pt x="136073" y="122863"/>
                  </a:lnTo>
                  <a:lnTo>
                    <a:pt x="174529" y="98885"/>
                  </a:lnTo>
                  <a:lnTo>
                    <a:pt x="216840" y="77093"/>
                  </a:lnTo>
                  <a:lnTo>
                    <a:pt x="262706" y="57656"/>
                  </a:lnTo>
                  <a:lnTo>
                    <a:pt x="311827" y="40745"/>
                  </a:lnTo>
                  <a:lnTo>
                    <a:pt x="363902" y="26529"/>
                  </a:lnTo>
                  <a:lnTo>
                    <a:pt x="418633" y="15176"/>
                  </a:lnTo>
                  <a:lnTo>
                    <a:pt x="475719" y="6858"/>
                  </a:lnTo>
                  <a:lnTo>
                    <a:pt x="534860" y="1742"/>
                  </a:lnTo>
                  <a:lnTo>
                    <a:pt x="595757" y="0"/>
                  </a:lnTo>
                  <a:lnTo>
                    <a:pt x="656675" y="1742"/>
                  </a:lnTo>
                  <a:lnTo>
                    <a:pt x="715836" y="6858"/>
                  </a:lnTo>
                  <a:lnTo>
                    <a:pt x="772939" y="15176"/>
                  </a:lnTo>
                  <a:lnTo>
                    <a:pt x="827684" y="26529"/>
                  </a:lnTo>
                  <a:lnTo>
                    <a:pt x="879772" y="40745"/>
                  </a:lnTo>
                  <a:lnTo>
                    <a:pt x="928903" y="57656"/>
                  </a:lnTo>
                  <a:lnTo>
                    <a:pt x="974777" y="77093"/>
                  </a:lnTo>
                  <a:lnTo>
                    <a:pt x="1017095" y="98885"/>
                  </a:lnTo>
                  <a:lnTo>
                    <a:pt x="1055556" y="122863"/>
                  </a:lnTo>
                  <a:lnTo>
                    <a:pt x="1089862" y="148859"/>
                  </a:lnTo>
                  <a:lnTo>
                    <a:pt x="1119712" y="176701"/>
                  </a:lnTo>
                  <a:lnTo>
                    <a:pt x="1144807" y="206222"/>
                  </a:lnTo>
                  <a:lnTo>
                    <a:pt x="1179533" y="269618"/>
                  </a:lnTo>
                  <a:lnTo>
                    <a:pt x="1191640" y="337693"/>
                  </a:lnTo>
                  <a:lnTo>
                    <a:pt x="1188564" y="372231"/>
                  </a:lnTo>
                  <a:lnTo>
                    <a:pt x="1164847" y="438146"/>
                  </a:lnTo>
                  <a:lnTo>
                    <a:pt x="1119712" y="498713"/>
                  </a:lnTo>
                  <a:lnTo>
                    <a:pt x="1089862" y="526567"/>
                  </a:lnTo>
                  <a:lnTo>
                    <a:pt x="1055556" y="552573"/>
                  </a:lnTo>
                  <a:lnTo>
                    <a:pt x="1017095" y="576564"/>
                  </a:lnTo>
                  <a:lnTo>
                    <a:pt x="974777" y="598368"/>
                  </a:lnTo>
                  <a:lnTo>
                    <a:pt x="928903" y="617816"/>
                  </a:lnTo>
                  <a:lnTo>
                    <a:pt x="879772" y="634737"/>
                  </a:lnTo>
                  <a:lnTo>
                    <a:pt x="827684" y="648964"/>
                  </a:lnTo>
                  <a:lnTo>
                    <a:pt x="772939" y="660324"/>
                  </a:lnTo>
                  <a:lnTo>
                    <a:pt x="715836" y="668649"/>
                  </a:lnTo>
                  <a:lnTo>
                    <a:pt x="656675" y="673768"/>
                  </a:lnTo>
                  <a:lnTo>
                    <a:pt x="595757" y="675513"/>
                  </a:lnTo>
                  <a:lnTo>
                    <a:pt x="534860" y="673768"/>
                  </a:lnTo>
                  <a:lnTo>
                    <a:pt x="475719" y="668649"/>
                  </a:lnTo>
                  <a:lnTo>
                    <a:pt x="418633" y="660324"/>
                  </a:lnTo>
                  <a:lnTo>
                    <a:pt x="363902" y="648964"/>
                  </a:lnTo>
                  <a:lnTo>
                    <a:pt x="311827" y="634737"/>
                  </a:lnTo>
                  <a:lnTo>
                    <a:pt x="262706" y="617816"/>
                  </a:lnTo>
                  <a:lnTo>
                    <a:pt x="216840" y="598368"/>
                  </a:lnTo>
                  <a:lnTo>
                    <a:pt x="174529" y="576564"/>
                  </a:lnTo>
                  <a:lnTo>
                    <a:pt x="136073" y="552573"/>
                  </a:lnTo>
                  <a:lnTo>
                    <a:pt x="101771" y="526567"/>
                  </a:lnTo>
                  <a:lnTo>
                    <a:pt x="71924" y="498713"/>
                  </a:lnTo>
                  <a:lnTo>
                    <a:pt x="46831" y="469183"/>
                  </a:lnTo>
                  <a:lnTo>
                    <a:pt x="12107" y="405772"/>
                  </a:lnTo>
                  <a:lnTo>
                    <a:pt x="0" y="33769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7773" y="986789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i,1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i,1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05267" y="782955"/>
            <a:ext cx="1220470" cy="1479550"/>
            <a:chOff x="1505267" y="782955"/>
            <a:chExt cx="1220470" cy="1479550"/>
          </a:xfrm>
        </p:grpSpPr>
        <p:sp>
          <p:nvSpPr>
            <p:cNvPr id="9" name="object 9"/>
            <p:cNvSpPr/>
            <p:nvPr/>
          </p:nvSpPr>
          <p:spPr>
            <a:xfrm>
              <a:off x="2115312" y="792480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40">
                  <a:moveTo>
                    <a:pt x="0" y="0"/>
                  </a:moveTo>
                  <a:lnTo>
                    <a:pt x="126" y="675513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19555" y="1572006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39">
                  <a:moveTo>
                    <a:pt x="0" y="337820"/>
                  </a:moveTo>
                  <a:lnTo>
                    <a:pt x="12107" y="269740"/>
                  </a:lnTo>
                  <a:lnTo>
                    <a:pt x="46831" y="206329"/>
                  </a:lnTo>
                  <a:lnTo>
                    <a:pt x="71924" y="176799"/>
                  </a:lnTo>
                  <a:lnTo>
                    <a:pt x="101771" y="148945"/>
                  </a:lnTo>
                  <a:lnTo>
                    <a:pt x="136073" y="122939"/>
                  </a:lnTo>
                  <a:lnTo>
                    <a:pt x="174529" y="98948"/>
                  </a:lnTo>
                  <a:lnTo>
                    <a:pt x="216840" y="77144"/>
                  </a:lnTo>
                  <a:lnTo>
                    <a:pt x="262706" y="57696"/>
                  </a:lnTo>
                  <a:lnTo>
                    <a:pt x="311827" y="40775"/>
                  </a:lnTo>
                  <a:lnTo>
                    <a:pt x="363902" y="26548"/>
                  </a:lnTo>
                  <a:lnTo>
                    <a:pt x="418633" y="15188"/>
                  </a:lnTo>
                  <a:lnTo>
                    <a:pt x="475719" y="6863"/>
                  </a:lnTo>
                  <a:lnTo>
                    <a:pt x="534860" y="1744"/>
                  </a:lnTo>
                  <a:lnTo>
                    <a:pt x="595757" y="0"/>
                  </a:lnTo>
                  <a:lnTo>
                    <a:pt x="656675" y="1744"/>
                  </a:lnTo>
                  <a:lnTo>
                    <a:pt x="715836" y="6863"/>
                  </a:lnTo>
                  <a:lnTo>
                    <a:pt x="772939" y="15188"/>
                  </a:lnTo>
                  <a:lnTo>
                    <a:pt x="827684" y="26548"/>
                  </a:lnTo>
                  <a:lnTo>
                    <a:pt x="879772" y="40775"/>
                  </a:lnTo>
                  <a:lnTo>
                    <a:pt x="928903" y="57696"/>
                  </a:lnTo>
                  <a:lnTo>
                    <a:pt x="974777" y="77144"/>
                  </a:lnTo>
                  <a:lnTo>
                    <a:pt x="1017095" y="98948"/>
                  </a:lnTo>
                  <a:lnTo>
                    <a:pt x="1055556" y="122939"/>
                  </a:lnTo>
                  <a:lnTo>
                    <a:pt x="1089862" y="148945"/>
                  </a:lnTo>
                  <a:lnTo>
                    <a:pt x="1119712" y="176799"/>
                  </a:lnTo>
                  <a:lnTo>
                    <a:pt x="1144807" y="206329"/>
                  </a:lnTo>
                  <a:lnTo>
                    <a:pt x="1179533" y="269740"/>
                  </a:lnTo>
                  <a:lnTo>
                    <a:pt x="1191640" y="337820"/>
                  </a:lnTo>
                  <a:lnTo>
                    <a:pt x="1188564" y="372358"/>
                  </a:lnTo>
                  <a:lnTo>
                    <a:pt x="1164847" y="438273"/>
                  </a:lnTo>
                  <a:lnTo>
                    <a:pt x="1119712" y="498840"/>
                  </a:lnTo>
                  <a:lnTo>
                    <a:pt x="1089862" y="526694"/>
                  </a:lnTo>
                  <a:lnTo>
                    <a:pt x="1055556" y="552700"/>
                  </a:lnTo>
                  <a:lnTo>
                    <a:pt x="1017095" y="576691"/>
                  </a:lnTo>
                  <a:lnTo>
                    <a:pt x="974777" y="598495"/>
                  </a:lnTo>
                  <a:lnTo>
                    <a:pt x="928903" y="617943"/>
                  </a:lnTo>
                  <a:lnTo>
                    <a:pt x="879772" y="634864"/>
                  </a:lnTo>
                  <a:lnTo>
                    <a:pt x="827684" y="649091"/>
                  </a:lnTo>
                  <a:lnTo>
                    <a:pt x="772939" y="660451"/>
                  </a:lnTo>
                  <a:lnTo>
                    <a:pt x="715836" y="668776"/>
                  </a:lnTo>
                  <a:lnTo>
                    <a:pt x="656675" y="673895"/>
                  </a:lnTo>
                  <a:lnTo>
                    <a:pt x="595757" y="675640"/>
                  </a:lnTo>
                  <a:lnTo>
                    <a:pt x="534860" y="673895"/>
                  </a:lnTo>
                  <a:lnTo>
                    <a:pt x="475719" y="668776"/>
                  </a:lnTo>
                  <a:lnTo>
                    <a:pt x="418633" y="660451"/>
                  </a:lnTo>
                  <a:lnTo>
                    <a:pt x="363902" y="649091"/>
                  </a:lnTo>
                  <a:lnTo>
                    <a:pt x="311827" y="634864"/>
                  </a:lnTo>
                  <a:lnTo>
                    <a:pt x="262706" y="617943"/>
                  </a:lnTo>
                  <a:lnTo>
                    <a:pt x="216840" y="598495"/>
                  </a:lnTo>
                  <a:lnTo>
                    <a:pt x="174529" y="576691"/>
                  </a:lnTo>
                  <a:lnTo>
                    <a:pt x="136073" y="552700"/>
                  </a:lnTo>
                  <a:lnTo>
                    <a:pt x="101771" y="526694"/>
                  </a:lnTo>
                  <a:lnTo>
                    <a:pt x="71924" y="498840"/>
                  </a:lnTo>
                  <a:lnTo>
                    <a:pt x="46831" y="469310"/>
                  </a:lnTo>
                  <a:lnTo>
                    <a:pt x="12107" y="405899"/>
                  </a:lnTo>
                  <a:lnTo>
                    <a:pt x="0" y="33782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7773" y="1766697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i,2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i,2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05267" y="1562480"/>
            <a:ext cx="1220470" cy="1479550"/>
            <a:chOff x="1505267" y="1562480"/>
            <a:chExt cx="1220470" cy="1479550"/>
          </a:xfrm>
        </p:grpSpPr>
        <p:sp>
          <p:nvSpPr>
            <p:cNvPr id="13" name="object 13"/>
            <p:cNvSpPr/>
            <p:nvPr/>
          </p:nvSpPr>
          <p:spPr>
            <a:xfrm>
              <a:off x="2115312" y="1572005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39">
                  <a:moveTo>
                    <a:pt x="0" y="0"/>
                  </a:moveTo>
                  <a:lnTo>
                    <a:pt x="126" y="675640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519555" y="2351658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39">
                  <a:moveTo>
                    <a:pt x="0" y="337693"/>
                  </a:moveTo>
                  <a:lnTo>
                    <a:pt x="12107" y="269618"/>
                  </a:lnTo>
                  <a:lnTo>
                    <a:pt x="46831" y="206222"/>
                  </a:lnTo>
                  <a:lnTo>
                    <a:pt x="71924" y="176701"/>
                  </a:lnTo>
                  <a:lnTo>
                    <a:pt x="101771" y="148859"/>
                  </a:lnTo>
                  <a:lnTo>
                    <a:pt x="136073" y="122863"/>
                  </a:lnTo>
                  <a:lnTo>
                    <a:pt x="174529" y="98885"/>
                  </a:lnTo>
                  <a:lnTo>
                    <a:pt x="216840" y="77093"/>
                  </a:lnTo>
                  <a:lnTo>
                    <a:pt x="262706" y="57656"/>
                  </a:lnTo>
                  <a:lnTo>
                    <a:pt x="311827" y="40745"/>
                  </a:lnTo>
                  <a:lnTo>
                    <a:pt x="363902" y="26529"/>
                  </a:lnTo>
                  <a:lnTo>
                    <a:pt x="418633" y="15176"/>
                  </a:lnTo>
                  <a:lnTo>
                    <a:pt x="475719" y="6858"/>
                  </a:lnTo>
                  <a:lnTo>
                    <a:pt x="534860" y="1742"/>
                  </a:lnTo>
                  <a:lnTo>
                    <a:pt x="595757" y="0"/>
                  </a:lnTo>
                  <a:lnTo>
                    <a:pt x="656675" y="1742"/>
                  </a:lnTo>
                  <a:lnTo>
                    <a:pt x="715836" y="6858"/>
                  </a:lnTo>
                  <a:lnTo>
                    <a:pt x="772939" y="15176"/>
                  </a:lnTo>
                  <a:lnTo>
                    <a:pt x="827684" y="26529"/>
                  </a:lnTo>
                  <a:lnTo>
                    <a:pt x="879772" y="40745"/>
                  </a:lnTo>
                  <a:lnTo>
                    <a:pt x="928903" y="57656"/>
                  </a:lnTo>
                  <a:lnTo>
                    <a:pt x="974777" y="77093"/>
                  </a:lnTo>
                  <a:lnTo>
                    <a:pt x="1017095" y="98885"/>
                  </a:lnTo>
                  <a:lnTo>
                    <a:pt x="1055556" y="122863"/>
                  </a:lnTo>
                  <a:lnTo>
                    <a:pt x="1089862" y="148859"/>
                  </a:lnTo>
                  <a:lnTo>
                    <a:pt x="1119712" y="176701"/>
                  </a:lnTo>
                  <a:lnTo>
                    <a:pt x="1144807" y="206222"/>
                  </a:lnTo>
                  <a:lnTo>
                    <a:pt x="1179533" y="269618"/>
                  </a:lnTo>
                  <a:lnTo>
                    <a:pt x="1191640" y="337693"/>
                  </a:lnTo>
                  <a:lnTo>
                    <a:pt x="1188564" y="372231"/>
                  </a:lnTo>
                  <a:lnTo>
                    <a:pt x="1164847" y="438146"/>
                  </a:lnTo>
                  <a:lnTo>
                    <a:pt x="1119712" y="498713"/>
                  </a:lnTo>
                  <a:lnTo>
                    <a:pt x="1089862" y="526567"/>
                  </a:lnTo>
                  <a:lnTo>
                    <a:pt x="1055556" y="552573"/>
                  </a:lnTo>
                  <a:lnTo>
                    <a:pt x="1017095" y="576564"/>
                  </a:lnTo>
                  <a:lnTo>
                    <a:pt x="974777" y="598368"/>
                  </a:lnTo>
                  <a:lnTo>
                    <a:pt x="928903" y="617816"/>
                  </a:lnTo>
                  <a:lnTo>
                    <a:pt x="879772" y="634737"/>
                  </a:lnTo>
                  <a:lnTo>
                    <a:pt x="827684" y="648964"/>
                  </a:lnTo>
                  <a:lnTo>
                    <a:pt x="772939" y="660324"/>
                  </a:lnTo>
                  <a:lnTo>
                    <a:pt x="715836" y="668649"/>
                  </a:lnTo>
                  <a:lnTo>
                    <a:pt x="656675" y="673768"/>
                  </a:lnTo>
                  <a:lnTo>
                    <a:pt x="595757" y="675513"/>
                  </a:lnTo>
                  <a:lnTo>
                    <a:pt x="534860" y="673768"/>
                  </a:lnTo>
                  <a:lnTo>
                    <a:pt x="475719" y="668649"/>
                  </a:lnTo>
                  <a:lnTo>
                    <a:pt x="418633" y="660324"/>
                  </a:lnTo>
                  <a:lnTo>
                    <a:pt x="363902" y="648964"/>
                  </a:lnTo>
                  <a:lnTo>
                    <a:pt x="311827" y="634737"/>
                  </a:lnTo>
                  <a:lnTo>
                    <a:pt x="262706" y="617816"/>
                  </a:lnTo>
                  <a:lnTo>
                    <a:pt x="216840" y="598368"/>
                  </a:lnTo>
                  <a:lnTo>
                    <a:pt x="174529" y="576564"/>
                  </a:lnTo>
                  <a:lnTo>
                    <a:pt x="136073" y="552573"/>
                  </a:lnTo>
                  <a:lnTo>
                    <a:pt x="101771" y="526567"/>
                  </a:lnTo>
                  <a:lnTo>
                    <a:pt x="71924" y="498713"/>
                  </a:lnTo>
                  <a:lnTo>
                    <a:pt x="46831" y="469183"/>
                  </a:lnTo>
                  <a:lnTo>
                    <a:pt x="12107" y="405772"/>
                  </a:lnTo>
                  <a:lnTo>
                    <a:pt x="0" y="33769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47773" y="2546350"/>
            <a:ext cx="7321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PE" sz="1650" baseline="-17676" noProof="0" dirty="0" err="1">
                <a:latin typeface="Arial MT"/>
                <a:cs typeface="Arial MT"/>
              </a:rPr>
              <a:t>Z</a:t>
            </a:r>
            <a:r>
              <a:rPr lang="es-PE" sz="1050" baseline="-47619" noProof="0" dirty="0" err="1">
                <a:latin typeface="Arial MT"/>
                <a:cs typeface="Arial MT"/>
              </a:rPr>
              <a:t>i,k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475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 err="1">
                <a:latin typeface="Arial MT"/>
                <a:cs typeface="Arial MT"/>
              </a:rPr>
              <a:t>a</a:t>
            </a:r>
            <a:r>
              <a:rPr lang="es-PE" sz="1050" spc="-15" baseline="-47619" noProof="0" dirty="0" err="1">
                <a:latin typeface="Arial MT"/>
                <a:cs typeface="Arial MT"/>
              </a:rPr>
              <a:t>i,k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1359" y="970978"/>
            <a:ext cx="5524499" cy="33813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5286" y="1750504"/>
            <a:ext cx="5524499" cy="33813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5286" y="2530157"/>
            <a:ext cx="5524499" cy="338137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2105786" y="1082421"/>
            <a:ext cx="1002665" cy="1954530"/>
            <a:chOff x="2105786" y="1082421"/>
            <a:chExt cx="1002665" cy="1954530"/>
          </a:xfrm>
        </p:grpSpPr>
        <p:sp>
          <p:nvSpPr>
            <p:cNvPr id="20" name="object 20"/>
            <p:cNvSpPr/>
            <p:nvPr/>
          </p:nvSpPr>
          <p:spPr>
            <a:xfrm>
              <a:off x="2115311" y="2351659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39">
                  <a:moveTo>
                    <a:pt x="0" y="0"/>
                  </a:moveTo>
                  <a:lnTo>
                    <a:pt x="126" y="675513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711069" y="1082420"/>
              <a:ext cx="397510" cy="1640205"/>
            </a:xfrm>
            <a:custGeom>
              <a:avLst/>
              <a:gdLst/>
              <a:ahLst/>
              <a:cxnLst/>
              <a:rect l="l" t="t" r="r" b="b"/>
              <a:pathLst>
                <a:path w="397510" h="1640205">
                  <a:moveTo>
                    <a:pt x="397256" y="1600962"/>
                  </a:moveTo>
                  <a:lnTo>
                    <a:pt x="389343" y="1597152"/>
                  </a:lnTo>
                  <a:lnTo>
                    <a:pt x="320548" y="1564005"/>
                  </a:lnTo>
                  <a:lnTo>
                    <a:pt x="321043" y="1597152"/>
                  </a:lnTo>
                  <a:lnTo>
                    <a:pt x="321043" y="1597355"/>
                  </a:lnTo>
                  <a:lnTo>
                    <a:pt x="0" y="1602232"/>
                  </a:lnTo>
                  <a:lnTo>
                    <a:pt x="127" y="1611757"/>
                  </a:lnTo>
                  <a:lnTo>
                    <a:pt x="321183" y="1606880"/>
                  </a:lnTo>
                  <a:lnTo>
                    <a:pt x="321691" y="1640205"/>
                  </a:lnTo>
                  <a:lnTo>
                    <a:pt x="397256" y="1600962"/>
                  </a:lnTo>
                  <a:close/>
                </a:path>
                <a:path w="397510" h="1640205">
                  <a:moveTo>
                    <a:pt x="397256" y="821436"/>
                  </a:moveTo>
                  <a:lnTo>
                    <a:pt x="389343" y="817626"/>
                  </a:lnTo>
                  <a:lnTo>
                    <a:pt x="320548" y="784479"/>
                  </a:lnTo>
                  <a:lnTo>
                    <a:pt x="321043" y="817626"/>
                  </a:lnTo>
                  <a:lnTo>
                    <a:pt x="321043" y="817816"/>
                  </a:lnTo>
                  <a:lnTo>
                    <a:pt x="0" y="822579"/>
                  </a:lnTo>
                  <a:lnTo>
                    <a:pt x="127" y="832104"/>
                  </a:lnTo>
                  <a:lnTo>
                    <a:pt x="321183" y="827341"/>
                  </a:lnTo>
                  <a:lnTo>
                    <a:pt x="321691" y="860679"/>
                  </a:lnTo>
                  <a:lnTo>
                    <a:pt x="397256" y="821436"/>
                  </a:lnTo>
                  <a:close/>
                </a:path>
                <a:path w="397510" h="1640205">
                  <a:moveTo>
                    <a:pt x="397256" y="35814"/>
                  </a:moveTo>
                  <a:lnTo>
                    <a:pt x="391223" y="33020"/>
                  </a:lnTo>
                  <a:lnTo>
                    <a:pt x="321310" y="596"/>
                  </a:lnTo>
                  <a:lnTo>
                    <a:pt x="321310" y="42545"/>
                  </a:lnTo>
                  <a:lnTo>
                    <a:pt x="321310" y="42938"/>
                  </a:lnTo>
                  <a:lnTo>
                    <a:pt x="321195" y="39192"/>
                  </a:lnTo>
                  <a:lnTo>
                    <a:pt x="321310" y="42545"/>
                  </a:lnTo>
                  <a:lnTo>
                    <a:pt x="321310" y="596"/>
                  </a:lnTo>
                  <a:lnTo>
                    <a:pt x="320040" y="0"/>
                  </a:lnTo>
                  <a:lnTo>
                    <a:pt x="321030" y="33020"/>
                  </a:lnTo>
                  <a:lnTo>
                    <a:pt x="321030" y="33401"/>
                  </a:lnTo>
                  <a:lnTo>
                    <a:pt x="0" y="43053"/>
                  </a:lnTo>
                  <a:lnTo>
                    <a:pt x="254" y="52578"/>
                  </a:lnTo>
                  <a:lnTo>
                    <a:pt x="317106" y="43053"/>
                  </a:lnTo>
                  <a:lnTo>
                    <a:pt x="321322" y="43053"/>
                  </a:lnTo>
                  <a:lnTo>
                    <a:pt x="322326" y="76200"/>
                  </a:lnTo>
                  <a:lnTo>
                    <a:pt x="397256" y="3581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2879" y="1122553"/>
            <a:ext cx="361315" cy="128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2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lang="es-PE" sz="1000" spc="-50" noProof="0" dirty="0">
                <a:latin typeface="Roboto"/>
                <a:cs typeface="Roboto"/>
              </a:rPr>
              <a:t>…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lang="es-PE" sz="2250" spc="-30" baseline="12962" noProof="0" dirty="0" err="1">
                <a:latin typeface="Roboto"/>
                <a:cs typeface="Roboto"/>
              </a:rPr>
              <a:t>X</a:t>
            </a:r>
            <a:r>
              <a:rPr lang="es-PE" sz="1000" spc="-20" noProof="0" dirty="0" err="1">
                <a:latin typeface="Roboto"/>
                <a:cs typeface="Roboto"/>
              </a:rPr>
              <a:t>i,m</a:t>
            </a:r>
            <a:endParaRPr lang="es-PE" sz="1000" noProof="0" dirty="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5475" y="1103375"/>
            <a:ext cx="1044575" cy="1594485"/>
          </a:xfrm>
          <a:custGeom>
            <a:avLst/>
            <a:gdLst/>
            <a:ahLst/>
            <a:cxnLst/>
            <a:rect l="l" t="t" r="r" b="b"/>
            <a:pathLst>
              <a:path w="1044575" h="1594485">
                <a:moveTo>
                  <a:pt x="1044079" y="26797"/>
                </a:moveTo>
                <a:lnTo>
                  <a:pt x="987171" y="7924"/>
                </a:lnTo>
                <a:lnTo>
                  <a:pt x="987171" y="82664"/>
                </a:lnTo>
                <a:lnTo>
                  <a:pt x="593839" y="516750"/>
                </a:lnTo>
                <a:lnTo>
                  <a:pt x="587311" y="512635"/>
                </a:lnTo>
                <a:lnTo>
                  <a:pt x="587311" y="523951"/>
                </a:lnTo>
                <a:lnTo>
                  <a:pt x="456120" y="668743"/>
                </a:lnTo>
                <a:lnTo>
                  <a:pt x="448779" y="667092"/>
                </a:lnTo>
                <a:lnTo>
                  <a:pt x="448779" y="676833"/>
                </a:lnTo>
                <a:lnTo>
                  <a:pt x="414477" y="714692"/>
                </a:lnTo>
                <a:lnTo>
                  <a:pt x="407898" y="705675"/>
                </a:lnTo>
                <a:lnTo>
                  <a:pt x="407898" y="721944"/>
                </a:lnTo>
                <a:lnTo>
                  <a:pt x="293268" y="848461"/>
                </a:lnTo>
                <a:lnTo>
                  <a:pt x="16751" y="579234"/>
                </a:lnTo>
                <a:lnTo>
                  <a:pt x="360451" y="656869"/>
                </a:lnTo>
                <a:lnTo>
                  <a:pt x="407898" y="721944"/>
                </a:lnTo>
                <a:lnTo>
                  <a:pt x="407898" y="705675"/>
                </a:lnTo>
                <a:lnTo>
                  <a:pt x="374662" y="660082"/>
                </a:lnTo>
                <a:lnTo>
                  <a:pt x="448779" y="676833"/>
                </a:lnTo>
                <a:lnTo>
                  <a:pt x="448779" y="667092"/>
                </a:lnTo>
                <a:lnTo>
                  <a:pt x="366141" y="648411"/>
                </a:lnTo>
                <a:lnTo>
                  <a:pt x="225463" y="455510"/>
                </a:lnTo>
                <a:lnTo>
                  <a:pt x="364693" y="383501"/>
                </a:lnTo>
                <a:lnTo>
                  <a:pt x="587311" y="523951"/>
                </a:lnTo>
                <a:lnTo>
                  <a:pt x="587311" y="512635"/>
                </a:lnTo>
                <a:lnTo>
                  <a:pt x="374561" y="378396"/>
                </a:lnTo>
                <a:lnTo>
                  <a:pt x="973150" y="68846"/>
                </a:lnTo>
                <a:lnTo>
                  <a:pt x="974102" y="75438"/>
                </a:lnTo>
                <a:lnTo>
                  <a:pt x="979830" y="71462"/>
                </a:lnTo>
                <a:lnTo>
                  <a:pt x="982726" y="74079"/>
                </a:lnTo>
                <a:lnTo>
                  <a:pt x="987171" y="82664"/>
                </a:lnTo>
                <a:lnTo>
                  <a:pt x="987171" y="7924"/>
                </a:lnTo>
                <a:lnTo>
                  <a:pt x="971194" y="2628"/>
                </a:lnTo>
                <a:lnTo>
                  <a:pt x="971194" y="55257"/>
                </a:lnTo>
                <a:lnTo>
                  <a:pt x="964704" y="57785"/>
                </a:lnTo>
                <a:lnTo>
                  <a:pt x="968082" y="60845"/>
                </a:lnTo>
                <a:lnTo>
                  <a:pt x="365302" y="372554"/>
                </a:lnTo>
                <a:lnTo>
                  <a:pt x="51193" y="174383"/>
                </a:lnTo>
                <a:lnTo>
                  <a:pt x="966533" y="42875"/>
                </a:lnTo>
                <a:lnTo>
                  <a:pt x="970534" y="50596"/>
                </a:lnTo>
                <a:lnTo>
                  <a:pt x="971194" y="55257"/>
                </a:lnTo>
                <a:lnTo>
                  <a:pt x="971194" y="2628"/>
                </a:lnTo>
                <a:lnTo>
                  <a:pt x="963307" y="0"/>
                </a:lnTo>
                <a:lnTo>
                  <a:pt x="967282" y="27952"/>
                </a:lnTo>
                <a:lnTo>
                  <a:pt x="958862" y="28067"/>
                </a:lnTo>
                <a:lnTo>
                  <a:pt x="961834" y="33820"/>
                </a:lnTo>
                <a:lnTo>
                  <a:pt x="20726" y="169164"/>
                </a:lnTo>
                <a:lnTo>
                  <a:pt x="22072" y="178562"/>
                </a:lnTo>
                <a:lnTo>
                  <a:pt x="39763" y="176022"/>
                </a:lnTo>
                <a:lnTo>
                  <a:pt x="38658" y="177800"/>
                </a:lnTo>
                <a:lnTo>
                  <a:pt x="355434" y="377659"/>
                </a:lnTo>
                <a:lnTo>
                  <a:pt x="219837" y="447776"/>
                </a:lnTo>
                <a:lnTo>
                  <a:pt x="25247" y="180975"/>
                </a:lnTo>
                <a:lnTo>
                  <a:pt x="17551" y="186690"/>
                </a:lnTo>
                <a:lnTo>
                  <a:pt x="211213" y="452234"/>
                </a:lnTo>
                <a:lnTo>
                  <a:pt x="9309" y="556641"/>
                </a:lnTo>
                <a:lnTo>
                  <a:pt x="13690" y="565023"/>
                </a:lnTo>
                <a:lnTo>
                  <a:pt x="216852" y="459968"/>
                </a:lnTo>
                <a:lnTo>
                  <a:pt x="351929" y="645198"/>
                </a:lnTo>
                <a:lnTo>
                  <a:pt x="2654" y="566293"/>
                </a:lnTo>
                <a:lnTo>
                  <a:pt x="546" y="575564"/>
                </a:lnTo>
                <a:lnTo>
                  <a:pt x="13665" y="578535"/>
                </a:lnTo>
                <a:lnTo>
                  <a:pt x="8178" y="584200"/>
                </a:lnTo>
                <a:lnTo>
                  <a:pt x="286867" y="855535"/>
                </a:lnTo>
                <a:lnTo>
                  <a:pt x="7975" y="1163320"/>
                </a:lnTo>
                <a:lnTo>
                  <a:pt x="12725" y="1167688"/>
                </a:lnTo>
                <a:lnTo>
                  <a:pt x="0" y="1172210"/>
                </a:lnTo>
                <a:lnTo>
                  <a:pt x="3187" y="1181100"/>
                </a:lnTo>
                <a:lnTo>
                  <a:pt x="456120" y="1020318"/>
                </a:lnTo>
                <a:lnTo>
                  <a:pt x="982865" y="1533131"/>
                </a:lnTo>
                <a:lnTo>
                  <a:pt x="981138" y="1537589"/>
                </a:lnTo>
                <a:lnTo>
                  <a:pt x="968387" y="1546860"/>
                </a:lnTo>
                <a:lnTo>
                  <a:pt x="973391" y="1549450"/>
                </a:lnTo>
                <a:lnTo>
                  <a:pt x="970457" y="1552460"/>
                </a:lnTo>
                <a:lnTo>
                  <a:pt x="13220" y="1181989"/>
                </a:lnTo>
                <a:lnTo>
                  <a:pt x="9779" y="1190879"/>
                </a:lnTo>
                <a:lnTo>
                  <a:pt x="963231" y="1559877"/>
                </a:lnTo>
                <a:lnTo>
                  <a:pt x="962926" y="1560195"/>
                </a:lnTo>
                <a:lnTo>
                  <a:pt x="969340" y="1562239"/>
                </a:lnTo>
                <a:lnTo>
                  <a:pt x="971296" y="1562989"/>
                </a:lnTo>
                <a:lnTo>
                  <a:pt x="959243" y="1594104"/>
                </a:lnTo>
                <a:lnTo>
                  <a:pt x="1044079" y="1585976"/>
                </a:lnTo>
                <a:lnTo>
                  <a:pt x="1035951" y="1537589"/>
                </a:lnTo>
                <a:lnTo>
                  <a:pt x="1029982" y="1502029"/>
                </a:lnTo>
                <a:lnTo>
                  <a:pt x="1017943" y="1510792"/>
                </a:lnTo>
                <a:lnTo>
                  <a:pt x="1016139" y="1505585"/>
                </a:lnTo>
                <a:lnTo>
                  <a:pt x="1001966" y="1520139"/>
                </a:lnTo>
                <a:lnTo>
                  <a:pt x="995146" y="1510792"/>
                </a:lnTo>
                <a:lnTo>
                  <a:pt x="995146" y="1527124"/>
                </a:lnTo>
                <a:lnTo>
                  <a:pt x="994257" y="1528038"/>
                </a:lnTo>
                <a:lnTo>
                  <a:pt x="992568" y="1529270"/>
                </a:lnTo>
                <a:lnTo>
                  <a:pt x="992124" y="1528851"/>
                </a:lnTo>
                <a:lnTo>
                  <a:pt x="986802" y="1522984"/>
                </a:lnTo>
                <a:lnTo>
                  <a:pt x="986612" y="1523479"/>
                </a:lnTo>
                <a:lnTo>
                  <a:pt x="466128" y="1016762"/>
                </a:lnTo>
                <a:lnTo>
                  <a:pt x="590677" y="972553"/>
                </a:lnTo>
                <a:lnTo>
                  <a:pt x="995146" y="1527124"/>
                </a:lnTo>
                <a:lnTo>
                  <a:pt x="995146" y="1510792"/>
                </a:lnTo>
                <a:lnTo>
                  <a:pt x="600113" y="969200"/>
                </a:lnTo>
                <a:lnTo>
                  <a:pt x="973886" y="836510"/>
                </a:lnTo>
                <a:lnTo>
                  <a:pt x="985024" y="867791"/>
                </a:lnTo>
                <a:lnTo>
                  <a:pt x="1027938" y="823214"/>
                </a:lnTo>
                <a:lnTo>
                  <a:pt x="1044079" y="806450"/>
                </a:lnTo>
                <a:lnTo>
                  <a:pt x="1026033" y="776605"/>
                </a:lnTo>
                <a:lnTo>
                  <a:pt x="1000010" y="733552"/>
                </a:lnTo>
                <a:lnTo>
                  <a:pt x="984694" y="757821"/>
                </a:lnTo>
                <a:lnTo>
                  <a:pt x="978166" y="752475"/>
                </a:lnTo>
                <a:lnTo>
                  <a:pt x="976833" y="758355"/>
                </a:lnTo>
                <a:lnTo>
                  <a:pt x="974598" y="756945"/>
                </a:lnTo>
                <a:lnTo>
                  <a:pt x="974598" y="768273"/>
                </a:lnTo>
                <a:lnTo>
                  <a:pt x="972642" y="776897"/>
                </a:lnTo>
                <a:lnTo>
                  <a:pt x="970673" y="780021"/>
                </a:lnTo>
                <a:lnTo>
                  <a:pt x="970673" y="827455"/>
                </a:lnTo>
                <a:lnTo>
                  <a:pt x="594233" y="961161"/>
                </a:lnTo>
                <a:lnTo>
                  <a:pt x="584809" y="948245"/>
                </a:lnTo>
                <a:lnTo>
                  <a:pt x="584809" y="964514"/>
                </a:lnTo>
                <a:lnTo>
                  <a:pt x="458520" y="1009357"/>
                </a:lnTo>
                <a:lnTo>
                  <a:pt x="448513" y="999617"/>
                </a:lnTo>
                <a:lnTo>
                  <a:pt x="448513" y="1012913"/>
                </a:lnTo>
                <a:lnTo>
                  <a:pt x="18923" y="1165491"/>
                </a:lnTo>
                <a:lnTo>
                  <a:pt x="293700" y="862190"/>
                </a:lnTo>
                <a:lnTo>
                  <a:pt x="448513" y="1012913"/>
                </a:lnTo>
                <a:lnTo>
                  <a:pt x="448513" y="999617"/>
                </a:lnTo>
                <a:lnTo>
                  <a:pt x="300101" y="855116"/>
                </a:lnTo>
                <a:lnTo>
                  <a:pt x="413639" y="729805"/>
                </a:lnTo>
                <a:lnTo>
                  <a:pt x="584809" y="964514"/>
                </a:lnTo>
                <a:lnTo>
                  <a:pt x="584809" y="948245"/>
                </a:lnTo>
                <a:lnTo>
                  <a:pt x="420204" y="722541"/>
                </a:lnTo>
                <a:lnTo>
                  <a:pt x="459435" y="679246"/>
                </a:lnTo>
                <a:lnTo>
                  <a:pt x="962558" y="792886"/>
                </a:lnTo>
                <a:lnTo>
                  <a:pt x="960488" y="796163"/>
                </a:lnTo>
                <a:lnTo>
                  <a:pt x="959497" y="796036"/>
                </a:lnTo>
                <a:lnTo>
                  <a:pt x="959878" y="797128"/>
                </a:lnTo>
                <a:lnTo>
                  <a:pt x="959370" y="797941"/>
                </a:lnTo>
                <a:lnTo>
                  <a:pt x="960196" y="798029"/>
                </a:lnTo>
                <a:lnTo>
                  <a:pt x="964895" y="811237"/>
                </a:lnTo>
                <a:lnTo>
                  <a:pt x="961402" y="826770"/>
                </a:lnTo>
                <a:lnTo>
                  <a:pt x="969695" y="824738"/>
                </a:lnTo>
                <a:lnTo>
                  <a:pt x="970673" y="827455"/>
                </a:lnTo>
                <a:lnTo>
                  <a:pt x="970673" y="780021"/>
                </a:lnTo>
                <a:lnTo>
                  <a:pt x="967943" y="784339"/>
                </a:lnTo>
                <a:lnTo>
                  <a:pt x="466775" y="671144"/>
                </a:lnTo>
                <a:lnTo>
                  <a:pt x="595464" y="529094"/>
                </a:lnTo>
                <a:lnTo>
                  <a:pt x="974598" y="768273"/>
                </a:lnTo>
                <a:lnTo>
                  <a:pt x="974598" y="756945"/>
                </a:lnTo>
                <a:lnTo>
                  <a:pt x="601992" y="521893"/>
                </a:lnTo>
                <a:lnTo>
                  <a:pt x="991806" y="91592"/>
                </a:lnTo>
                <a:lnTo>
                  <a:pt x="993914" y="95631"/>
                </a:lnTo>
                <a:lnTo>
                  <a:pt x="998943" y="88734"/>
                </a:lnTo>
                <a:lnTo>
                  <a:pt x="1021219" y="108839"/>
                </a:lnTo>
                <a:lnTo>
                  <a:pt x="1031824" y="70739"/>
                </a:lnTo>
                <a:lnTo>
                  <a:pt x="1044079" y="26797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06395" y="3878707"/>
            <a:ext cx="3067050" cy="44767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46049" y="3224276"/>
            <a:ext cx="2074545" cy="950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lang="es-PE" sz="1400" spc="-20" noProof="0" dirty="0" err="1">
                <a:solidFill>
                  <a:srgbClr val="0E9D57"/>
                </a:solidFill>
                <a:latin typeface="Roboto"/>
                <a:cs typeface="Roboto"/>
              </a:rPr>
              <a:t>Layer</a:t>
            </a:r>
            <a:r>
              <a:rPr lang="es-PE" sz="1400" spc="-30" noProof="0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PE" sz="1400" spc="-50" noProof="0" dirty="0">
                <a:solidFill>
                  <a:srgbClr val="0E9D57"/>
                </a:solidFill>
                <a:latin typeface="Roboto"/>
                <a:cs typeface="Roboto"/>
              </a:rPr>
              <a:t>1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lang="es-PE" sz="1400" noProof="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lang="es-PE" sz="1500" noProof="0" dirty="0">
                <a:latin typeface="Roboto"/>
                <a:cs typeface="Roboto"/>
              </a:rPr>
              <a:t>En</a:t>
            </a:r>
            <a:r>
              <a:rPr lang="es-PE" sz="1500" spc="-3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formato</a:t>
            </a:r>
            <a:r>
              <a:rPr lang="es-PE" sz="1500" spc="-2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matricial: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7953" y="3654678"/>
            <a:ext cx="1401699" cy="124460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2607945" y="4287342"/>
            <a:ext cx="3325495" cy="481330"/>
            <a:chOff x="2607945" y="4287342"/>
            <a:chExt cx="3325495" cy="48133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61183" y="4534865"/>
              <a:ext cx="3071875" cy="23336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607945" y="4287342"/>
              <a:ext cx="253365" cy="364490"/>
            </a:xfrm>
            <a:custGeom>
              <a:avLst/>
              <a:gdLst/>
              <a:ahLst/>
              <a:cxnLst/>
              <a:rect l="l" t="t" r="r" b="b"/>
              <a:pathLst>
                <a:path w="253364" h="364489">
                  <a:moveTo>
                    <a:pt x="206019" y="304169"/>
                  </a:moveTo>
                  <a:lnTo>
                    <a:pt x="178562" y="323100"/>
                  </a:lnTo>
                  <a:lnTo>
                    <a:pt x="253237" y="364197"/>
                  </a:lnTo>
                  <a:lnTo>
                    <a:pt x="246222" y="314629"/>
                  </a:lnTo>
                  <a:lnTo>
                    <a:pt x="213232" y="314629"/>
                  </a:lnTo>
                  <a:lnTo>
                    <a:pt x="206019" y="304169"/>
                  </a:lnTo>
                  <a:close/>
                </a:path>
                <a:path w="253364" h="364489">
                  <a:moveTo>
                    <a:pt x="213884" y="298746"/>
                  </a:moveTo>
                  <a:lnTo>
                    <a:pt x="206019" y="304169"/>
                  </a:lnTo>
                  <a:lnTo>
                    <a:pt x="213232" y="314629"/>
                  </a:lnTo>
                  <a:lnTo>
                    <a:pt x="221106" y="309219"/>
                  </a:lnTo>
                  <a:lnTo>
                    <a:pt x="213884" y="298746"/>
                  </a:lnTo>
                  <a:close/>
                </a:path>
                <a:path w="253364" h="364489">
                  <a:moveTo>
                    <a:pt x="241300" y="279844"/>
                  </a:moveTo>
                  <a:lnTo>
                    <a:pt x="213884" y="298746"/>
                  </a:lnTo>
                  <a:lnTo>
                    <a:pt x="221106" y="309219"/>
                  </a:lnTo>
                  <a:lnTo>
                    <a:pt x="213232" y="314629"/>
                  </a:lnTo>
                  <a:lnTo>
                    <a:pt x="246222" y="314629"/>
                  </a:lnTo>
                  <a:lnTo>
                    <a:pt x="241300" y="279844"/>
                  </a:lnTo>
                  <a:close/>
                </a:path>
                <a:path w="253364" h="364489">
                  <a:moveTo>
                    <a:pt x="7874" y="0"/>
                  </a:moveTo>
                  <a:lnTo>
                    <a:pt x="0" y="5410"/>
                  </a:lnTo>
                  <a:lnTo>
                    <a:pt x="206019" y="304169"/>
                  </a:lnTo>
                  <a:lnTo>
                    <a:pt x="213884" y="298746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Red</a:t>
            </a:r>
            <a:r>
              <a:rPr lang="es-PE" spc="25" noProof="0" dirty="0"/>
              <a:t> </a:t>
            </a:r>
            <a:r>
              <a:rPr lang="es-PE" noProof="0" dirty="0"/>
              <a:t>neuronal</a:t>
            </a:r>
            <a:r>
              <a:rPr lang="es-PE" spc="30" noProof="0" dirty="0"/>
              <a:t> </a:t>
            </a:r>
            <a:r>
              <a:rPr lang="es-PE" noProof="0" dirty="0" err="1"/>
              <a:t>feedforward</a:t>
            </a:r>
            <a:r>
              <a:rPr lang="es-PE" noProof="0" dirty="0"/>
              <a:t> con</a:t>
            </a:r>
            <a:r>
              <a:rPr lang="es-PE" spc="30" noProof="0" dirty="0"/>
              <a:t> </a:t>
            </a:r>
            <a:r>
              <a:rPr lang="es-PE" noProof="0" dirty="0"/>
              <a:t>p</a:t>
            </a:r>
            <a:r>
              <a:rPr lang="es-PE" spc="20" noProof="0" dirty="0"/>
              <a:t> </a:t>
            </a:r>
            <a:r>
              <a:rPr lang="es-PE" spc="-10" noProof="0" dirty="0" err="1"/>
              <a:t>layers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95498" y="1701800"/>
            <a:ext cx="401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2000" spc="-10" noProof="0" dirty="0">
                <a:latin typeface="Roboto"/>
                <a:cs typeface="Roboto"/>
              </a:rPr>
              <a:t>(...)</a:t>
            </a:r>
            <a:endParaRPr lang="es-PE" sz="2000" noProof="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5555" y="98450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7320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(p)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24377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7" name="object 7"/>
          <p:cNvSpPr/>
          <p:nvPr/>
        </p:nvSpPr>
        <p:spPr>
          <a:xfrm>
            <a:off x="3024377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8" name="object 8"/>
          <p:cNvSpPr/>
          <p:nvPr/>
        </p:nvSpPr>
        <p:spPr>
          <a:xfrm>
            <a:off x="3024377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9" name="object 9"/>
          <p:cNvSpPr/>
          <p:nvPr/>
        </p:nvSpPr>
        <p:spPr>
          <a:xfrm>
            <a:off x="3024377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0" name="object 10"/>
          <p:cNvSpPr/>
          <p:nvPr/>
        </p:nvSpPr>
        <p:spPr>
          <a:xfrm>
            <a:off x="3862578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1" name="object 11"/>
          <p:cNvSpPr/>
          <p:nvPr/>
        </p:nvSpPr>
        <p:spPr>
          <a:xfrm>
            <a:off x="3862578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2" name="object 12"/>
          <p:cNvSpPr/>
          <p:nvPr/>
        </p:nvSpPr>
        <p:spPr>
          <a:xfrm>
            <a:off x="3862578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3" name="object 13"/>
          <p:cNvSpPr/>
          <p:nvPr/>
        </p:nvSpPr>
        <p:spPr>
          <a:xfrm>
            <a:off x="3862578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4" name="object 14"/>
          <p:cNvSpPr/>
          <p:nvPr/>
        </p:nvSpPr>
        <p:spPr>
          <a:xfrm>
            <a:off x="4700778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5" name="object 15"/>
          <p:cNvSpPr/>
          <p:nvPr/>
        </p:nvSpPr>
        <p:spPr>
          <a:xfrm>
            <a:off x="4700778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6" name="object 16"/>
          <p:cNvSpPr/>
          <p:nvPr/>
        </p:nvSpPr>
        <p:spPr>
          <a:xfrm>
            <a:off x="4700778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7" name="object 17"/>
          <p:cNvSpPr/>
          <p:nvPr/>
        </p:nvSpPr>
        <p:spPr>
          <a:xfrm>
            <a:off x="4700778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8" name="object 18"/>
          <p:cNvSpPr txBox="1"/>
          <p:nvPr/>
        </p:nvSpPr>
        <p:spPr>
          <a:xfrm>
            <a:off x="4149344" y="9768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(p)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1852" y="2899410"/>
            <a:ext cx="6426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500" spc="-10" noProof="0" dirty="0" err="1">
                <a:latin typeface="Roboto"/>
                <a:cs typeface="Roboto"/>
              </a:rPr>
              <a:t>Layer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50" noProof="0" dirty="0">
                <a:latin typeface="Roboto"/>
                <a:cs typeface="Roboto"/>
              </a:rPr>
              <a:t>p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5965" y="2712516"/>
            <a:ext cx="1398269" cy="1063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82879" y="1122553"/>
            <a:ext cx="361315" cy="128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2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lang="es-PE" sz="1000" spc="-50" noProof="0" dirty="0">
                <a:latin typeface="Roboto"/>
                <a:cs typeface="Roboto"/>
              </a:rPr>
              <a:t>…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lang="es-PE" sz="2250" spc="-30" baseline="12962" noProof="0" dirty="0" err="1">
                <a:latin typeface="Roboto"/>
                <a:cs typeface="Roboto"/>
              </a:rPr>
              <a:t>X</a:t>
            </a:r>
            <a:r>
              <a:rPr lang="es-PE" sz="1000" spc="-20" noProof="0" dirty="0" err="1">
                <a:latin typeface="Roboto"/>
                <a:cs typeface="Roboto"/>
              </a:rPr>
              <a:t>i,m</a:t>
            </a:r>
            <a:endParaRPr lang="es-PE" sz="1000" noProof="0" dirty="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3803" y="9768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60601" y="9768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82091" y="22505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5" name="object 25"/>
          <p:cNvSpPr/>
          <p:nvPr/>
        </p:nvSpPr>
        <p:spPr>
          <a:xfrm>
            <a:off x="482091" y="19624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6" name="object 26"/>
          <p:cNvSpPr/>
          <p:nvPr/>
        </p:nvSpPr>
        <p:spPr>
          <a:xfrm>
            <a:off x="482091" y="157149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300" y="42799"/>
                </a:lnTo>
                <a:lnTo>
                  <a:pt x="368198" y="42799"/>
                </a:lnTo>
                <a:lnTo>
                  <a:pt x="368198" y="33274"/>
                </a:lnTo>
                <a:lnTo>
                  <a:pt x="422046" y="33274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98" y="42799"/>
                </a:lnTo>
                <a:lnTo>
                  <a:pt x="355498" y="33274"/>
                </a:lnTo>
                <a:close/>
              </a:path>
              <a:path w="431800" h="76200">
                <a:moveTo>
                  <a:pt x="422046" y="33274"/>
                </a:moveTo>
                <a:lnTo>
                  <a:pt x="368198" y="33274"/>
                </a:lnTo>
                <a:lnTo>
                  <a:pt x="368198" y="42799"/>
                </a:lnTo>
                <a:lnTo>
                  <a:pt x="422300" y="42799"/>
                </a:lnTo>
                <a:lnTo>
                  <a:pt x="431698" y="38100"/>
                </a:lnTo>
                <a:lnTo>
                  <a:pt x="422046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7" name="object 27"/>
          <p:cNvSpPr/>
          <p:nvPr/>
        </p:nvSpPr>
        <p:spPr>
          <a:xfrm>
            <a:off x="482091" y="12103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8" name="object 28"/>
          <p:cNvSpPr/>
          <p:nvPr/>
        </p:nvSpPr>
        <p:spPr>
          <a:xfrm>
            <a:off x="1473835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9" name="object 29"/>
          <p:cNvSpPr/>
          <p:nvPr/>
        </p:nvSpPr>
        <p:spPr>
          <a:xfrm>
            <a:off x="1473835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0" name="object 30"/>
          <p:cNvSpPr/>
          <p:nvPr/>
        </p:nvSpPr>
        <p:spPr>
          <a:xfrm>
            <a:off x="1473835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8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8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1" name="object 31"/>
          <p:cNvSpPr/>
          <p:nvPr/>
        </p:nvSpPr>
        <p:spPr>
          <a:xfrm>
            <a:off x="1473835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2" name="object 32"/>
          <p:cNvSpPr/>
          <p:nvPr/>
        </p:nvSpPr>
        <p:spPr>
          <a:xfrm>
            <a:off x="2312035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3" name="object 33"/>
          <p:cNvSpPr/>
          <p:nvPr/>
        </p:nvSpPr>
        <p:spPr>
          <a:xfrm>
            <a:off x="2312035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4" name="object 34"/>
          <p:cNvSpPr/>
          <p:nvPr/>
        </p:nvSpPr>
        <p:spPr>
          <a:xfrm>
            <a:off x="2312035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5" name="object 35"/>
          <p:cNvSpPr/>
          <p:nvPr/>
        </p:nvSpPr>
        <p:spPr>
          <a:xfrm>
            <a:off x="2312035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6" name="object 36"/>
          <p:cNvGrpSpPr/>
          <p:nvPr/>
        </p:nvGrpSpPr>
        <p:grpSpPr>
          <a:xfrm>
            <a:off x="913803" y="2592070"/>
            <a:ext cx="1398270" cy="586105"/>
            <a:chOff x="913803" y="2592070"/>
            <a:chExt cx="1398270" cy="58610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803" y="2712516"/>
              <a:ext cx="1398270" cy="10637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004849" y="2592070"/>
              <a:ext cx="76200" cy="586105"/>
            </a:xfrm>
            <a:custGeom>
              <a:avLst/>
              <a:gdLst/>
              <a:ahLst/>
              <a:cxnLst/>
              <a:rect l="l" t="t" r="r" b="b"/>
              <a:pathLst>
                <a:path w="76200" h="586105">
                  <a:moveTo>
                    <a:pt x="33337" y="509397"/>
                  </a:moveTo>
                  <a:lnTo>
                    <a:pt x="0" y="509397"/>
                  </a:lnTo>
                  <a:lnTo>
                    <a:pt x="38100" y="585597"/>
                  </a:lnTo>
                  <a:lnTo>
                    <a:pt x="69850" y="522097"/>
                  </a:lnTo>
                  <a:lnTo>
                    <a:pt x="33337" y="522097"/>
                  </a:lnTo>
                  <a:lnTo>
                    <a:pt x="33337" y="509397"/>
                  </a:lnTo>
                  <a:close/>
                </a:path>
                <a:path w="76200" h="586105">
                  <a:moveTo>
                    <a:pt x="42862" y="0"/>
                  </a:moveTo>
                  <a:lnTo>
                    <a:pt x="33337" y="0"/>
                  </a:lnTo>
                  <a:lnTo>
                    <a:pt x="33337" y="522097"/>
                  </a:lnTo>
                  <a:lnTo>
                    <a:pt x="42862" y="522097"/>
                  </a:lnTo>
                  <a:lnTo>
                    <a:pt x="42862" y="0"/>
                  </a:lnTo>
                  <a:close/>
                </a:path>
                <a:path w="76200" h="586105">
                  <a:moveTo>
                    <a:pt x="76200" y="509397"/>
                  </a:moveTo>
                  <a:lnTo>
                    <a:pt x="42862" y="509397"/>
                  </a:lnTo>
                  <a:lnTo>
                    <a:pt x="42862" y="522097"/>
                  </a:lnTo>
                  <a:lnTo>
                    <a:pt x="69850" y="522097"/>
                  </a:lnTo>
                  <a:lnTo>
                    <a:pt x="76200" y="509397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80084" y="3172206"/>
            <a:ext cx="497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 err="1">
                <a:latin typeface="Roboto"/>
                <a:cs typeface="Roboto"/>
              </a:rPr>
              <a:t>Layer</a:t>
            </a:r>
            <a:r>
              <a:rPr lang="es-PE" sz="1400" spc="-10" noProof="0" dirty="0">
                <a:latin typeface="Roboto"/>
                <a:cs typeface="Roboto"/>
              </a:rPr>
              <a:t> </a:t>
            </a:r>
            <a:r>
              <a:rPr lang="es-PE" sz="1400" spc="-25" noProof="0" dirty="0">
                <a:latin typeface="Roboto"/>
                <a:cs typeface="Roboto"/>
              </a:rPr>
              <a:t>Lineal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47823" y="2602102"/>
            <a:ext cx="76200" cy="575945"/>
          </a:xfrm>
          <a:custGeom>
            <a:avLst/>
            <a:gdLst/>
            <a:ahLst/>
            <a:cxnLst/>
            <a:rect l="l" t="t" r="r" b="b"/>
            <a:pathLst>
              <a:path w="76200" h="575944">
                <a:moveTo>
                  <a:pt x="33400" y="499491"/>
                </a:moveTo>
                <a:lnTo>
                  <a:pt x="0" y="499491"/>
                </a:lnTo>
                <a:lnTo>
                  <a:pt x="38100" y="575691"/>
                </a:lnTo>
                <a:lnTo>
                  <a:pt x="69850" y="512191"/>
                </a:lnTo>
                <a:lnTo>
                  <a:pt x="33400" y="512191"/>
                </a:lnTo>
                <a:lnTo>
                  <a:pt x="33400" y="499491"/>
                </a:lnTo>
                <a:close/>
              </a:path>
              <a:path w="76200" h="575944">
                <a:moveTo>
                  <a:pt x="42925" y="0"/>
                </a:moveTo>
                <a:lnTo>
                  <a:pt x="33400" y="0"/>
                </a:lnTo>
                <a:lnTo>
                  <a:pt x="33400" y="512191"/>
                </a:lnTo>
                <a:lnTo>
                  <a:pt x="42925" y="512191"/>
                </a:lnTo>
                <a:lnTo>
                  <a:pt x="42925" y="0"/>
                </a:lnTo>
                <a:close/>
              </a:path>
              <a:path w="76200" h="575944">
                <a:moveTo>
                  <a:pt x="76200" y="499491"/>
                </a:moveTo>
                <a:lnTo>
                  <a:pt x="42925" y="499491"/>
                </a:lnTo>
                <a:lnTo>
                  <a:pt x="42925" y="512191"/>
                </a:lnTo>
                <a:lnTo>
                  <a:pt x="69850" y="512191"/>
                </a:lnTo>
                <a:lnTo>
                  <a:pt x="76200" y="499491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41" name="object 41"/>
          <p:cNvSpPr txBox="1"/>
          <p:nvPr/>
        </p:nvSpPr>
        <p:spPr>
          <a:xfrm>
            <a:off x="1279397" y="2853548"/>
            <a:ext cx="1287780" cy="5568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lang="es-PE" sz="1500" spc="-10" noProof="0" dirty="0" err="1">
                <a:latin typeface="Roboto"/>
                <a:cs typeface="Roboto"/>
              </a:rPr>
              <a:t>Layer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50" noProof="0" dirty="0">
                <a:latin typeface="Roboto"/>
                <a:cs typeface="Roboto"/>
              </a:rPr>
              <a:t>1</a:t>
            </a:r>
            <a:endParaRPr lang="es-PE" sz="1500" noProof="0" dirty="0">
              <a:latin typeface="Roboto"/>
              <a:cs typeface="Roboto"/>
            </a:endParaRPr>
          </a:p>
          <a:p>
            <a:pPr marL="445134">
              <a:lnSpc>
                <a:spcPct val="100000"/>
              </a:lnSpc>
              <a:spcBef>
                <a:spcPts val="340"/>
              </a:spcBef>
            </a:pPr>
            <a:r>
              <a:rPr lang="es-PE" sz="1400" spc="-10" noProof="0" dirty="0">
                <a:latin typeface="Roboto"/>
                <a:cs typeface="Roboto"/>
              </a:rPr>
              <a:t>Activación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07454" y="3572002"/>
            <a:ext cx="6821805" cy="85725"/>
          </a:xfrm>
          <a:custGeom>
            <a:avLst/>
            <a:gdLst/>
            <a:ahLst/>
            <a:cxnLst/>
            <a:rect l="l" t="t" r="r" b="b"/>
            <a:pathLst>
              <a:path w="6821805" h="85725">
                <a:moveTo>
                  <a:pt x="6735914" y="0"/>
                </a:moveTo>
                <a:lnTo>
                  <a:pt x="6735914" y="85725"/>
                </a:lnTo>
                <a:lnTo>
                  <a:pt x="6793149" y="57150"/>
                </a:lnTo>
                <a:lnTo>
                  <a:pt x="6750265" y="57150"/>
                </a:lnTo>
                <a:lnTo>
                  <a:pt x="6750265" y="28575"/>
                </a:lnTo>
                <a:lnTo>
                  <a:pt x="6792980" y="28575"/>
                </a:lnTo>
                <a:lnTo>
                  <a:pt x="6735914" y="0"/>
                </a:lnTo>
                <a:close/>
              </a:path>
              <a:path w="6821805" h="85725">
                <a:moveTo>
                  <a:pt x="673591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735914" y="57150"/>
                </a:lnTo>
                <a:lnTo>
                  <a:pt x="6735914" y="28575"/>
                </a:lnTo>
                <a:close/>
              </a:path>
              <a:path w="6821805" h="85725">
                <a:moveTo>
                  <a:pt x="6792980" y="28575"/>
                </a:moveTo>
                <a:lnTo>
                  <a:pt x="6750265" y="28575"/>
                </a:lnTo>
                <a:lnTo>
                  <a:pt x="6750265" y="57150"/>
                </a:lnTo>
                <a:lnTo>
                  <a:pt x="6793149" y="57150"/>
                </a:lnTo>
                <a:lnTo>
                  <a:pt x="6821639" y="42926"/>
                </a:lnTo>
                <a:lnTo>
                  <a:pt x="6792980" y="28575"/>
                </a:lnTo>
                <a:close/>
              </a:path>
            </a:pathLst>
          </a:custGeom>
          <a:solidFill>
            <a:srgbClr val="0E9D57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43" name="object 43"/>
          <p:cNvSpPr txBox="1"/>
          <p:nvPr/>
        </p:nvSpPr>
        <p:spPr>
          <a:xfrm>
            <a:off x="7457313" y="3466541"/>
            <a:ext cx="6819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b="1" spc="-10" noProof="0" dirty="0">
                <a:solidFill>
                  <a:srgbClr val="0E9D57"/>
                </a:solidFill>
                <a:latin typeface="Roboto"/>
                <a:cs typeface="Roboto"/>
              </a:rPr>
              <a:t>Forward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47929" y="4005440"/>
            <a:ext cx="6871334" cy="85725"/>
          </a:xfrm>
          <a:custGeom>
            <a:avLst/>
            <a:gdLst/>
            <a:ahLst/>
            <a:cxnLst/>
            <a:rect l="l" t="t" r="r" b="b"/>
            <a:pathLst>
              <a:path w="687133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71412" y="57149"/>
                </a:lnTo>
                <a:lnTo>
                  <a:pt x="71424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6871334" h="85725">
                <a:moveTo>
                  <a:pt x="85725" y="28574"/>
                </a:moveTo>
                <a:lnTo>
                  <a:pt x="71424" y="28574"/>
                </a:lnTo>
                <a:lnTo>
                  <a:pt x="71412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6871334" h="85725">
                <a:moveTo>
                  <a:pt x="6871258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6871258" y="57149"/>
                </a:lnTo>
                <a:lnTo>
                  <a:pt x="6871258" y="28574"/>
                </a:lnTo>
                <a:close/>
              </a:path>
            </a:pathLst>
          </a:custGeom>
          <a:solidFill>
            <a:srgbClr val="DB4437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45" name="object 45"/>
          <p:cNvSpPr txBox="1"/>
          <p:nvPr/>
        </p:nvSpPr>
        <p:spPr>
          <a:xfrm>
            <a:off x="7457313" y="3918915"/>
            <a:ext cx="138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b="1" spc="-10" noProof="0" dirty="0" err="1">
                <a:solidFill>
                  <a:srgbClr val="DB4437"/>
                </a:solidFill>
                <a:latin typeface="Roboto"/>
                <a:cs typeface="Roboto"/>
              </a:rPr>
              <a:t>Backpropagation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93891" y="1569834"/>
            <a:ext cx="897890" cy="40640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715"/>
              </a:spcBef>
            </a:pPr>
            <a:r>
              <a:rPr lang="es-PE" sz="1400" spc="-20" noProof="0" dirty="0" err="1">
                <a:solidFill>
                  <a:srgbClr val="1F1F1F"/>
                </a:solidFill>
                <a:latin typeface="Arial MT"/>
                <a:cs typeface="Arial MT"/>
              </a:rPr>
              <a:t>Loss</a:t>
            </a:r>
            <a:endParaRPr lang="es-PE" sz="1400" noProof="0" dirty="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62572" y="1975739"/>
            <a:ext cx="160655" cy="616585"/>
            <a:chOff x="6362572" y="1975739"/>
            <a:chExt cx="160655" cy="616585"/>
          </a:xfrm>
        </p:grpSpPr>
        <p:sp>
          <p:nvSpPr>
            <p:cNvPr id="48" name="object 48"/>
            <p:cNvSpPr/>
            <p:nvPr/>
          </p:nvSpPr>
          <p:spPr>
            <a:xfrm>
              <a:off x="6404609" y="1975739"/>
              <a:ext cx="76200" cy="424180"/>
            </a:xfrm>
            <a:custGeom>
              <a:avLst/>
              <a:gdLst/>
              <a:ahLst/>
              <a:cxnLst/>
              <a:rect l="l" t="t" r="r" b="b"/>
              <a:pathLst>
                <a:path w="76200" h="424180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23672"/>
                  </a:lnTo>
                  <a:lnTo>
                    <a:pt x="42925" y="423672"/>
                  </a:lnTo>
                  <a:lnTo>
                    <a:pt x="42925" y="63500"/>
                  </a:lnTo>
                  <a:close/>
                </a:path>
                <a:path w="76200" h="424180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4180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2572" y="2441257"/>
              <a:ext cx="160337" cy="150812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6891528" y="1732407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894" y="33273"/>
                </a:moveTo>
                <a:lnTo>
                  <a:pt x="422148" y="33273"/>
                </a:lnTo>
                <a:lnTo>
                  <a:pt x="422275" y="42671"/>
                </a:lnTo>
                <a:lnTo>
                  <a:pt x="409638" y="42846"/>
                </a:lnTo>
                <a:lnTo>
                  <a:pt x="410082" y="76200"/>
                </a:lnTo>
                <a:lnTo>
                  <a:pt x="485775" y="37083"/>
                </a:lnTo>
                <a:lnTo>
                  <a:pt x="477894" y="33273"/>
                </a:lnTo>
                <a:close/>
              </a:path>
              <a:path w="485775" h="76200">
                <a:moveTo>
                  <a:pt x="409512" y="33445"/>
                </a:moveTo>
                <a:lnTo>
                  <a:pt x="0" y="38988"/>
                </a:lnTo>
                <a:lnTo>
                  <a:pt x="126" y="48513"/>
                </a:lnTo>
                <a:lnTo>
                  <a:pt x="409638" y="42846"/>
                </a:lnTo>
                <a:lnTo>
                  <a:pt x="409512" y="33445"/>
                </a:lnTo>
                <a:close/>
              </a:path>
              <a:path w="485775" h="76200">
                <a:moveTo>
                  <a:pt x="422148" y="33273"/>
                </a:moveTo>
                <a:lnTo>
                  <a:pt x="409512" y="33445"/>
                </a:lnTo>
                <a:lnTo>
                  <a:pt x="409638" y="42846"/>
                </a:lnTo>
                <a:lnTo>
                  <a:pt x="422275" y="42671"/>
                </a:lnTo>
                <a:lnTo>
                  <a:pt x="422148" y="33273"/>
                </a:lnTo>
                <a:close/>
              </a:path>
              <a:path w="485775" h="76200">
                <a:moveTo>
                  <a:pt x="409067" y="0"/>
                </a:moveTo>
                <a:lnTo>
                  <a:pt x="409510" y="33273"/>
                </a:lnTo>
                <a:lnTo>
                  <a:pt x="409512" y="33445"/>
                </a:lnTo>
                <a:lnTo>
                  <a:pt x="422148" y="33273"/>
                </a:lnTo>
                <a:lnTo>
                  <a:pt x="477894" y="33273"/>
                </a:lnTo>
                <a:lnTo>
                  <a:pt x="409067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0653" y="1621853"/>
            <a:ext cx="1004887" cy="325437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4984369" y="976883"/>
            <a:ext cx="541655" cy="161544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vert" wrap="square" lIns="0" tIns="157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40"/>
              </a:spcBef>
            </a:pPr>
            <a:r>
              <a:rPr lang="es-PE" sz="1400" spc="-10" noProof="0" dirty="0">
                <a:solidFill>
                  <a:srgbClr val="1F1F1F"/>
                </a:solidFill>
                <a:latin typeface="Arial MT"/>
                <a:cs typeface="Arial MT"/>
              </a:rPr>
              <a:t>Output</a:t>
            </a:r>
            <a:endParaRPr lang="es-PE" sz="1400" noProof="0" dirty="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516879" y="1507997"/>
            <a:ext cx="485775" cy="309245"/>
            <a:chOff x="5516879" y="1507997"/>
            <a:chExt cx="485775" cy="309245"/>
          </a:xfrm>
        </p:grpSpPr>
        <p:sp>
          <p:nvSpPr>
            <p:cNvPr id="54" name="object 54"/>
            <p:cNvSpPr/>
            <p:nvPr/>
          </p:nvSpPr>
          <p:spPr>
            <a:xfrm>
              <a:off x="5516879" y="1740915"/>
              <a:ext cx="485775" cy="76200"/>
            </a:xfrm>
            <a:custGeom>
              <a:avLst/>
              <a:gdLst/>
              <a:ahLst/>
              <a:cxnLst/>
              <a:rect l="l" t="t" r="r" b="b"/>
              <a:pathLst>
                <a:path w="485775" h="76200">
                  <a:moveTo>
                    <a:pt x="477866" y="33147"/>
                  </a:moveTo>
                  <a:lnTo>
                    <a:pt x="422148" y="33147"/>
                  </a:lnTo>
                  <a:lnTo>
                    <a:pt x="422275" y="42672"/>
                  </a:lnTo>
                  <a:lnTo>
                    <a:pt x="409639" y="42843"/>
                  </a:lnTo>
                  <a:lnTo>
                    <a:pt x="410083" y="76073"/>
                  </a:lnTo>
                  <a:lnTo>
                    <a:pt x="485775" y="36957"/>
                  </a:lnTo>
                  <a:lnTo>
                    <a:pt x="477866" y="33147"/>
                  </a:lnTo>
                  <a:close/>
                </a:path>
                <a:path w="485775" h="76200">
                  <a:moveTo>
                    <a:pt x="409511" y="33318"/>
                  </a:moveTo>
                  <a:lnTo>
                    <a:pt x="0" y="38862"/>
                  </a:lnTo>
                  <a:lnTo>
                    <a:pt x="50" y="42672"/>
                  </a:lnTo>
                  <a:lnTo>
                    <a:pt x="127" y="48387"/>
                  </a:lnTo>
                  <a:lnTo>
                    <a:pt x="409639" y="42843"/>
                  </a:lnTo>
                  <a:lnTo>
                    <a:pt x="409560" y="36957"/>
                  </a:lnTo>
                  <a:lnTo>
                    <a:pt x="409511" y="33318"/>
                  </a:lnTo>
                  <a:close/>
                </a:path>
                <a:path w="485775" h="76200">
                  <a:moveTo>
                    <a:pt x="422148" y="33147"/>
                  </a:moveTo>
                  <a:lnTo>
                    <a:pt x="409511" y="33318"/>
                  </a:lnTo>
                  <a:lnTo>
                    <a:pt x="409560" y="36957"/>
                  </a:lnTo>
                  <a:lnTo>
                    <a:pt x="409639" y="42843"/>
                  </a:lnTo>
                  <a:lnTo>
                    <a:pt x="422275" y="42672"/>
                  </a:lnTo>
                  <a:lnTo>
                    <a:pt x="422148" y="33147"/>
                  </a:lnTo>
                  <a:close/>
                </a:path>
                <a:path w="485775" h="76200">
                  <a:moveTo>
                    <a:pt x="409067" y="0"/>
                  </a:moveTo>
                  <a:lnTo>
                    <a:pt x="409509" y="33147"/>
                  </a:lnTo>
                  <a:lnTo>
                    <a:pt x="409511" y="33318"/>
                  </a:lnTo>
                  <a:lnTo>
                    <a:pt x="422148" y="33147"/>
                  </a:lnTo>
                  <a:lnTo>
                    <a:pt x="477866" y="33147"/>
                  </a:lnTo>
                  <a:lnTo>
                    <a:pt x="409067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9566" y="1507997"/>
              <a:ext cx="160337" cy="203200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5697346" y="720026"/>
            <a:ext cx="1443355" cy="741680"/>
            <a:chOff x="5697346" y="720026"/>
            <a:chExt cx="1443355" cy="741680"/>
          </a:xfrm>
        </p:grpSpPr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97346" y="720026"/>
              <a:ext cx="1442974" cy="32543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721603" y="1026540"/>
              <a:ext cx="76200" cy="435609"/>
            </a:xfrm>
            <a:custGeom>
              <a:avLst/>
              <a:gdLst/>
              <a:ahLst/>
              <a:cxnLst/>
              <a:rect l="l" t="t" r="r" b="b"/>
              <a:pathLst>
                <a:path w="76200" h="435609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35101"/>
                  </a:lnTo>
                  <a:lnTo>
                    <a:pt x="42925" y="435101"/>
                  </a:lnTo>
                  <a:lnTo>
                    <a:pt x="42925" y="63500"/>
                  </a:lnTo>
                  <a:close/>
                </a:path>
                <a:path w="76200" h="435609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35609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26821" y="4552594"/>
            <a:ext cx="3963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>
                <a:latin typeface="Roboto"/>
                <a:cs typeface="Roboto"/>
              </a:rPr>
              <a:t>Resolvemos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latin typeface="Roboto"/>
                <a:cs typeface="Roboto"/>
              </a:rPr>
              <a:t>backpropagation</a:t>
            </a:r>
            <a:r>
              <a:rPr lang="es-PE" sz="1400" spc="-2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en forma</a:t>
            </a:r>
            <a:r>
              <a:rPr lang="es-PE" sz="1400" spc="-1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numérica:</a:t>
            </a:r>
            <a:endParaRPr lang="es-PE" sz="1400" noProof="0" dirty="0">
              <a:latin typeface="Roboto"/>
              <a:cs typeface="Roboto"/>
            </a:endParaRPr>
          </a:p>
        </p:txBody>
      </p:sp>
      <p:pic>
        <p:nvPicPr>
          <p:cNvPr id="60" name="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03369" y="4561814"/>
            <a:ext cx="2312670" cy="2400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Solución</a:t>
            </a:r>
            <a:r>
              <a:rPr lang="es-PE" spc="35" noProof="0" dirty="0"/>
              <a:t> </a:t>
            </a:r>
            <a:r>
              <a:rPr lang="es-PE" noProof="0" dirty="0"/>
              <a:t>de</a:t>
            </a:r>
            <a:r>
              <a:rPr lang="es-PE" spc="-20" noProof="0" dirty="0"/>
              <a:t> </a:t>
            </a:r>
            <a:r>
              <a:rPr lang="es-PE" noProof="0" dirty="0"/>
              <a:t>XOR</a:t>
            </a:r>
            <a:r>
              <a:rPr lang="es-PE" spc="5" noProof="0" dirty="0"/>
              <a:t> </a:t>
            </a:r>
            <a:r>
              <a:rPr lang="es-PE" noProof="0" dirty="0"/>
              <a:t>con red</a:t>
            </a:r>
            <a:r>
              <a:rPr lang="es-PE" spc="-15" noProof="0" dirty="0"/>
              <a:t> </a:t>
            </a:r>
            <a:r>
              <a:rPr lang="es-PE" noProof="0" dirty="0"/>
              <a:t>neuronal </a:t>
            </a:r>
            <a:r>
              <a:rPr lang="es-PE" spc="-10" noProof="0" dirty="0"/>
              <a:t>simple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96047" y="657161"/>
            <a:ext cx="1448435" cy="1751330"/>
            <a:chOff x="1396047" y="657161"/>
            <a:chExt cx="1448435" cy="1751330"/>
          </a:xfrm>
        </p:grpSpPr>
        <p:sp>
          <p:nvSpPr>
            <p:cNvPr id="5" name="object 5"/>
            <p:cNvSpPr/>
            <p:nvPr/>
          </p:nvSpPr>
          <p:spPr>
            <a:xfrm>
              <a:off x="1410335" y="671448"/>
              <a:ext cx="1419860" cy="1722755"/>
            </a:xfrm>
            <a:custGeom>
              <a:avLst/>
              <a:gdLst/>
              <a:ahLst/>
              <a:cxnLst/>
              <a:rect l="l" t="t" r="r" b="b"/>
              <a:pathLst>
                <a:path w="1419860" h="1722755">
                  <a:moveTo>
                    <a:pt x="0" y="1722246"/>
                  </a:moveTo>
                  <a:lnTo>
                    <a:pt x="1419860" y="1722246"/>
                  </a:lnTo>
                  <a:lnTo>
                    <a:pt x="1419860" y="0"/>
                  </a:lnTo>
                  <a:lnTo>
                    <a:pt x="0" y="0"/>
                  </a:lnTo>
                  <a:lnTo>
                    <a:pt x="0" y="1722246"/>
                  </a:lnTo>
                  <a:close/>
                </a:path>
              </a:pathLst>
            </a:custGeom>
            <a:ln w="2857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519555" y="792479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40">
                  <a:moveTo>
                    <a:pt x="0" y="337693"/>
                  </a:moveTo>
                  <a:lnTo>
                    <a:pt x="12107" y="269618"/>
                  </a:lnTo>
                  <a:lnTo>
                    <a:pt x="46831" y="206222"/>
                  </a:lnTo>
                  <a:lnTo>
                    <a:pt x="71924" y="176701"/>
                  </a:lnTo>
                  <a:lnTo>
                    <a:pt x="101771" y="148859"/>
                  </a:lnTo>
                  <a:lnTo>
                    <a:pt x="136073" y="122863"/>
                  </a:lnTo>
                  <a:lnTo>
                    <a:pt x="174529" y="98885"/>
                  </a:lnTo>
                  <a:lnTo>
                    <a:pt x="216840" y="77093"/>
                  </a:lnTo>
                  <a:lnTo>
                    <a:pt x="262706" y="57656"/>
                  </a:lnTo>
                  <a:lnTo>
                    <a:pt x="311827" y="40745"/>
                  </a:lnTo>
                  <a:lnTo>
                    <a:pt x="363902" y="26529"/>
                  </a:lnTo>
                  <a:lnTo>
                    <a:pt x="418633" y="15176"/>
                  </a:lnTo>
                  <a:lnTo>
                    <a:pt x="475719" y="6858"/>
                  </a:lnTo>
                  <a:lnTo>
                    <a:pt x="534860" y="1742"/>
                  </a:lnTo>
                  <a:lnTo>
                    <a:pt x="595757" y="0"/>
                  </a:lnTo>
                  <a:lnTo>
                    <a:pt x="656675" y="1742"/>
                  </a:lnTo>
                  <a:lnTo>
                    <a:pt x="715836" y="6858"/>
                  </a:lnTo>
                  <a:lnTo>
                    <a:pt x="772939" y="15176"/>
                  </a:lnTo>
                  <a:lnTo>
                    <a:pt x="827684" y="26529"/>
                  </a:lnTo>
                  <a:lnTo>
                    <a:pt x="879772" y="40745"/>
                  </a:lnTo>
                  <a:lnTo>
                    <a:pt x="928903" y="57656"/>
                  </a:lnTo>
                  <a:lnTo>
                    <a:pt x="974777" y="77093"/>
                  </a:lnTo>
                  <a:lnTo>
                    <a:pt x="1017095" y="98885"/>
                  </a:lnTo>
                  <a:lnTo>
                    <a:pt x="1055556" y="122863"/>
                  </a:lnTo>
                  <a:lnTo>
                    <a:pt x="1089862" y="148859"/>
                  </a:lnTo>
                  <a:lnTo>
                    <a:pt x="1119712" y="176701"/>
                  </a:lnTo>
                  <a:lnTo>
                    <a:pt x="1144807" y="206222"/>
                  </a:lnTo>
                  <a:lnTo>
                    <a:pt x="1179533" y="269618"/>
                  </a:lnTo>
                  <a:lnTo>
                    <a:pt x="1191640" y="337693"/>
                  </a:lnTo>
                  <a:lnTo>
                    <a:pt x="1188564" y="372231"/>
                  </a:lnTo>
                  <a:lnTo>
                    <a:pt x="1164847" y="438146"/>
                  </a:lnTo>
                  <a:lnTo>
                    <a:pt x="1119712" y="498713"/>
                  </a:lnTo>
                  <a:lnTo>
                    <a:pt x="1089862" y="526567"/>
                  </a:lnTo>
                  <a:lnTo>
                    <a:pt x="1055556" y="552573"/>
                  </a:lnTo>
                  <a:lnTo>
                    <a:pt x="1017095" y="576564"/>
                  </a:lnTo>
                  <a:lnTo>
                    <a:pt x="974777" y="598368"/>
                  </a:lnTo>
                  <a:lnTo>
                    <a:pt x="928903" y="617816"/>
                  </a:lnTo>
                  <a:lnTo>
                    <a:pt x="879772" y="634737"/>
                  </a:lnTo>
                  <a:lnTo>
                    <a:pt x="827684" y="648964"/>
                  </a:lnTo>
                  <a:lnTo>
                    <a:pt x="772939" y="660324"/>
                  </a:lnTo>
                  <a:lnTo>
                    <a:pt x="715836" y="668649"/>
                  </a:lnTo>
                  <a:lnTo>
                    <a:pt x="656675" y="673768"/>
                  </a:lnTo>
                  <a:lnTo>
                    <a:pt x="595757" y="675513"/>
                  </a:lnTo>
                  <a:lnTo>
                    <a:pt x="534860" y="673768"/>
                  </a:lnTo>
                  <a:lnTo>
                    <a:pt x="475719" y="668649"/>
                  </a:lnTo>
                  <a:lnTo>
                    <a:pt x="418633" y="660324"/>
                  </a:lnTo>
                  <a:lnTo>
                    <a:pt x="363902" y="648964"/>
                  </a:lnTo>
                  <a:lnTo>
                    <a:pt x="311827" y="634737"/>
                  </a:lnTo>
                  <a:lnTo>
                    <a:pt x="262706" y="617816"/>
                  </a:lnTo>
                  <a:lnTo>
                    <a:pt x="216840" y="598368"/>
                  </a:lnTo>
                  <a:lnTo>
                    <a:pt x="174529" y="576564"/>
                  </a:lnTo>
                  <a:lnTo>
                    <a:pt x="136073" y="552573"/>
                  </a:lnTo>
                  <a:lnTo>
                    <a:pt x="101771" y="526567"/>
                  </a:lnTo>
                  <a:lnTo>
                    <a:pt x="71924" y="498713"/>
                  </a:lnTo>
                  <a:lnTo>
                    <a:pt x="46831" y="469183"/>
                  </a:lnTo>
                  <a:lnTo>
                    <a:pt x="12107" y="405772"/>
                  </a:lnTo>
                  <a:lnTo>
                    <a:pt x="0" y="33769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7773" y="986789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i,1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i,1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15311" y="792480"/>
            <a:ext cx="635" cy="675640"/>
          </a:xfrm>
          <a:custGeom>
            <a:avLst/>
            <a:gdLst/>
            <a:ahLst/>
            <a:cxnLst/>
            <a:rect l="l" t="t" r="r" b="b"/>
            <a:pathLst>
              <a:path w="635" h="675640">
                <a:moveTo>
                  <a:pt x="0" y="0"/>
                </a:moveTo>
                <a:lnTo>
                  <a:pt x="126" y="675513"/>
                </a:lnTo>
              </a:path>
            </a:pathLst>
          </a:custGeom>
          <a:ln w="19050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9" name="object 9"/>
          <p:cNvSpPr txBox="1"/>
          <p:nvPr/>
        </p:nvSpPr>
        <p:spPr>
          <a:xfrm>
            <a:off x="182879" y="1122553"/>
            <a:ext cx="32131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02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19555" y="1572005"/>
            <a:ext cx="1191895" cy="675640"/>
          </a:xfrm>
          <a:custGeom>
            <a:avLst/>
            <a:gdLst/>
            <a:ahLst/>
            <a:cxnLst/>
            <a:rect l="l" t="t" r="r" b="b"/>
            <a:pathLst>
              <a:path w="1191895" h="675639">
                <a:moveTo>
                  <a:pt x="0" y="337820"/>
                </a:moveTo>
                <a:lnTo>
                  <a:pt x="12107" y="269740"/>
                </a:lnTo>
                <a:lnTo>
                  <a:pt x="46831" y="206329"/>
                </a:lnTo>
                <a:lnTo>
                  <a:pt x="71924" y="176799"/>
                </a:lnTo>
                <a:lnTo>
                  <a:pt x="101771" y="148945"/>
                </a:lnTo>
                <a:lnTo>
                  <a:pt x="136073" y="122939"/>
                </a:lnTo>
                <a:lnTo>
                  <a:pt x="174529" y="98948"/>
                </a:lnTo>
                <a:lnTo>
                  <a:pt x="216840" y="77144"/>
                </a:lnTo>
                <a:lnTo>
                  <a:pt x="262706" y="57696"/>
                </a:lnTo>
                <a:lnTo>
                  <a:pt x="311827" y="40775"/>
                </a:lnTo>
                <a:lnTo>
                  <a:pt x="363902" y="26548"/>
                </a:lnTo>
                <a:lnTo>
                  <a:pt x="418633" y="15188"/>
                </a:lnTo>
                <a:lnTo>
                  <a:pt x="475719" y="6863"/>
                </a:lnTo>
                <a:lnTo>
                  <a:pt x="534860" y="1744"/>
                </a:lnTo>
                <a:lnTo>
                  <a:pt x="595757" y="0"/>
                </a:lnTo>
                <a:lnTo>
                  <a:pt x="656675" y="1744"/>
                </a:lnTo>
                <a:lnTo>
                  <a:pt x="715836" y="6863"/>
                </a:lnTo>
                <a:lnTo>
                  <a:pt x="772939" y="15188"/>
                </a:lnTo>
                <a:lnTo>
                  <a:pt x="827684" y="26548"/>
                </a:lnTo>
                <a:lnTo>
                  <a:pt x="879772" y="40775"/>
                </a:lnTo>
                <a:lnTo>
                  <a:pt x="928903" y="57696"/>
                </a:lnTo>
                <a:lnTo>
                  <a:pt x="974777" y="77144"/>
                </a:lnTo>
                <a:lnTo>
                  <a:pt x="1017095" y="98948"/>
                </a:lnTo>
                <a:lnTo>
                  <a:pt x="1055556" y="122939"/>
                </a:lnTo>
                <a:lnTo>
                  <a:pt x="1089862" y="148945"/>
                </a:lnTo>
                <a:lnTo>
                  <a:pt x="1119712" y="176799"/>
                </a:lnTo>
                <a:lnTo>
                  <a:pt x="1144807" y="206329"/>
                </a:lnTo>
                <a:lnTo>
                  <a:pt x="1179533" y="269740"/>
                </a:lnTo>
                <a:lnTo>
                  <a:pt x="1191640" y="337820"/>
                </a:lnTo>
                <a:lnTo>
                  <a:pt x="1188564" y="372358"/>
                </a:lnTo>
                <a:lnTo>
                  <a:pt x="1164847" y="438273"/>
                </a:lnTo>
                <a:lnTo>
                  <a:pt x="1119712" y="498840"/>
                </a:lnTo>
                <a:lnTo>
                  <a:pt x="1089862" y="526694"/>
                </a:lnTo>
                <a:lnTo>
                  <a:pt x="1055556" y="552700"/>
                </a:lnTo>
                <a:lnTo>
                  <a:pt x="1017095" y="576691"/>
                </a:lnTo>
                <a:lnTo>
                  <a:pt x="974777" y="598495"/>
                </a:lnTo>
                <a:lnTo>
                  <a:pt x="928903" y="617943"/>
                </a:lnTo>
                <a:lnTo>
                  <a:pt x="879772" y="634864"/>
                </a:lnTo>
                <a:lnTo>
                  <a:pt x="827684" y="649091"/>
                </a:lnTo>
                <a:lnTo>
                  <a:pt x="772939" y="660451"/>
                </a:lnTo>
                <a:lnTo>
                  <a:pt x="715836" y="668776"/>
                </a:lnTo>
                <a:lnTo>
                  <a:pt x="656675" y="673895"/>
                </a:lnTo>
                <a:lnTo>
                  <a:pt x="595757" y="675640"/>
                </a:lnTo>
                <a:lnTo>
                  <a:pt x="534860" y="673895"/>
                </a:lnTo>
                <a:lnTo>
                  <a:pt x="475719" y="668776"/>
                </a:lnTo>
                <a:lnTo>
                  <a:pt x="418633" y="660451"/>
                </a:lnTo>
                <a:lnTo>
                  <a:pt x="363902" y="649091"/>
                </a:lnTo>
                <a:lnTo>
                  <a:pt x="311827" y="634864"/>
                </a:lnTo>
                <a:lnTo>
                  <a:pt x="262706" y="617943"/>
                </a:lnTo>
                <a:lnTo>
                  <a:pt x="216840" y="598495"/>
                </a:lnTo>
                <a:lnTo>
                  <a:pt x="174529" y="576691"/>
                </a:lnTo>
                <a:lnTo>
                  <a:pt x="136073" y="552700"/>
                </a:lnTo>
                <a:lnTo>
                  <a:pt x="101771" y="526694"/>
                </a:lnTo>
                <a:lnTo>
                  <a:pt x="71924" y="498840"/>
                </a:lnTo>
                <a:lnTo>
                  <a:pt x="46831" y="469310"/>
                </a:lnTo>
                <a:lnTo>
                  <a:pt x="12107" y="405899"/>
                </a:lnTo>
                <a:lnTo>
                  <a:pt x="0" y="33782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1747773" y="1766697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i,2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i,2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6021" y="1055331"/>
            <a:ext cx="4239260" cy="1202055"/>
            <a:chOff x="476021" y="1055331"/>
            <a:chExt cx="4239260" cy="1202055"/>
          </a:xfrm>
        </p:grpSpPr>
        <p:sp>
          <p:nvSpPr>
            <p:cNvPr id="13" name="object 13"/>
            <p:cNvSpPr/>
            <p:nvPr/>
          </p:nvSpPr>
          <p:spPr>
            <a:xfrm>
              <a:off x="2115312" y="1572005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39">
                  <a:moveTo>
                    <a:pt x="0" y="0"/>
                  </a:moveTo>
                  <a:lnTo>
                    <a:pt x="126" y="675640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76021" y="1103375"/>
              <a:ext cx="1043940" cy="826769"/>
            </a:xfrm>
            <a:custGeom>
              <a:avLst/>
              <a:gdLst/>
              <a:ahLst/>
              <a:cxnLst/>
              <a:rect l="l" t="t" r="r" b="b"/>
              <a:pathLst>
                <a:path w="1043940" h="826769">
                  <a:moveTo>
                    <a:pt x="1043533" y="26797"/>
                  </a:moveTo>
                  <a:lnTo>
                    <a:pt x="971194" y="2806"/>
                  </a:lnTo>
                  <a:lnTo>
                    <a:pt x="971194" y="58953"/>
                  </a:lnTo>
                  <a:lnTo>
                    <a:pt x="364756" y="372554"/>
                  </a:lnTo>
                  <a:lnTo>
                    <a:pt x="50647" y="174383"/>
                  </a:lnTo>
                  <a:lnTo>
                    <a:pt x="965987" y="42875"/>
                  </a:lnTo>
                  <a:lnTo>
                    <a:pt x="969987" y="50596"/>
                  </a:lnTo>
                  <a:lnTo>
                    <a:pt x="971194" y="58953"/>
                  </a:lnTo>
                  <a:lnTo>
                    <a:pt x="971194" y="2806"/>
                  </a:lnTo>
                  <a:lnTo>
                    <a:pt x="962761" y="0"/>
                  </a:lnTo>
                  <a:lnTo>
                    <a:pt x="966736" y="27952"/>
                  </a:lnTo>
                  <a:lnTo>
                    <a:pt x="958316" y="28067"/>
                  </a:lnTo>
                  <a:lnTo>
                    <a:pt x="961288" y="33820"/>
                  </a:lnTo>
                  <a:lnTo>
                    <a:pt x="20180" y="169164"/>
                  </a:lnTo>
                  <a:lnTo>
                    <a:pt x="21526" y="178562"/>
                  </a:lnTo>
                  <a:lnTo>
                    <a:pt x="39217" y="176022"/>
                  </a:lnTo>
                  <a:lnTo>
                    <a:pt x="38112" y="177800"/>
                  </a:lnTo>
                  <a:lnTo>
                    <a:pt x="354888" y="377659"/>
                  </a:lnTo>
                  <a:lnTo>
                    <a:pt x="8763" y="556641"/>
                  </a:lnTo>
                  <a:lnTo>
                    <a:pt x="13144" y="565023"/>
                  </a:lnTo>
                  <a:lnTo>
                    <a:pt x="364147" y="383501"/>
                  </a:lnTo>
                  <a:lnTo>
                    <a:pt x="974051" y="768273"/>
                  </a:lnTo>
                  <a:lnTo>
                    <a:pt x="972096" y="776897"/>
                  </a:lnTo>
                  <a:lnTo>
                    <a:pt x="967397" y="784339"/>
                  </a:lnTo>
                  <a:lnTo>
                    <a:pt x="2108" y="566293"/>
                  </a:lnTo>
                  <a:lnTo>
                    <a:pt x="0" y="575564"/>
                  </a:lnTo>
                  <a:lnTo>
                    <a:pt x="962012" y="792886"/>
                  </a:lnTo>
                  <a:lnTo>
                    <a:pt x="958824" y="797941"/>
                  </a:lnTo>
                  <a:lnTo>
                    <a:pt x="967155" y="798779"/>
                  </a:lnTo>
                  <a:lnTo>
                    <a:pt x="960856" y="826770"/>
                  </a:lnTo>
                  <a:lnTo>
                    <a:pt x="1043533" y="806450"/>
                  </a:lnTo>
                  <a:lnTo>
                    <a:pt x="1025486" y="776605"/>
                  </a:lnTo>
                  <a:lnTo>
                    <a:pt x="999464" y="733552"/>
                  </a:lnTo>
                  <a:lnTo>
                    <a:pt x="984148" y="757821"/>
                  </a:lnTo>
                  <a:lnTo>
                    <a:pt x="977620" y="752475"/>
                  </a:lnTo>
                  <a:lnTo>
                    <a:pt x="976287" y="758355"/>
                  </a:lnTo>
                  <a:lnTo>
                    <a:pt x="374015" y="378396"/>
                  </a:lnTo>
                  <a:lnTo>
                    <a:pt x="972604" y="68846"/>
                  </a:lnTo>
                  <a:lnTo>
                    <a:pt x="973556" y="75438"/>
                  </a:lnTo>
                  <a:lnTo>
                    <a:pt x="980414" y="70675"/>
                  </a:lnTo>
                  <a:lnTo>
                    <a:pt x="993368" y="95631"/>
                  </a:lnTo>
                  <a:lnTo>
                    <a:pt x="1025296" y="51816"/>
                  </a:lnTo>
                  <a:lnTo>
                    <a:pt x="1043533" y="26797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0537" y="1069619"/>
              <a:ext cx="1419860" cy="925830"/>
            </a:xfrm>
            <a:custGeom>
              <a:avLst/>
              <a:gdLst/>
              <a:ahLst/>
              <a:cxnLst/>
              <a:rect l="l" t="t" r="r" b="b"/>
              <a:pathLst>
                <a:path w="1419860" h="925830">
                  <a:moveTo>
                    <a:pt x="0" y="925804"/>
                  </a:moveTo>
                  <a:lnTo>
                    <a:pt x="1419860" y="925804"/>
                  </a:lnTo>
                  <a:lnTo>
                    <a:pt x="1419860" y="0"/>
                  </a:lnTo>
                  <a:lnTo>
                    <a:pt x="0" y="0"/>
                  </a:lnTo>
                  <a:lnTo>
                    <a:pt x="0" y="925804"/>
                  </a:lnTo>
                  <a:close/>
                </a:path>
              </a:pathLst>
            </a:custGeom>
            <a:ln w="2857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3389756" y="1173606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39">
                  <a:moveTo>
                    <a:pt x="0" y="337819"/>
                  </a:moveTo>
                  <a:lnTo>
                    <a:pt x="12107" y="269740"/>
                  </a:lnTo>
                  <a:lnTo>
                    <a:pt x="46831" y="206329"/>
                  </a:lnTo>
                  <a:lnTo>
                    <a:pt x="71924" y="176799"/>
                  </a:lnTo>
                  <a:lnTo>
                    <a:pt x="101771" y="148945"/>
                  </a:lnTo>
                  <a:lnTo>
                    <a:pt x="136073" y="122939"/>
                  </a:lnTo>
                  <a:lnTo>
                    <a:pt x="174529" y="98948"/>
                  </a:lnTo>
                  <a:lnTo>
                    <a:pt x="216840" y="77144"/>
                  </a:lnTo>
                  <a:lnTo>
                    <a:pt x="262706" y="57696"/>
                  </a:lnTo>
                  <a:lnTo>
                    <a:pt x="311827" y="40775"/>
                  </a:lnTo>
                  <a:lnTo>
                    <a:pt x="363902" y="26548"/>
                  </a:lnTo>
                  <a:lnTo>
                    <a:pt x="418633" y="15188"/>
                  </a:lnTo>
                  <a:lnTo>
                    <a:pt x="475719" y="6863"/>
                  </a:lnTo>
                  <a:lnTo>
                    <a:pt x="534860" y="1744"/>
                  </a:lnTo>
                  <a:lnTo>
                    <a:pt x="595756" y="0"/>
                  </a:lnTo>
                  <a:lnTo>
                    <a:pt x="656675" y="1744"/>
                  </a:lnTo>
                  <a:lnTo>
                    <a:pt x="715836" y="6863"/>
                  </a:lnTo>
                  <a:lnTo>
                    <a:pt x="772939" y="15188"/>
                  </a:lnTo>
                  <a:lnTo>
                    <a:pt x="827684" y="26548"/>
                  </a:lnTo>
                  <a:lnTo>
                    <a:pt x="879772" y="40775"/>
                  </a:lnTo>
                  <a:lnTo>
                    <a:pt x="928903" y="57696"/>
                  </a:lnTo>
                  <a:lnTo>
                    <a:pt x="974777" y="77144"/>
                  </a:lnTo>
                  <a:lnTo>
                    <a:pt x="1017095" y="98948"/>
                  </a:lnTo>
                  <a:lnTo>
                    <a:pt x="1055556" y="122939"/>
                  </a:lnTo>
                  <a:lnTo>
                    <a:pt x="1089862" y="148945"/>
                  </a:lnTo>
                  <a:lnTo>
                    <a:pt x="1119712" y="176799"/>
                  </a:lnTo>
                  <a:lnTo>
                    <a:pt x="1144807" y="206329"/>
                  </a:lnTo>
                  <a:lnTo>
                    <a:pt x="1179533" y="269740"/>
                  </a:lnTo>
                  <a:lnTo>
                    <a:pt x="1191640" y="337819"/>
                  </a:lnTo>
                  <a:lnTo>
                    <a:pt x="1188564" y="372358"/>
                  </a:lnTo>
                  <a:lnTo>
                    <a:pt x="1164847" y="438273"/>
                  </a:lnTo>
                  <a:lnTo>
                    <a:pt x="1119712" y="498840"/>
                  </a:lnTo>
                  <a:lnTo>
                    <a:pt x="1089862" y="526694"/>
                  </a:lnTo>
                  <a:lnTo>
                    <a:pt x="1055556" y="552700"/>
                  </a:lnTo>
                  <a:lnTo>
                    <a:pt x="1017095" y="576691"/>
                  </a:lnTo>
                  <a:lnTo>
                    <a:pt x="974777" y="598495"/>
                  </a:lnTo>
                  <a:lnTo>
                    <a:pt x="928903" y="617943"/>
                  </a:lnTo>
                  <a:lnTo>
                    <a:pt x="879772" y="634864"/>
                  </a:lnTo>
                  <a:lnTo>
                    <a:pt x="827684" y="649091"/>
                  </a:lnTo>
                  <a:lnTo>
                    <a:pt x="772939" y="660451"/>
                  </a:lnTo>
                  <a:lnTo>
                    <a:pt x="715836" y="668776"/>
                  </a:lnTo>
                  <a:lnTo>
                    <a:pt x="656675" y="673895"/>
                  </a:lnTo>
                  <a:lnTo>
                    <a:pt x="595756" y="675639"/>
                  </a:lnTo>
                  <a:lnTo>
                    <a:pt x="534860" y="673895"/>
                  </a:lnTo>
                  <a:lnTo>
                    <a:pt x="475719" y="668776"/>
                  </a:lnTo>
                  <a:lnTo>
                    <a:pt x="418633" y="660451"/>
                  </a:lnTo>
                  <a:lnTo>
                    <a:pt x="363902" y="649091"/>
                  </a:lnTo>
                  <a:lnTo>
                    <a:pt x="311827" y="634864"/>
                  </a:lnTo>
                  <a:lnTo>
                    <a:pt x="262706" y="617943"/>
                  </a:lnTo>
                  <a:lnTo>
                    <a:pt x="216840" y="598495"/>
                  </a:lnTo>
                  <a:lnTo>
                    <a:pt x="174529" y="576691"/>
                  </a:lnTo>
                  <a:lnTo>
                    <a:pt x="136073" y="552700"/>
                  </a:lnTo>
                  <a:lnTo>
                    <a:pt x="101771" y="526694"/>
                  </a:lnTo>
                  <a:lnTo>
                    <a:pt x="71924" y="498840"/>
                  </a:lnTo>
                  <a:lnTo>
                    <a:pt x="46831" y="469310"/>
                  </a:lnTo>
                  <a:lnTo>
                    <a:pt x="12107" y="405899"/>
                  </a:lnTo>
                  <a:lnTo>
                    <a:pt x="0" y="33781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18229" y="1368044"/>
            <a:ext cx="5308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i,1</a:t>
            </a:r>
            <a:r>
              <a:rPr lang="es-PE" sz="700" noProof="0" dirty="0">
                <a:latin typeface="Arial MT"/>
                <a:cs typeface="Arial MT"/>
              </a:rPr>
              <a:t>(2)</a:t>
            </a:r>
            <a:r>
              <a:rPr lang="es-PE" sz="700" spc="480" noProof="0" dirty="0">
                <a:latin typeface="Arial MT"/>
                <a:cs typeface="Arial MT"/>
              </a:rPr>
              <a:t> </a:t>
            </a:r>
            <a:r>
              <a:rPr lang="es-PE" sz="1650" spc="15" baseline="-17676" noProof="0" dirty="0">
                <a:latin typeface="Times New Roman"/>
                <a:cs typeface="Times New Roman"/>
              </a:rPr>
              <a:t>–</a:t>
            </a:r>
            <a:endParaRPr lang="es-PE" sz="1650" baseline="-17676" noProof="0" dirty="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08782" y="1126108"/>
            <a:ext cx="2473325" cy="788035"/>
            <a:chOff x="2708782" y="1126108"/>
            <a:chExt cx="2473325" cy="788035"/>
          </a:xfrm>
        </p:grpSpPr>
        <p:sp>
          <p:nvSpPr>
            <p:cNvPr id="19" name="object 19"/>
            <p:cNvSpPr/>
            <p:nvPr/>
          </p:nvSpPr>
          <p:spPr>
            <a:xfrm>
              <a:off x="3985513" y="1173606"/>
              <a:ext cx="0" cy="675640"/>
            </a:xfrm>
            <a:custGeom>
              <a:avLst/>
              <a:gdLst/>
              <a:ahLst/>
              <a:cxnLst/>
              <a:rect l="l" t="t" r="r" b="b"/>
              <a:pathLst>
                <a:path h="675639">
                  <a:moveTo>
                    <a:pt x="0" y="0"/>
                  </a:moveTo>
                  <a:lnTo>
                    <a:pt x="0" y="675639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708783" y="1126108"/>
              <a:ext cx="2473325" cy="788035"/>
            </a:xfrm>
            <a:custGeom>
              <a:avLst/>
              <a:gdLst/>
              <a:ahLst/>
              <a:cxnLst/>
              <a:rect l="l" t="t" r="r" b="b"/>
              <a:pathLst>
                <a:path w="2473325" h="788035">
                  <a:moveTo>
                    <a:pt x="680974" y="385318"/>
                  </a:moveTo>
                  <a:lnTo>
                    <a:pt x="662762" y="358521"/>
                  </a:lnTo>
                  <a:lnTo>
                    <a:pt x="633222" y="314833"/>
                  </a:lnTo>
                  <a:lnTo>
                    <a:pt x="616877" y="343890"/>
                  </a:lnTo>
                  <a:lnTo>
                    <a:pt x="4699" y="0"/>
                  </a:lnTo>
                  <a:lnTo>
                    <a:pt x="0" y="8255"/>
                  </a:lnTo>
                  <a:lnTo>
                    <a:pt x="612178" y="352272"/>
                  </a:lnTo>
                  <a:lnTo>
                    <a:pt x="595871" y="381254"/>
                  </a:lnTo>
                  <a:lnTo>
                    <a:pt x="679881" y="385394"/>
                  </a:lnTo>
                  <a:lnTo>
                    <a:pt x="596011" y="391033"/>
                  </a:lnTo>
                  <a:lnTo>
                    <a:pt x="612914" y="419798"/>
                  </a:lnTo>
                  <a:lnTo>
                    <a:pt x="0" y="779653"/>
                  </a:lnTo>
                  <a:lnTo>
                    <a:pt x="4826" y="787781"/>
                  </a:lnTo>
                  <a:lnTo>
                    <a:pt x="617702" y="427939"/>
                  </a:lnTo>
                  <a:lnTo>
                    <a:pt x="634619" y="456692"/>
                  </a:lnTo>
                  <a:lnTo>
                    <a:pt x="662736" y="413385"/>
                  </a:lnTo>
                  <a:lnTo>
                    <a:pt x="680885" y="385445"/>
                  </a:lnTo>
                  <a:lnTo>
                    <a:pt x="680974" y="385318"/>
                  </a:lnTo>
                  <a:close/>
                </a:path>
                <a:path w="2473325" h="788035">
                  <a:moveTo>
                    <a:pt x="2473071" y="442468"/>
                  </a:moveTo>
                  <a:lnTo>
                    <a:pt x="2464917" y="438531"/>
                  </a:lnTo>
                  <a:lnTo>
                    <a:pt x="2396363" y="405384"/>
                  </a:lnTo>
                  <a:lnTo>
                    <a:pt x="2396794" y="438531"/>
                  </a:lnTo>
                  <a:lnTo>
                    <a:pt x="2396794" y="438708"/>
                  </a:lnTo>
                  <a:lnTo>
                    <a:pt x="1987296" y="444246"/>
                  </a:lnTo>
                  <a:lnTo>
                    <a:pt x="1987423" y="453771"/>
                  </a:lnTo>
                  <a:lnTo>
                    <a:pt x="2396921" y="448233"/>
                  </a:lnTo>
                  <a:lnTo>
                    <a:pt x="2397379" y="481584"/>
                  </a:lnTo>
                  <a:lnTo>
                    <a:pt x="2473071" y="442468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8765" y="1298574"/>
              <a:ext cx="160337" cy="2032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685794" y="2065782"/>
            <a:ext cx="6013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 err="1">
                <a:latin typeface="Roboto"/>
                <a:cs typeface="Roboto"/>
              </a:rPr>
              <a:t>Layer</a:t>
            </a:r>
            <a:r>
              <a:rPr lang="es-PE" sz="1400" spc="-55" noProof="0" dirty="0">
                <a:latin typeface="Roboto"/>
                <a:cs typeface="Roboto"/>
              </a:rPr>
              <a:t> </a:t>
            </a:r>
            <a:r>
              <a:rPr lang="es-PE" sz="1400" spc="-50" noProof="0" dirty="0">
                <a:latin typeface="Roboto"/>
                <a:cs typeface="Roboto"/>
              </a:rPr>
              <a:t>2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73217" y="1360538"/>
            <a:ext cx="897890" cy="40640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715"/>
              </a:spcBef>
            </a:pPr>
            <a:r>
              <a:rPr lang="es-PE" sz="1400" spc="-25" noProof="0" dirty="0">
                <a:solidFill>
                  <a:srgbClr val="1F1F1F"/>
                </a:solidFill>
                <a:latin typeface="Arial MT"/>
                <a:cs typeface="Arial MT"/>
              </a:rPr>
              <a:t>MSE</a:t>
            </a:r>
            <a:endParaRPr lang="es-PE" sz="1400" noProof="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46090" y="1788795"/>
            <a:ext cx="160655" cy="616585"/>
            <a:chOff x="5546090" y="1788795"/>
            <a:chExt cx="160655" cy="616585"/>
          </a:xfrm>
        </p:grpSpPr>
        <p:sp>
          <p:nvSpPr>
            <p:cNvPr id="25" name="object 25"/>
            <p:cNvSpPr/>
            <p:nvPr/>
          </p:nvSpPr>
          <p:spPr>
            <a:xfrm>
              <a:off x="5588254" y="1788795"/>
              <a:ext cx="76200" cy="423545"/>
            </a:xfrm>
            <a:custGeom>
              <a:avLst/>
              <a:gdLst/>
              <a:ahLst/>
              <a:cxnLst/>
              <a:rect l="l" t="t" r="r" b="b"/>
              <a:pathLst>
                <a:path w="76200" h="423544">
                  <a:moveTo>
                    <a:pt x="42799" y="63500"/>
                  </a:moveTo>
                  <a:lnTo>
                    <a:pt x="33274" y="63500"/>
                  </a:lnTo>
                  <a:lnTo>
                    <a:pt x="33274" y="423544"/>
                  </a:lnTo>
                  <a:lnTo>
                    <a:pt x="42799" y="423544"/>
                  </a:lnTo>
                  <a:lnTo>
                    <a:pt x="42799" y="63500"/>
                  </a:lnTo>
                  <a:close/>
                </a:path>
                <a:path w="76200" h="423544">
                  <a:moveTo>
                    <a:pt x="38100" y="0"/>
                  </a:moveTo>
                  <a:lnTo>
                    <a:pt x="0" y="76200"/>
                  </a:lnTo>
                  <a:lnTo>
                    <a:pt x="33274" y="76200"/>
                  </a:lnTo>
                  <a:lnTo>
                    <a:pt x="3327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3544">
                  <a:moveTo>
                    <a:pt x="69850" y="63500"/>
                  </a:moveTo>
                  <a:lnTo>
                    <a:pt x="42799" y="63500"/>
                  </a:lnTo>
                  <a:lnTo>
                    <a:pt x="42799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6090" y="2254313"/>
              <a:ext cx="160337" cy="150812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6070727" y="1523111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631" y="33147"/>
                </a:moveTo>
                <a:lnTo>
                  <a:pt x="422148" y="33147"/>
                </a:lnTo>
                <a:lnTo>
                  <a:pt x="422275" y="42672"/>
                </a:lnTo>
                <a:lnTo>
                  <a:pt x="409638" y="42843"/>
                </a:lnTo>
                <a:lnTo>
                  <a:pt x="410083" y="76200"/>
                </a:lnTo>
                <a:lnTo>
                  <a:pt x="485775" y="37084"/>
                </a:lnTo>
                <a:lnTo>
                  <a:pt x="477631" y="33147"/>
                </a:lnTo>
                <a:close/>
              </a:path>
              <a:path w="485775" h="76200">
                <a:moveTo>
                  <a:pt x="409511" y="33318"/>
                </a:moveTo>
                <a:lnTo>
                  <a:pt x="0" y="38862"/>
                </a:lnTo>
                <a:lnTo>
                  <a:pt x="126" y="48387"/>
                </a:lnTo>
                <a:lnTo>
                  <a:pt x="409638" y="42843"/>
                </a:lnTo>
                <a:lnTo>
                  <a:pt x="409511" y="33318"/>
                </a:lnTo>
                <a:close/>
              </a:path>
              <a:path w="485775" h="76200">
                <a:moveTo>
                  <a:pt x="422148" y="33147"/>
                </a:moveTo>
                <a:lnTo>
                  <a:pt x="409511" y="33318"/>
                </a:lnTo>
                <a:lnTo>
                  <a:pt x="409638" y="42843"/>
                </a:lnTo>
                <a:lnTo>
                  <a:pt x="422275" y="42672"/>
                </a:lnTo>
                <a:lnTo>
                  <a:pt x="422148" y="33147"/>
                </a:lnTo>
                <a:close/>
              </a:path>
              <a:path w="485775" h="76200">
                <a:moveTo>
                  <a:pt x="409067" y="0"/>
                </a:moveTo>
                <a:lnTo>
                  <a:pt x="409508" y="33147"/>
                </a:lnTo>
                <a:lnTo>
                  <a:pt x="409511" y="33318"/>
                </a:lnTo>
                <a:lnTo>
                  <a:pt x="422148" y="33147"/>
                </a:lnTo>
                <a:lnTo>
                  <a:pt x="477631" y="33147"/>
                </a:lnTo>
                <a:lnTo>
                  <a:pt x="409067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4165" y="3763276"/>
            <a:ext cx="1404874" cy="124618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61026" y="3763276"/>
            <a:ext cx="103198" cy="1246200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5715">
              <a:lnSpc>
                <a:spcPct val="100000"/>
              </a:lnSpc>
              <a:spcBef>
                <a:spcPts val="100"/>
              </a:spcBef>
            </a:pPr>
            <a:r>
              <a:rPr lang="es-PE" spc="-20" noProof="0" dirty="0" err="1"/>
              <a:t>Layer</a:t>
            </a:r>
            <a:r>
              <a:rPr lang="es-PE" spc="-30" noProof="0" dirty="0"/>
              <a:t> </a:t>
            </a:r>
            <a:r>
              <a:rPr lang="es-PE" spc="-50" noProof="0" dirty="0"/>
              <a:t>1</a:t>
            </a: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lang="es-PE" spc="-50" noProof="0" dirty="0"/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pc="-10" noProof="0" dirty="0"/>
              <a:t>Arquitectura</a:t>
            </a:r>
            <a:r>
              <a:rPr lang="es-PE" spc="-40" noProof="0" dirty="0"/>
              <a:t> </a:t>
            </a:r>
            <a:r>
              <a:rPr lang="es-PE" noProof="0" dirty="0"/>
              <a:t>de</a:t>
            </a:r>
            <a:r>
              <a:rPr lang="es-PE" spc="-40" noProof="0" dirty="0"/>
              <a:t> </a:t>
            </a:r>
            <a:r>
              <a:rPr lang="es-PE" noProof="0" dirty="0"/>
              <a:t>2</a:t>
            </a:r>
            <a:r>
              <a:rPr lang="es-PE" spc="-25" noProof="0" dirty="0"/>
              <a:t> </a:t>
            </a:r>
            <a:r>
              <a:rPr lang="es-PE" spc="-20" noProof="0" dirty="0" err="1"/>
              <a:t>layers</a:t>
            </a:r>
            <a:r>
              <a:rPr lang="es-PE" spc="-20" noProof="0" dirty="0"/>
              <a:t>:</a:t>
            </a:r>
            <a:r>
              <a:rPr lang="es-PE" spc="-40" noProof="0" dirty="0"/>
              <a:t> </a:t>
            </a:r>
            <a:r>
              <a:rPr lang="es-PE" noProof="0" dirty="0"/>
              <a:t>1</a:t>
            </a:r>
            <a:r>
              <a:rPr lang="es-PE" spc="-35" noProof="0" dirty="0"/>
              <a:t> </a:t>
            </a:r>
            <a:r>
              <a:rPr lang="es-PE" spc="-10" noProof="0" dirty="0" err="1"/>
              <a:t>layer</a:t>
            </a:r>
            <a:r>
              <a:rPr lang="es-PE" spc="-40" noProof="0" dirty="0"/>
              <a:t> </a:t>
            </a:r>
            <a:r>
              <a:rPr lang="es-PE" spc="-10" noProof="0" dirty="0" err="1"/>
              <a:t>hidden</a:t>
            </a:r>
            <a:r>
              <a:rPr lang="es-PE" spc="-10" noProof="0" dirty="0"/>
              <a:t>,</a:t>
            </a:r>
            <a:r>
              <a:rPr lang="es-PE" spc="-30" noProof="0" dirty="0"/>
              <a:t> </a:t>
            </a:r>
            <a:r>
              <a:rPr lang="es-PE" noProof="0" dirty="0"/>
              <a:t>1</a:t>
            </a:r>
            <a:r>
              <a:rPr lang="es-PE" spc="-35" noProof="0" dirty="0"/>
              <a:t> </a:t>
            </a:r>
            <a:r>
              <a:rPr lang="es-PE" spc="-10" noProof="0" dirty="0" err="1"/>
              <a:t>layer</a:t>
            </a:r>
            <a:r>
              <a:rPr lang="es-PE" spc="-40" noProof="0" dirty="0"/>
              <a:t> </a:t>
            </a:r>
            <a:r>
              <a:rPr lang="es-PE" noProof="0" dirty="0"/>
              <a:t>de</a:t>
            </a:r>
            <a:r>
              <a:rPr lang="es-PE" spc="-35" noProof="0" dirty="0"/>
              <a:t> </a:t>
            </a:r>
            <a:r>
              <a:rPr lang="es-PE" spc="-10" noProof="0" dirty="0"/>
              <a:t>salida</a:t>
            </a:r>
          </a:p>
          <a:p>
            <a:pPr marL="329565" indent="-316865">
              <a:lnSpc>
                <a:spcPct val="100000"/>
              </a:lnSpc>
              <a:spcBef>
                <a:spcPts val="840"/>
              </a:spcBef>
              <a:buChar char="-"/>
              <a:tabLst>
                <a:tab pos="329565" algn="l"/>
              </a:tabLst>
            </a:pPr>
            <a:r>
              <a:rPr lang="es-PE" noProof="0" dirty="0"/>
              <a:t>2</a:t>
            </a:r>
            <a:r>
              <a:rPr lang="es-PE" spc="-25" noProof="0" dirty="0"/>
              <a:t> </a:t>
            </a:r>
            <a:r>
              <a:rPr lang="es-PE" spc="-20" noProof="0" dirty="0"/>
              <a:t>neuronas</a:t>
            </a:r>
            <a:r>
              <a:rPr lang="es-PE" spc="-55" noProof="0" dirty="0"/>
              <a:t> </a:t>
            </a:r>
            <a:r>
              <a:rPr lang="es-PE" noProof="0" dirty="0"/>
              <a:t>en</a:t>
            </a:r>
            <a:r>
              <a:rPr lang="es-PE" spc="-25" noProof="0" dirty="0"/>
              <a:t> </a:t>
            </a:r>
            <a:r>
              <a:rPr lang="es-PE" noProof="0" dirty="0" err="1"/>
              <a:t>layer</a:t>
            </a:r>
            <a:r>
              <a:rPr lang="es-PE" spc="-35" noProof="0" dirty="0"/>
              <a:t> </a:t>
            </a:r>
            <a:r>
              <a:rPr lang="es-PE" noProof="0" dirty="0"/>
              <a:t>1,</a:t>
            </a:r>
            <a:r>
              <a:rPr lang="es-PE" spc="-35" noProof="0" dirty="0"/>
              <a:t> </a:t>
            </a:r>
            <a:r>
              <a:rPr lang="es-PE" spc="-10" noProof="0" dirty="0"/>
              <a:t>función</a:t>
            </a:r>
            <a:r>
              <a:rPr lang="es-PE" spc="-30" noProof="0" dirty="0"/>
              <a:t> </a:t>
            </a:r>
            <a:r>
              <a:rPr lang="es-PE" noProof="0" dirty="0"/>
              <a:t>de</a:t>
            </a:r>
            <a:r>
              <a:rPr lang="es-PE" spc="-35" noProof="0" dirty="0"/>
              <a:t> </a:t>
            </a:r>
            <a:r>
              <a:rPr lang="es-PE" spc="-10" noProof="0" dirty="0"/>
              <a:t>activación</a:t>
            </a:r>
            <a:r>
              <a:rPr lang="es-PE" spc="-20" noProof="0" dirty="0"/>
              <a:t> </a:t>
            </a:r>
            <a:r>
              <a:rPr lang="es-PE" spc="-10" noProof="0" dirty="0" err="1"/>
              <a:t>sigmoid</a:t>
            </a:r>
            <a:endParaRPr lang="es-PE" spc="-10" noProof="0" dirty="0"/>
          </a:p>
          <a:p>
            <a:pPr marL="329565" indent="-316865">
              <a:lnSpc>
                <a:spcPct val="100000"/>
              </a:lnSpc>
              <a:spcBef>
                <a:spcPts val="844"/>
              </a:spcBef>
              <a:buChar char="-"/>
              <a:tabLst>
                <a:tab pos="329565" algn="l"/>
              </a:tabLst>
            </a:pPr>
            <a:r>
              <a:rPr lang="es-PE" noProof="0" dirty="0"/>
              <a:t>1</a:t>
            </a:r>
            <a:r>
              <a:rPr lang="es-PE" spc="-20" noProof="0" dirty="0"/>
              <a:t> neurona</a:t>
            </a:r>
            <a:r>
              <a:rPr lang="es-PE" spc="-55" noProof="0" dirty="0"/>
              <a:t> </a:t>
            </a:r>
            <a:r>
              <a:rPr lang="es-PE" spc="-10" noProof="0" dirty="0" err="1"/>
              <a:t>layer</a:t>
            </a:r>
            <a:r>
              <a:rPr lang="es-PE" spc="-35" noProof="0" dirty="0"/>
              <a:t> </a:t>
            </a:r>
            <a:r>
              <a:rPr lang="es-PE" noProof="0" dirty="0"/>
              <a:t>2,</a:t>
            </a:r>
            <a:r>
              <a:rPr lang="es-PE" spc="-20" noProof="0" dirty="0"/>
              <a:t> </a:t>
            </a:r>
            <a:r>
              <a:rPr lang="es-PE" noProof="0" dirty="0"/>
              <a:t>sin</a:t>
            </a:r>
            <a:r>
              <a:rPr lang="es-PE" spc="-20" noProof="0" dirty="0"/>
              <a:t> </a:t>
            </a:r>
            <a:r>
              <a:rPr lang="es-PE" spc="-10" noProof="0" dirty="0"/>
              <a:t>activación</a:t>
            </a:r>
          </a:p>
          <a:p>
            <a:pPr marL="329565" indent="-316865">
              <a:lnSpc>
                <a:spcPct val="100000"/>
              </a:lnSpc>
              <a:spcBef>
                <a:spcPts val="840"/>
              </a:spcBef>
              <a:buChar char="-"/>
              <a:tabLst>
                <a:tab pos="329565" algn="l"/>
              </a:tabLst>
            </a:pPr>
            <a:r>
              <a:rPr lang="es-PE" spc="-10" noProof="0" dirty="0">
                <a:solidFill>
                  <a:srgbClr val="F4B400"/>
                </a:solidFill>
              </a:rPr>
              <a:t>¿Cuántos</a:t>
            </a:r>
            <a:r>
              <a:rPr lang="es-PE" spc="-45" noProof="0" dirty="0">
                <a:solidFill>
                  <a:srgbClr val="F4B400"/>
                </a:solidFill>
              </a:rPr>
              <a:t> </a:t>
            </a:r>
            <a:r>
              <a:rPr lang="es-PE" spc="-10" noProof="0" dirty="0">
                <a:solidFill>
                  <a:srgbClr val="F4B400"/>
                </a:solidFill>
              </a:rPr>
              <a:t>parámetros</a:t>
            </a:r>
            <a:r>
              <a:rPr lang="es-PE" spc="-65" noProof="0" dirty="0">
                <a:solidFill>
                  <a:srgbClr val="F4B400"/>
                </a:solidFill>
              </a:rPr>
              <a:t> </a:t>
            </a:r>
            <a:r>
              <a:rPr lang="es-PE" spc="-10" noProof="0" dirty="0">
                <a:solidFill>
                  <a:srgbClr val="F4B400"/>
                </a:solidFill>
              </a:rPr>
              <a:t>entreno?</a:t>
            </a:r>
          </a:p>
          <a:p>
            <a:pPr marR="5080" algn="r">
              <a:lnSpc>
                <a:spcPct val="100000"/>
              </a:lnSpc>
              <a:spcBef>
                <a:spcPts val="1050"/>
              </a:spcBef>
            </a:pPr>
            <a:r>
              <a:rPr lang="es-PE" noProof="0" dirty="0"/>
              <a:t>9 </a:t>
            </a:r>
            <a:r>
              <a:rPr lang="es-PE" spc="-10" noProof="0" dirty="0"/>
              <a:t>parámetros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Solución</a:t>
            </a:r>
            <a:r>
              <a:rPr lang="es-PE" spc="35" noProof="0" dirty="0"/>
              <a:t> </a:t>
            </a:r>
            <a:r>
              <a:rPr lang="es-PE" noProof="0" dirty="0"/>
              <a:t>de</a:t>
            </a:r>
            <a:r>
              <a:rPr lang="es-PE" spc="-20" noProof="0" dirty="0"/>
              <a:t> </a:t>
            </a:r>
            <a:r>
              <a:rPr lang="es-PE" noProof="0" dirty="0"/>
              <a:t>XOR</a:t>
            </a:r>
            <a:r>
              <a:rPr lang="es-PE" spc="5" noProof="0" dirty="0"/>
              <a:t> </a:t>
            </a:r>
            <a:r>
              <a:rPr lang="es-PE" noProof="0" dirty="0"/>
              <a:t>con red</a:t>
            </a:r>
            <a:r>
              <a:rPr lang="es-PE" spc="-15" noProof="0" dirty="0"/>
              <a:t> </a:t>
            </a:r>
            <a:r>
              <a:rPr lang="es-PE" noProof="0" dirty="0"/>
              <a:t>neuronal </a:t>
            </a:r>
            <a:r>
              <a:rPr lang="es-PE" spc="-10" noProof="0" dirty="0"/>
              <a:t>simple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1957" y="763015"/>
            <a:ext cx="1582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915" algn="l"/>
              </a:tabLst>
            </a:pPr>
            <a:r>
              <a:rPr lang="es-PE" sz="1500" b="1" noProof="0" dirty="0">
                <a:latin typeface="Roboto"/>
                <a:cs typeface="Roboto"/>
              </a:rPr>
              <a:t>Paso</a:t>
            </a:r>
            <a:r>
              <a:rPr lang="es-PE" sz="1500" b="1" spc="-25" noProof="0" dirty="0">
                <a:latin typeface="Roboto"/>
                <a:cs typeface="Roboto"/>
              </a:rPr>
              <a:t> </a:t>
            </a:r>
            <a:r>
              <a:rPr lang="es-PE" sz="1500" b="1" spc="-10" noProof="0" dirty="0">
                <a:latin typeface="Roboto"/>
                <a:cs typeface="Roboto"/>
              </a:rPr>
              <a:t>Forward: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79" y="1042606"/>
            <a:ext cx="3019425" cy="2905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479" y="1531302"/>
            <a:ext cx="3019425" cy="2905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466" y="1974151"/>
            <a:ext cx="1177925" cy="3476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466" y="2474277"/>
            <a:ext cx="1177925" cy="3476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8466" y="2976435"/>
            <a:ext cx="2945638" cy="2905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8466" y="3457194"/>
            <a:ext cx="1271651" cy="2889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8466" y="3952849"/>
            <a:ext cx="1287526" cy="2635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Solución</a:t>
            </a:r>
            <a:r>
              <a:rPr lang="es-PE" spc="35" noProof="0" dirty="0"/>
              <a:t> </a:t>
            </a:r>
            <a:r>
              <a:rPr lang="es-PE" noProof="0" dirty="0"/>
              <a:t>de</a:t>
            </a:r>
            <a:r>
              <a:rPr lang="es-PE" spc="-20" noProof="0" dirty="0"/>
              <a:t> </a:t>
            </a:r>
            <a:r>
              <a:rPr lang="es-PE" noProof="0" dirty="0"/>
              <a:t>XOR</a:t>
            </a:r>
            <a:r>
              <a:rPr lang="es-PE" spc="5" noProof="0" dirty="0"/>
              <a:t> </a:t>
            </a:r>
            <a:r>
              <a:rPr lang="es-PE" noProof="0" dirty="0"/>
              <a:t>con red</a:t>
            </a:r>
            <a:r>
              <a:rPr lang="es-PE" spc="-15" noProof="0" dirty="0"/>
              <a:t> </a:t>
            </a:r>
            <a:r>
              <a:rPr lang="es-PE" noProof="0" dirty="0"/>
              <a:t>neuronal </a:t>
            </a:r>
            <a:r>
              <a:rPr lang="es-PE" spc="-10" noProof="0" dirty="0"/>
              <a:t>simple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6557" y="763015"/>
            <a:ext cx="55994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indent="-32321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61315" algn="l"/>
              </a:tabLst>
            </a:pPr>
            <a:r>
              <a:rPr lang="es-PE" sz="1500" b="1" noProof="0" dirty="0">
                <a:latin typeface="Roboto"/>
                <a:cs typeface="Roboto"/>
              </a:rPr>
              <a:t>Debo</a:t>
            </a:r>
            <a:r>
              <a:rPr lang="es-PE" sz="1500" b="1" spc="-40" noProof="0" dirty="0">
                <a:latin typeface="Roboto"/>
                <a:cs typeface="Roboto"/>
              </a:rPr>
              <a:t> </a:t>
            </a:r>
            <a:r>
              <a:rPr lang="es-PE" sz="1500" b="1" noProof="0" dirty="0">
                <a:latin typeface="Roboto"/>
                <a:cs typeface="Roboto"/>
              </a:rPr>
              <a:t>encontrar</a:t>
            </a:r>
            <a:r>
              <a:rPr lang="es-PE" sz="1500" b="1" spc="-45" noProof="0" dirty="0">
                <a:latin typeface="Roboto"/>
                <a:cs typeface="Roboto"/>
              </a:rPr>
              <a:t> </a:t>
            </a:r>
            <a:r>
              <a:rPr lang="es-PE" sz="1500" b="1" noProof="0" dirty="0">
                <a:latin typeface="Roboto"/>
                <a:cs typeface="Roboto"/>
              </a:rPr>
              <a:t>W</a:t>
            </a:r>
            <a:r>
              <a:rPr lang="es-PE" sz="1500" b="1" baseline="-19444" noProof="0" dirty="0">
                <a:latin typeface="Roboto"/>
                <a:cs typeface="Roboto"/>
              </a:rPr>
              <a:t>1</a:t>
            </a:r>
            <a:r>
              <a:rPr lang="es-PE" sz="1500" b="1" baseline="25000" noProof="0" dirty="0">
                <a:latin typeface="Roboto"/>
                <a:cs typeface="Roboto"/>
              </a:rPr>
              <a:t>(1)</a:t>
            </a:r>
            <a:r>
              <a:rPr lang="es-PE" sz="1500" b="1" noProof="0" dirty="0">
                <a:latin typeface="Roboto"/>
                <a:cs typeface="Roboto"/>
              </a:rPr>
              <a:t>,</a:t>
            </a:r>
            <a:r>
              <a:rPr lang="es-PE" sz="1500" b="1" spc="-35" noProof="0" dirty="0">
                <a:latin typeface="Roboto"/>
                <a:cs typeface="Roboto"/>
              </a:rPr>
              <a:t> </a:t>
            </a:r>
            <a:r>
              <a:rPr lang="es-PE" sz="1500" b="1" noProof="0" dirty="0">
                <a:latin typeface="Roboto"/>
                <a:cs typeface="Roboto"/>
              </a:rPr>
              <a:t>b</a:t>
            </a:r>
            <a:r>
              <a:rPr lang="es-PE" sz="1500" b="1" baseline="-19444" noProof="0" dirty="0">
                <a:latin typeface="Roboto"/>
                <a:cs typeface="Roboto"/>
              </a:rPr>
              <a:t>1</a:t>
            </a:r>
            <a:r>
              <a:rPr lang="es-PE" sz="1500" b="1" baseline="25000" noProof="0" dirty="0">
                <a:latin typeface="Roboto"/>
                <a:cs typeface="Roboto"/>
              </a:rPr>
              <a:t>(1)</a:t>
            </a:r>
            <a:r>
              <a:rPr lang="es-PE" sz="1500" b="1" noProof="0" dirty="0">
                <a:latin typeface="Roboto"/>
                <a:cs typeface="Roboto"/>
              </a:rPr>
              <a:t>,</a:t>
            </a:r>
            <a:r>
              <a:rPr lang="es-PE" sz="1500" b="1" spc="-35" noProof="0" dirty="0">
                <a:latin typeface="Roboto"/>
                <a:cs typeface="Roboto"/>
              </a:rPr>
              <a:t> </a:t>
            </a:r>
            <a:r>
              <a:rPr lang="es-PE" sz="1500" b="1" noProof="0" dirty="0">
                <a:latin typeface="Roboto"/>
                <a:cs typeface="Roboto"/>
              </a:rPr>
              <a:t>W</a:t>
            </a:r>
            <a:r>
              <a:rPr lang="es-PE" sz="1500" b="1" baseline="-19444" noProof="0" dirty="0">
                <a:latin typeface="Roboto"/>
                <a:cs typeface="Roboto"/>
              </a:rPr>
              <a:t>2</a:t>
            </a:r>
            <a:r>
              <a:rPr lang="es-PE" sz="1500" b="1" baseline="25000" noProof="0" dirty="0">
                <a:latin typeface="Roboto"/>
                <a:cs typeface="Roboto"/>
              </a:rPr>
              <a:t>(1)</a:t>
            </a:r>
            <a:r>
              <a:rPr lang="es-PE" sz="1500" b="1" noProof="0" dirty="0">
                <a:latin typeface="Roboto"/>
                <a:cs typeface="Roboto"/>
              </a:rPr>
              <a:t>,</a:t>
            </a:r>
            <a:r>
              <a:rPr lang="es-PE" sz="1500" b="1" spc="-25" noProof="0" dirty="0">
                <a:latin typeface="Roboto"/>
                <a:cs typeface="Roboto"/>
              </a:rPr>
              <a:t> </a:t>
            </a:r>
            <a:r>
              <a:rPr lang="es-PE" sz="1500" b="1" noProof="0" dirty="0">
                <a:latin typeface="Roboto"/>
                <a:cs typeface="Roboto"/>
              </a:rPr>
              <a:t>b</a:t>
            </a:r>
            <a:r>
              <a:rPr lang="es-PE" sz="1500" b="1" baseline="-19444" noProof="0" dirty="0">
                <a:latin typeface="Roboto"/>
                <a:cs typeface="Roboto"/>
              </a:rPr>
              <a:t>2</a:t>
            </a:r>
            <a:r>
              <a:rPr lang="es-PE" sz="1500" b="1" baseline="25000" noProof="0" dirty="0">
                <a:latin typeface="Roboto"/>
                <a:cs typeface="Roboto"/>
              </a:rPr>
              <a:t>(1)</a:t>
            </a:r>
            <a:r>
              <a:rPr lang="es-PE" sz="1500" b="1" noProof="0" dirty="0">
                <a:latin typeface="Roboto"/>
                <a:cs typeface="Roboto"/>
              </a:rPr>
              <a:t>,</a:t>
            </a:r>
            <a:r>
              <a:rPr lang="es-PE" sz="1500" b="1" spc="-35" noProof="0" dirty="0">
                <a:latin typeface="Roboto"/>
                <a:cs typeface="Roboto"/>
              </a:rPr>
              <a:t> </a:t>
            </a:r>
            <a:r>
              <a:rPr lang="es-PE" sz="1500" b="1" noProof="0" dirty="0">
                <a:latin typeface="Roboto"/>
                <a:cs typeface="Roboto"/>
              </a:rPr>
              <a:t>W</a:t>
            </a:r>
            <a:r>
              <a:rPr lang="es-PE" sz="1500" b="1" baseline="-19444" noProof="0" dirty="0">
                <a:latin typeface="Roboto"/>
                <a:cs typeface="Roboto"/>
              </a:rPr>
              <a:t>1</a:t>
            </a:r>
            <a:r>
              <a:rPr lang="es-PE" sz="1500" b="1" baseline="25000" noProof="0" dirty="0">
                <a:latin typeface="Roboto"/>
                <a:cs typeface="Roboto"/>
              </a:rPr>
              <a:t>(2)</a:t>
            </a:r>
            <a:r>
              <a:rPr lang="es-PE" sz="1500" b="1" noProof="0" dirty="0">
                <a:latin typeface="Roboto"/>
                <a:cs typeface="Roboto"/>
              </a:rPr>
              <a:t>,</a:t>
            </a:r>
            <a:r>
              <a:rPr lang="es-PE" sz="1500" b="1" spc="-35" noProof="0" dirty="0">
                <a:latin typeface="Roboto"/>
                <a:cs typeface="Roboto"/>
              </a:rPr>
              <a:t> </a:t>
            </a:r>
            <a:r>
              <a:rPr lang="es-PE" sz="1500" b="1" noProof="0" dirty="0">
                <a:latin typeface="Roboto"/>
                <a:cs typeface="Roboto"/>
              </a:rPr>
              <a:t>b</a:t>
            </a:r>
            <a:r>
              <a:rPr lang="es-PE" sz="1500" b="1" baseline="-19444" noProof="0" dirty="0">
                <a:latin typeface="Roboto"/>
                <a:cs typeface="Roboto"/>
              </a:rPr>
              <a:t>1</a:t>
            </a:r>
            <a:r>
              <a:rPr lang="es-PE" sz="1500" b="1" baseline="25000" noProof="0" dirty="0">
                <a:latin typeface="Roboto"/>
                <a:cs typeface="Roboto"/>
              </a:rPr>
              <a:t>(2)</a:t>
            </a:r>
            <a:r>
              <a:rPr lang="es-PE" sz="1500" b="1" noProof="0" dirty="0">
                <a:latin typeface="Roboto"/>
                <a:cs typeface="Roboto"/>
              </a:rPr>
              <a:t>.</a:t>
            </a:r>
            <a:r>
              <a:rPr lang="es-PE" sz="1500" b="1" spc="-35" noProof="0" dirty="0">
                <a:latin typeface="Roboto"/>
                <a:cs typeface="Roboto"/>
              </a:rPr>
              <a:t> </a:t>
            </a:r>
            <a:r>
              <a:rPr lang="es-PE" sz="1500" b="1" spc="-10" noProof="0" dirty="0">
                <a:latin typeface="Roboto"/>
                <a:cs typeface="Roboto"/>
              </a:rPr>
              <a:t>Utilizo</a:t>
            </a:r>
            <a:r>
              <a:rPr lang="es-PE" sz="1500" b="1" spc="-35" noProof="0" dirty="0">
                <a:latin typeface="Roboto"/>
                <a:cs typeface="Roboto"/>
              </a:rPr>
              <a:t> </a:t>
            </a:r>
            <a:r>
              <a:rPr lang="es-PE" sz="1500" b="1" spc="-20" noProof="0" dirty="0">
                <a:latin typeface="Roboto"/>
                <a:cs typeface="Roboto"/>
              </a:rPr>
              <a:t>SGD:</a:t>
            </a:r>
            <a:endParaRPr lang="es-PE" sz="1500" noProof="0" dirty="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9279" y="1148778"/>
            <a:ext cx="3288665" cy="386715"/>
            <a:chOff x="789279" y="1148778"/>
            <a:chExt cx="3288665" cy="3867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279" y="1148778"/>
              <a:ext cx="3288538" cy="1857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279" y="1378966"/>
              <a:ext cx="2152650" cy="15621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394078" y="1886585"/>
            <a:ext cx="2242185" cy="479425"/>
            <a:chOff x="1394078" y="1886585"/>
            <a:chExt cx="2242185" cy="4794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4078" y="1886585"/>
              <a:ext cx="2242185" cy="27812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4078" y="2178177"/>
              <a:ext cx="1720850" cy="187325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4078" y="2446020"/>
            <a:ext cx="3327400" cy="75565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89279" y="1599183"/>
            <a:ext cx="7595234" cy="2937510"/>
            <a:chOff x="789279" y="1599183"/>
            <a:chExt cx="7595234" cy="293751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1976" y="1605089"/>
              <a:ext cx="1403350" cy="1857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94079" y="3315957"/>
              <a:ext cx="3403600" cy="6572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1976" y="4014634"/>
              <a:ext cx="2329815" cy="4209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279" y="4382579"/>
              <a:ext cx="812799" cy="1539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18235" y="1599183"/>
              <a:ext cx="308610" cy="2760345"/>
            </a:xfrm>
            <a:custGeom>
              <a:avLst/>
              <a:gdLst/>
              <a:ahLst/>
              <a:cxnLst/>
              <a:rect l="l" t="t" r="r" b="b"/>
              <a:pathLst>
                <a:path w="308609" h="2760345">
                  <a:moveTo>
                    <a:pt x="308038" y="228345"/>
                  </a:moveTo>
                  <a:lnTo>
                    <a:pt x="308038" y="2502382"/>
                  </a:lnTo>
                </a:path>
                <a:path w="308609" h="2760345">
                  <a:moveTo>
                    <a:pt x="0" y="0"/>
                  </a:moveTo>
                  <a:lnTo>
                    <a:pt x="0" y="2760294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491991" y="4190517"/>
              <a:ext cx="2897505" cy="76200"/>
            </a:xfrm>
            <a:custGeom>
              <a:avLst/>
              <a:gdLst/>
              <a:ahLst/>
              <a:cxnLst/>
              <a:rect l="l" t="t" r="r" b="b"/>
              <a:pathLst>
                <a:path w="2897504" h="76200">
                  <a:moveTo>
                    <a:pt x="2821178" y="0"/>
                  </a:moveTo>
                  <a:lnTo>
                    <a:pt x="2821178" y="76200"/>
                  </a:lnTo>
                  <a:lnTo>
                    <a:pt x="2887749" y="42859"/>
                  </a:lnTo>
                  <a:lnTo>
                    <a:pt x="2833878" y="42859"/>
                  </a:lnTo>
                  <a:lnTo>
                    <a:pt x="2833878" y="33334"/>
                  </a:lnTo>
                  <a:lnTo>
                    <a:pt x="2887957" y="33334"/>
                  </a:lnTo>
                  <a:lnTo>
                    <a:pt x="2821178" y="0"/>
                  </a:lnTo>
                  <a:close/>
                </a:path>
                <a:path w="2897504" h="76200">
                  <a:moveTo>
                    <a:pt x="2821178" y="33334"/>
                  </a:moveTo>
                  <a:lnTo>
                    <a:pt x="0" y="35382"/>
                  </a:lnTo>
                  <a:lnTo>
                    <a:pt x="0" y="44907"/>
                  </a:lnTo>
                  <a:lnTo>
                    <a:pt x="2821178" y="42859"/>
                  </a:lnTo>
                  <a:lnTo>
                    <a:pt x="2821178" y="33334"/>
                  </a:lnTo>
                  <a:close/>
                </a:path>
                <a:path w="2897504" h="76200">
                  <a:moveTo>
                    <a:pt x="2887957" y="33334"/>
                  </a:moveTo>
                  <a:lnTo>
                    <a:pt x="2833878" y="33334"/>
                  </a:lnTo>
                  <a:lnTo>
                    <a:pt x="2833878" y="42859"/>
                  </a:lnTo>
                  <a:lnTo>
                    <a:pt x="2887749" y="42859"/>
                  </a:lnTo>
                  <a:lnTo>
                    <a:pt x="2897378" y="38036"/>
                  </a:lnTo>
                  <a:lnTo>
                    <a:pt x="2887957" y="3333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36818" y="1962734"/>
              <a:ext cx="2847340" cy="200367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469126" y="409935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noProof="0" dirty="0" err="1">
                <a:latin typeface="Roboto"/>
                <a:cs typeface="Roboto"/>
              </a:rPr>
              <a:t>Loss</a:t>
            </a:r>
            <a:r>
              <a:rPr lang="es-PE" sz="1400" spc="-90" noProof="0" dirty="0"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latin typeface="Roboto"/>
                <a:cs typeface="Roboto"/>
              </a:rPr>
              <a:t>plot</a:t>
            </a:r>
            <a:endParaRPr lang="es-PE" sz="14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0347" y="4104894"/>
            <a:ext cx="4440809" cy="3492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5" name="object 5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Solución</a:t>
            </a:r>
            <a:r>
              <a:rPr lang="es-PE" spc="35" noProof="0" dirty="0"/>
              <a:t> </a:t>
            </a:r>
            <a:r>
              <a:rPr lang="es-PE" noProof="0" dirty="0"/>
              <a:t>de</a:t>
            </a:r>
            <a:r>
              <a:rPr lang="es-PE" spc="-20" noProof="0" dirty="0"/>
              <a:t> </a:t>
            </a:r>
            <a:r>
              <a:rPr lang="es-PE" noProof="0" dirty="0"/>
              <a:t>XOR</a:t>
            </a:r>
            <a:r>
              <a:rPr lang="es-PE" spc="5" noProof="0" dirty="0"/>
              <a:t> </a:t>
            </a:r>
            <a:r>
              <a:rPr lang="es-PE" noProof="0" dirty="0"/>
              <a:t>con red</a:t>
            </a:r>
            <a:r>
              <a:rPr lang="es-PE" spc="-15" noProof="0" dirty="0"/>
              <a:t> </a:t>
            </a:r>
            <a:r>
              <a:rPr lang="es-PE" noProof="0" dirty="0"/>
              <a:t>neuronal </a:t>
            </a:r>
            <a:r>
              <a:rPr lang="es-PE" spc="-10" noProof="0" dirty="0"/>
              <a:t>simple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1957" y="686815"/>
            <a:ext cx="185991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915" algn="l"/>
              </a:tabLst>
            </a:pPr>
            <a:r>
              <a:rPr lang="es-PE" sz="1500" b="1" spc="-10" noProof="0" dirty="0" err="1">
                <a:latin typeface="Roboto"/>
                <a:cs typeface="Roboto"/>
              </a:rPr>
              <a:t>Backpropagation</a:t>
            </a:r>
            <a:r>
              <a:rPr lang="es-PE" sz="1500" b="1" spc="-10" noProof="0" dirty="0">
                <a:latin typeface="Roboto"/>
                <a:cs typeface="Roboto"/>
              </a:rPr>
              <a:t>:</a:t>
            </a:r>
            <a:endParaRPr lang="es-PE" sz="1500" noProof="0" dirty="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0014" y="2558542"/>
            <a:ext cx="2512695" cy="1054100"/>
            <a:chOff x="470014" y="2558542"/>
            <a:chExt cx="2512695" cy="10541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014" y="2558542"/>
              <a:ext cx="2512694" cy="3962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2553" y="2941320"/>
              <a:ext cx="0" cy="671195"/>
            </a:xfrm>
            <a:custGeom>
              <a:avLst/>
              <a:gdLst/>
              <a:ahLst/>
              <a:cxnLst/>
              <a:rect l="l" t="t" r="r" b="b"/>
              <a:pathLst>
                <a:path h="671195">
                  <a:moveTo>
                    <a:pt x="0" y="0"/>
                  </a:moveTo>
                  <a:lnTo>
                    <a:pt x="0" y="670814"/>
                  </a:lnTo>
                </a:path>
              </a:pathLst>
            </a:custGeom>
            <a:ln w="19050">
              <a:solidFill>
                <a:srgbClr val="42424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026" y="1215263"/>
            <a:ext cx="523240" cy="377825"/>
          </a:xfrm>
          <a:prstGeom prst="rect">
            <a:avLst/>
          </a:prstGeom>
          <a:ln w="9525">
            <a:solidFill>
              <a:srgbClr val="424242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940"/>
              </a:spcBef>
            </a:pPr>
            <a:r>
              <a:rPr lang="es-PE" sz="2100" spc="-30" baseline="13888" noProof="0" dirty="0">
                <a:latin typeface="Arial MT"/>
                <a:cs typeface="Arial MT"/>
              </a:rPr>
              <a:t>X</a:t>
            </a:r>
            <a:r>
              <a:rPr lang="es-PE" sz="900" spc="-20" noProof="0" dirty="0">
                <a:latin typeface="Arial MT"/>
                <a:cs typeface="Arial MT"/>
              </a:rPr>
              <a:t>i,1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0026" y="1754758"/>
            <a:ext cx="523240" cy="377825"/>
          </a:xfrm>
          <a:prstGeom prst="rect">
            <a:avLst/>
          </a:prstGeom>
          <a:ln w="9525">
            <a:solidFill>
              <a:srgbClr val="424242"/>
            </a:solidFill>
          </a:ln>
        </p:spPr>
        <p:txBody>
          <a:bodyPr vert="horz" wrap="square" lIns="0" tIns="12001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945"/>
              </a:spcBef>
            </a:pPr>
            <a:r>
              <a:rPr lang="es-PE" sz="2100" spc="-30" baseline="13888" noProof="0" dirty="0">
                <a:latin typeface="Arial MT"/>
                <a:cs typeface="Arial MT"/>
              </a:rPr>
              <a:t>X</a:t>
            </a:r>
            <a:r>
              <a:rPr lang="es-PE" sz="900" spc="-20" noProof="0" dirty="0">
                <a:latin typeface="Arial MT"/>
                <a:cs typeface="Arial MT"/>
              </a:rPr>
              <a:t>i,2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74341" y="1215263"/>
            <a:ext cx="523240" cy="377825"/>
          </a:xfrm>
          <a:prstGeom prst="rect">
            <a:avLst/>
          </a:prstGeom>
          <a:ln w="9525">
            <a:solidFill>
              <a:srgbClr val="424242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lang="es-PE" sz="1400" spc="60" noProof="0" dirty="0">
                <a:latin typeface="Times New Roman"/>
                <a:cs typeface="Times New Roman"/>
              </a:rPr>
              <a:t>σ</a:t>
            </a:r>
            <a:endParaRPr lang="es-PE" sz="1400" noProof="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4467" y="1754758"/>
            <a:ext cx="523240" cy="377825"/>
          </a:xfrm>
          <a:prstGeom prst="rect">
            <a:avLst/>
          </a:prstGeom>
          <a:ln w="9525">
            <a:solidFill>
              <a:srgbClr val="424242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lang="es-PE" sz="1400" spc="60" noProof="0" dirty="0">
                <a:latin typeface="Times New Roman"/>
                <a:cs typeface="Times New Roman"/>
              </a:rPr>
              <a:t>σ</a:t>
            </a:r>
            <a:endParaRPr lang="es-PE" sz="1400" noProof="0" dirty="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95170" y="1156652"/>
            <a:ext cx="479425" cy="285750"/>
            <a:chOff x="1995170" y="1156652"/>
            <a:chExt cx="479425" cy="285750"/>
          </a:xfrm>
        </p:grpSpPr>
        <p:sp>
          <p:nvSpPr>
            <p:cNvPr id="18" name="object 18"/>
            <p:cNvSpPr/>
            <p:nvPr/>
          </p:nvSpPr>
          <p:spPr>
            <a:xfrm>
              <a:off x="1995170" y="1366011"/>
              <a:ext cx="479425" cy="76200"/>
            </a:xfrm>
            <a:custGeom>
              <a:avLst/>
              <a:gdLst/>
              <a:ahLst/>
              <a:cxnLst/>
              <a:rect l="l" t="t" r="r" b="b"/>
              <a:pathLst>
                <a:path w="479425" h="76200">
                  <a:moveTo>
                    <a:pt x="403098" y="0"/>
                  </a:moveTo>
                  <a:lnTo>
                    <a:pt x="403098" y="76200"/>
                  </a:lnTo>
                  <a:lnTo>
                    <a:pt x="469900" y="42799"/>
                  </a:lnTo>
                  <a:lnTo>
                    <a:pt x="415798" y="42799"/>
                  </a:lnTo>
                  <a:lnTo>
                    <a:pt x="415798" y="33274"/>
                  </a:lnTo>
                  <a:lnTo>
                    <a:pt x="469646" y="33274"/>
                  </a:lnTo>
                  <a:lnTo>
                    <a:pt x="403098" y="0"/>
                  </a:lnTo>
                  <a:close/>
                </a:path>
                <a:path w="479425" h="76200">
                  <a:moveTo>
                    <a:pt x="403098" y="33274"/>
                  </a:moveTo>
                  <a:lnTo>
                    <a:pt x="0" y="33274"/>
                  </a:lnTo>
                  <a:lnTo>
                    <a:pt x="0" y="42799"/>
                  </a:lnTo>
                  <a:lnTo>
                    <a:pt x="403098" y="42799"/>
                  </a:lnTo>
                  <a:lnTo>
                    <a:pt x="403098" y="33274"/>
                  </a:lnTo>
                  <a:close/>
                </a:path>
                <a:path w="479425" h="76200">
                  <a:moveTo>
                    <a:pt x="469646" y="33274"/>
                  </a:moveTo>
                  <a:lnTo>
                    <a:pt x="415798" y="33274"/>
                  </a:lnTo>
                  <a:lnTo>
                    <a:pt x="415798" y="42799"/>
                  </a:lnTo>
                  <a:lnTo>
                    <a:pt x="469900" y="42799"/>
                  </a:lnTo>
                  <a:lnTo>
                    <a:pt x="479298" y="38100"/>
                  </a:lnTo>
                  <a:lnTo>
                    <a:pt x="469646" y="3327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95881" y="1156652"/>
              <a:ext cx="231775" cy="22383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995170" y="1905507"/>
            <a:ext cx="479425" cy="313690"/>
            <a:chOff x="1995170" y="1905507"/>
            <a:chExt cx="479425" cy="313690"/>
          </a:xfrm>
        </p:grpSpPr>
        <p:sp>
          <p:nvSpPr>
            <p:cNvPr id="21" name="object 21"/>
            <p:cNvSpPr/>
            <p:nvPr/>
          </p:nvSpPr>
          <p:spPr>
            <a:xfrm>
              <a:off x="1995170" y="1905507"/>
              <a:ext cx="479425" cy="76200"/>
            </a:xfrm>
            <a:custGeom>
              <a:avLst/>
              <a:gdLst/>
              <a:ahLst/>
              <a:cxnLst/>
              <a:rect l="l" t="t" r="r" b="b"/>
              <a:pathLst>
                <a:path w="479425" h="76200">
                  <a:moveTo>
                    <a:pt x="403098" y="0"/>
                  </a:moveTo>
                  <a:lnTo>
                    <a:pt x="403098" y="76200"/>
                  </a:lnTo>
                  <a:lnTo>
                    <a:pt x="469646" y="42925"/>
                  </a:lnTo>
                  <a:lnTo>
                    <a:pt x="415798" y="42925"/>
                  </a:lnTo>
                  <a:lnTo>
                    <a:pt x="415798" y="33400"/>
                  </a:lnTo>
                  <a:lnTo>
                    <a:pt x="469900" y="33400"/>
                  </a:lnTo>
                  <a:lnTo>
                    <a:pt x="403098" y="0"/>
                  </a:lnTo>
                  <a:close/>
                </a:path>
                <a:path w="479425" h="76200">
                  <a:moveTo>
                    <a:pt x="403098" y="33400"/>
                  </a:moveTo>
                  <a:lnTo>
                    <a:pt x="0" y="33400"/>
                  </a:lnTo>
                  <a:lnTo>
                    <a:pt x="0" y="42925"/>
                  </a:lnTo>
                  <a:lnTo>
                    <a:pt x="403098" y="42925"/>
                  </a:lnTo>
                  <a:lnTo>
                    <a:pt x="403098" y="33400"/>
                  </a:lnTo>
                  <a:close/>
                </a:path>
                <a:path w="479425" h="76200">
                  <a:moveTo>
                    <a:pt x="469900" y="33400"/>
                  </a:moveTo>
                  <a:lnTo>
                    <a:pt x="415798" y="33400"/>
                  </a:lnTo>
                  <a:lnTo>
                    <a:pt x="415798" y="42925"/>
                  </a:lnTo>
                  <a:lnTo>
                    <a:pt x="469646" y="42925"/>
                  </a:lnTo>
                  <a:lnTo>
                    <a:pt x="479298" y="38100"/>
                  </a:lnTo>
                  <a:lnTo>
                    <a:pt x="469900" y="334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5881" y="1994852"/>
              <a:ext cx="231775" cy="22383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476625" y="1485138"/>
            <a:ext cx="523240" cy="377825"/>
          </a:xfrm>
          <a:prstGeom prst="rect">
            <a:avLst/>
          </a:prstGeom>
          <a:ln w="9525">
            <a:solidFill>
              <a:srgbClr val="424242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605"/>
              </a:spcBef>
            </a:pPr>
            <a:r>
              <a:rPr lang="es-PE" sz="1400" spc="-50" noProof="0" dirty="0">
                <a:latin typeface="Times New Roman"/>
                <a:cs typeface="Times New Roman"/>
              </a:rPr>
              <a:t>∑</a:t>
            </a:r>
            <a:endParaRPr lang="es-PE" sz="1400" noProof="0" dirty="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92924" y="1156652"/>
            <a:ext cx="2484120" cy="982980"/>
            <a:chOff x="992924" y="1156652"/>
            <a:chExt cx="2484120" cy="982980"/>
          </a:xfrm>
        </p:grpSpPr>
        <p:sp>
          <p:nvSpPr>
            <p:cNvPr id="25" name="object 25"/>
            <p:cNvSpPr/>
            <p:nvPr/>
          </p:nvSpPr>
          <p:spPr>
            <a:xfrm>
              <a:off x="2994914" y="1399920"/>
              <a:ext cx="481965" cy="548005"/>
            </a:xfrm>
            <a:custGeom>
              <a:avLst/>
              <a:gdLst/>
              <a:ahLst/>
              <a:cxnLst/>
              <a:rect l="l" t="t" r="r" b="b"/>
              <a:pathLst>
                <a:path w="481964" h="548005">
                  <a:moveTo>
                    <a:pt x="481838" y="274066"/>
                  </a:moveTo>
                  <a:lnTo>
                    <a:pt x="463537" y="247142"/>
                  </a:lnTo>
                  <a:lnTo>
                    <a:pt x="434086" y="203581"/>
                  </a:lnTo>
                  <a:lnTo>
                    <a:pt x="417728" y="232689"/>
                  </a:lnTo>
                  <a:lnTo>
                    <a:pt x="4699" y="0"/>
                  </a:lnTo>
                  <a:lnTo>
                    <a:pt x="0" y="8255"/>
                  </a:lnTo>
                  <a:lnTo>
                    <a:pt x="413092" y="240906"/>
                  </a:lnTo>
                  <a:lnTo>
                    <a:pt x="396748" y="270002"/>
                  </a:lnTo>
                  <a:lnTo>
                    <a:pt x="480517" y="274129"/>
                  </a:lnTo>
                  <a:lnTo>
                    <a:pt x="396748" y="278130"/>
                  </a:lnTo>
                  <a:lnTo>
                    <a:pt x="413092" y="307225"/>
                  </a:lnTo>
                  <a:lnTo>
                    <a:pt x="127" y="539623"/>
                  </a:lnTo>
                  <a:lnTo>
                    <a:pt x="4699" y="547878"/>
                  </a:lnTo>
                  <a:lnTo>
                    <a:pt x="417779" y="315544"/>
                  </a:lnTo>
                  <a:lnTo>
                    <a:pt x="434086" y="344551"/>
                  </a:lnTo>
                  <a:lnTo>
                    <a:pt x="463588" y="300990"/>
                  </a:lnTo>
                  <a:lnTo>
                    <a:pt x="481749" y="274193"/>
                  </a:lnTo>
                  <a:lnTo>
                    <a:pt x="481838" y="274066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60013" y="1156652"/>
              <a:ext cx="200025" cy="22383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60013" y="1915350"/>
              <a:ext cx="200025" cy="22383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92924" y="1905507"/>
              <a:ext cx="479425" cy="76200"/>
            </a:xfrm>
            <a:custGeom>
              <a:avLst/>
              <a:gdLst/>
              <a:ahLst/>
              <a:cxnLst/>
              <a:rect l="l" t="t" r="r" b="b"/>
              <a:pathLst>
                <a:path w="479425" h="76200">
                  <a:moveTo>
                    <a:pt x="403186" y="0"/>
                  </a:moveTo>
                  <a:lnTo>
                    <a:pt x="403186" y="76200"/>
                  </a:lnTo>
                  <a:lnTo>
                    <a:pt x="469734" y="42925"/>
                  </a:lnTo>
                  <a:lnTo>
                    <a:pt x="415886" y="42925"/>
                  </a:lnTo>
                  <a:lnTo>
                    <a:pt x="415886" y="33400"/>
                  </a:lnTo>
                  <a:lnTo>
                    <a:pt x="469988" y="33400"/>
                  </a:lnTo>
                  <a:lnTo>
                    <a:pt x="403186" y="0"/>
                  </a:lnTo>
                  <a:close/>
                </a:path>
                <a:path w="479425" h="76200">
                  <a:moveTo>
                    <a:pt x="403186" y="33400"/>
                  </a:moveTo>
                  <a:lnTo>
                    <a:pt x="0" y="33400"/>
                  </a:lnTo>
                  <a:lnTo>
                    <a:pt x="0" y="42925"/>
                  </a:lnTo>
                  <a:lnTo>
                    <a:pt x="403186" y="42925"/>
                  </a:lnTo>
                  <a:lnTo>
                    <a:pt x="403186" y="33400"/>
                  </a:lnTo>
                  <a:close/>
                </a:path>
                <a:path w="479425" h="76200">
                  <a:moveTo>
                    <a:pt x="469988" y="33400"/>
                  </a:moveTo>
                  <a:lnTo>
                    <a:pt x="415886" y="33400"/>
                  </a:lnTo>
                  <a:lnTo>
                    <a:pt x="415886" y="42925"/>
                  </a:lnTo>
                  <a:lnTo>
                    <a:pt x="469734" y="42925"/>
                  </a:lnTo>
                  <a:lnTo>
                    <a:pt x="479386" y="38100"/>
                  </a:lnTo>
                  <a:lnTo>
                    <a:pt x="469988" y="334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472183" y="1215262"/>
              <a:ext cx="523240" cy="377825"/>
            </a:xfrm>
            <a:custGeom>
              <a:avLst/>
              <a:gdLst/>
              <a:ahLst/>
              <a:cxnLst/>
              <a:rect l="l" t="t" r="r" b="b"/>
              <a:pathLst>
                <a:path w="523239" h="377825">
                  <a:moveTo>
                    <a:pt x="0" y="377698"/>
                  </a:moveTo>
                  <a:lnTo>
                    <a:pt x="522897" y="377698"/>
                  </a:lnTo>
                  <a:lnTo>
                    <a:pt x="522897" y="0"/>
                  </a:lnTo>
                  <a:lnTo>
                    <a:pt x="0" y="0"/>
                  </a:lnTo>
                  <a:lnTo>
                    <a:pt x="0" y="377698"/>
                  </a:lnTo>
                  <a:close/>
                </a:path>
              </a:pathLst>
            </a:custGeom>
            <a:ln w="952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35982" y="1485011"/>
            <a:ext cx="683895" cy="377825"/>
          </a:xfrm>
          <a:prstGeom prst="rect">
            <a:avLst/>
          </a:prstGeom>
          <a:ln w="9525">
            <a:solidFill>
              <a:srgbClr val="424242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605"/>
              </a:spcBef>
            </a:pPr>
            <a:r>
              <a:rPr lang="es-PE" sz="1400" spc="-25" noProof="0" dirty="0">
                <a:latin typeface="Arial MT"/>
                <a:cs typeface="Arial MT"/>
              </a:rPr>
              <a:t>MSE</a:t>
            </a:r>
            <a:endParaRPr lang="es-PE" sz="1400" noProof="0" dirty="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99484" y="1433385"/>
            <a:ext cx="936625" cy="278765"/>
            <a:chOff x="3999484" y="1433385"/>
            <a:chExt cx="936625" cy="278765"/>
          </a:xfrm>
        </p:grpSpPr>
        <p:sp>
          <p:nvSpPr>
            <p:cNvPr id="32" name="object 32"/>
            <p:cNvSpPr/>
            <p:nvPr/>
          </p:nvSpPr>
          <p:spPr>
            <a:xfrm>
              <a:off x="3999484" y="1635886"/>
              <a:ext cx="936625" cy="76200"/>
            </a:xfrm>
            <a:custGeom>
              <a:avLst/>
              <a:gdLst/>
              <a:ahLst/>
              <a:cxnLst/>
              <a:rect l="l" t="t" r="r" b="b"/>
              <a:pathLst>
                <a:path w="936625" h="76200">
                  <a:moveTo>
                    <a:pt x="860425" y="0"/>
                  </a:moveTo>
                  <a:lnTo>
                    <a:pt x="860425" y="76200"/>
                  </a:lnTo>
                  <a:lnTo>
                    <a:pt x="927226" y="42799"/>
                  </a:lnTo>
                  <a:lnTo>
                    <a:pt x="873125" y="42799"/>
                  </a:lnTo>
                  <a:lnTo>
                    <a:pt x="873125" y="33274"/>
                  </a:lnTo>
                  <a:lnTo>
                    <a:pt x="926973" y="33274"/>
                  </a:lnTo>
                  <a:lnTo>
                    <a:pt x="860425" y="0"/>
                  </a:lnTo>
                  <a:close/>
                </a:path>
                <a:path w="936625" h="76200">
                  <a:moveTo>
                    <a:pt x="860425" y="33274"/>
                  </a:moveTo>
                  <a:lnTo>
                    <a:pt x="0" y="33274"/>
                  </a:lnTo>
                  <a:lnTo>
                    <a:pt x="0" y="42799"/>
                  </a:lnTo>
                  <a:lnTo>
                    <a:pt x="860425" y="42799"/>
                  </a:lnTo>
                  <a:lnTo>
                    <a:pt x="860425" y="33274"/>
                  </a:lnTo>
                  <a:close/>
                </a:path>
                <a:path w="936625" h="76200">
                  <a:moveTo>
                    <a:pt x="926973" y="33274"/>
                  </a:moveTo>
                  <a:lnTo>
                    <a:pt x="873125" y="33274"/>
                  </a:lnTo>
                  <a:lnTo>
                    <a:pt x="873125" y="42799"/>
                  </a:lnTo>
                  <a:lnTo>
                    <a:pt x="927226" y="42799"/>
                  </a:lnTo>
                  <a:lnTo>
                    <a:pt x="936625" y="38100"/>
                  </a:lnTo>
                  <a:lnTo>
                    <a:pt x="926973" y="3327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5981" y="1433385"/>
              <a:ext cx="561975" cy="223837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5216652" y="1862708"/>
            <a:ext cx="122555" cy="441325"/>
            <a:chOff x="5216652" y="1862708"/>
            <a:chExt cx="122555" cy="441325"/>
          </a:xfrm>
        </p:grpSpPr>
        <p:sp>
          <p:nvSpPr>
            <p:cNvPr id="35" name="object 35"/>
            <p:cNvSpPr/>
            <p:nvPr/>
          </p:nvSpPr>
          <p:spPr>
            <a:xfrm>
              <a:off x="5239639" y="1862708"/>
              <a:ext cx="76200" cy="314325"/>
            </a:xfrm>
            <a:custGeom>
              <a:avLst/>
              <a:gdLst/>
              <a:ahLst/>
              <a:cxnLst/>
              <a:rect l="l" t="t" r="r" b="b"/>
              <a:pathLst>
                <a:path w="76200" h="314325">
                  <a:moveTo>
                    <a:pt x="42799" y="63499"/>
                  </a:moveTo>
                  <a:lnTo>
                    <a:pt x="33274" y="63499"/>
                  </a:lnTo>
                  <a:lnTo>
                    <a:pt x="33274" y="314070"/>
                  </a:lnTo>
                  <a:lnTo>
                    <a:pt x="42799" y="314070"/>
                  </a:lnTo>
                  <a:lnTo>
                    <a:pt x="42799" y="63499"/>
                  </a:lnTo>
                  <a:close/>
                </a:path>
                <a:path w="76200" h="314325">
                  <a:moveTo>
                    <a:pt x="38100" y="0"/>
                  </a:moveTo>
                  <a:lnTo>
                    <a:pt x="0" y="76199"/>
                  </a:lnTo>
                  <a:lnTo>
                    <a:pt x="33274" y="76199"/>
                  </a:lnTo>
                  <a:lnTo>
                    <a:pt x="33274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314325">
                  <a:moveTo>
                    <a:pt x="69850" y="63499"/>
                  </a:moveTo>
                  <a:lnTo>
                    <a:pt x="42799" y="63499"/>
                  </a:lnTo>
                  <a:lnTo>
                    <a:pt x="42799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16652" y="2188019"/>
              <a:ext cx="122237" cy="115887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5619369" y="1612836"/>
            <a:ext cx="495934" cy="122555"/>
            <a:chOff x="5619369" y="1612836"/>
            <a:chExt cx="495934" cy="122555"/>
          </a:xfrm>
        </p:grpSpPr>
        <p:sp>
          <p:nvSpPr>
            <p:cNvPr id="38" name="object 38"/>
            <p:cNvSpPr/>
            <p:nvPr/>
          </p:nvSpPr>
          <p:spPr>
            <a:xfrm>
              <a:off x="5619369" y="1635760"/>
              <a:ext cx="373380" cy="76200"/>
            </a:xfrm>
            <a:custGeom>
              <a:avLst/>
              <a:gdLst/>
              <a:ahLst/>
              <a:cxnLst/>
              <a:rect l="l" t="t" r="r" b="b"/>
              <a:pathLst>
                <a:path w="373379" h="76200">
                  <a:moveTo>
                    <a:pt x="296798" y="0"/>
                  </a:moveTo>
                  <a:lnTo>
                    <a:pt x="296798" y="76200"/>
                  </a:lnTo>
                  <a:lnTo>
                    <a:pt x="363600" y="42799"/>
                  </a:lnTo>
                  <a:lnTo>
                    <a:pt x="309498" y="42799"/>
                  </a:lnTo>
                  <a:lnTo>
                    <a:pt x="309498" y="33274"/>
                  </a:lnTo>
                  <a:lnTo>
                    <a:pt x="363346" y="33274"/>
                  </a:lnTo>
                  <a:lnTo>
                    <a:pt x="296798" y="0"/>
                  </a:lnTo>
                  <a:close/>
                </a:path>
                <a:path w="373379" h="76200">
                  <a:moveTo>
                    <a:pt x="296798" y="33274"/>
                  </a:moveTo>
                  <a:lnTo>
                    <a:pt x="0" y="33274"/>
                  </a:lnTo>
                  <a:lnTo>
                    <a:pt x="0" y="42799"/>
                  </a:lnTo>
                  <a:lnTo>
                    <a:pt x="296798" y="42799"/>
                  </a:lnTo>
                  <a:lnTo>
                    <a:pt x="296798" y="33274"/>
                  </a:lnTo>
                  <a:close/>
                </a:path>
                <a:path w="373379" h="76200">
                  <a:moveTo>
                    <a:pt x="363346" y="33274"/>
                  </a:moveTo>
                  <a:lnTo>
                    <a:pt x="309498" y="33274"/>
                  </a:lnTo>
                  <a:lnTo>
                    <a:pt x="309498" y="42799"/>
                  </a:lnTo>
                  <a:lnTo>
                    <a:pt x="363600" y="42799"/>
                  </a:lnTo>
                  <a:lnTo>
                    <a:pt x="372998" y="38100"/>
                  </a:lnTo>
                  <a:lnTo>
                    <a:pt x="363346" y="3327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3798" y="1612836"/>
              <a:ext cx="111125" cy="12223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657857" y="1279016"/>
            <a:ext cx="1530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spc="-50" noProof="0" dirty="0">
                <a:latin typeface="Times New Roman"/>
                <a:cs typeface="Times New Roman"/>
              </a:rPr>
              <a:t>∑</a:t>
            </a:r>
            <a:endParaRPr lang="es-PE" sz="1400" noProof="0" dirty="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72183" y="1754758"/>
            <a:ext cx="523240" cy="377825"/>
          </a:xfrm>
          <a:prstGeom prst="rect">
            <a:avLst/>
          </a:prstGeom>
          <a:ln w="9525">
            <a:solidFill>
              <a:srgbClr val="424242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05"/>
              </a:spcBef>
            </a:pPr>
            <a:r>
              <a:rPr lang="es-PE" sz="1400" spc="-50" noProof="0" dirty="0">
                <a:latin typeface="Times New Roman"/>
                <a:cs typeface="Times New Roman"/>
              </a:rPr>
              <a:t>∑</a:t>
            </a:r>
            <a:endParaRPr lang="es-PE" sz="1400" noProof="0" dirty="0">
              <a:latin typeface="Times New Roman"/>
              <a:cs typeface="Times New Roman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99180" y="2554351"/>
            <a:ext cx="1798573" cy="28892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14214" y="2554351"/>
            <a:ext cx="1922526" cy="28892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0026" y="3704285"/>
            <a:ext cx="1030287" cy="28892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61591" y="3701097"/>
            <a:ext cx="3965575" cy="28892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74560" y="657225"/>
            <a:ext cx="2228342" cy="1471422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10043" y="2238438"/>
            <a:ext cx="1662176" cy="315912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286243" y="2664332"/>
            <a:ext cx="1555750" cy="15875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3080" y="2565323"/>
            <a:ext cx="190500" cy="147142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989368" y="786765"/>
            <a:ext cx="3162935" cy="1160145"/>
            <a:chOff x="989368" y="786765"/>
            <a:chExt cx="3162935" cy="1160145"/>
          </a:xfrm>
        </p:grpSpPr>
        <p:sp>
          <p:nvSpPr>
            <p:cNvPr id="51" name="object 51"/>
            <p:cNvSpPr/>
            <p:nvPr/>
          </p:nvSpPr>
          <p:spPr>
            <a:xfrm>
              <a:off x="989368" y="1366011"/>
              <a:ext cx="483234" cy="581025"/>
            </a:xfrm>
            <a:custGeom>
              <a:avLst/>
              <a:gdLst/>
              <a:ahLst/>
              <a:cxnLst/>
              <a:rect l="l" t="t" r="r" b="b"/>
              <a:pathLst>
                <a:path w="483234" h="581025">
                  <a:moveTo>
                    <a:pt x="482942" y="37973"/>
                  </a:moveTo>
                  <a:lnTo>
                    <a:pt x="482790" y="38036"/>
                  </a:lnTo>
                  <a:lnTo>
                    <a:pt x="473290" y="33274"/>
                  </a:lnTo>
                  <a:lnTo>
                    <a:pt x="428790" y="11023"/>
                  </a:lnTo>
                  <a:lnTo>
                    <a:pt x="428790" y="91795"/>
                  </a:lnTo>
                  <a:lnTo>
                    <a:pt x="243166" y="300723"/>
                  </a:lnTo>
                  <a:lnTo>
                    <a:pt x="14097" y="42799"/>
                  </a:lnTo>
                  <a:lnTo>
                    <a:pt x="406742" y="42799"/>
                  </a:lnTo>
                  <a:lnTo>
                    <a:pt x="406742" y="68440"/>
                  </a:lnTo>
                  <a:lnTo>
                    <a:pt x="403821" y="69596"/>
                  </a:lnTo>
                  <a:lnTo>
                    <a:pt x="406742" y="72199"/>
                  </a:lnTo>
                  <a:lnTo>
                    <a:pt x="406742" y="76200"/>
                  </a:lnTo>
                  <a:lnTo>
                    <a:pt x="409625" y="74764"/>
                  </a:lnTo>
                  <a:lnTo>
                    <a:pt x="428790" y="91795"/>
                  </a:lnTo>
                  <a:lnTo>
                    <a:pt x="428790" y="11023"/>
                  </a:lnTo>
                  <a:lnTo>
                    <a:pt x="406742" y="0"/>
                  </a:lnTo>
                  <a:lnTo>
                    <a:pt x="406742" y="33274"/>
                  </a:lnTo>
                  <a:lnTo>
                    <a:pt x="3556" y="33274"/>
                  </a:lnTo>
                  <a:lnTo>
                    <a:pt x="3556" y="38100"/>
                  </a:lnTo>
                  <a:lnTo>
                    <a:pt x="0" y="41275"/>
                  </a:lnTo>
                  <a:lnTo>
                    <a:pt x="236829" y="307860"/>
                  </a:lnTo>
                  <a:lnTo>
                    <a:pt x="0" y="574421"/>
                  </a:lnTo>
                  <a:lnTo>
                    <a:pt x="7112" y="580771"/>
                  </a:lnTo>
                  <a:lnTo>
                    <a:pt x="243166" y="314998"/>
                  </a:lnTo>
                  <a:lnTo>
                    <a:pt x="428790" y="523913"/>
                  </a:lnTo>
                  <a:lnTo>
                    <a:pt x="403821" y="546100"/>
                  </a:lnTo>
                  <a:lnTo>
                    <a:pt x="482942" y="577723"/>
                  </a:lnTo>
                  <a:lnTo>
                    <a:pt x="471030" y="533400"/>
                  </a:lnTo>
                  <a:lnTo>
                    <a:pt x="460844" y="495427"/>
                  </a:lnTo>
                  <a:lnTo>
                    <a:pt x="435851" y="517639"/>
                  </a:lnTo>
                  <a:lnTo>
                    <a:pt x="249516" y="307860"/>
                  </a:lnTo>
                  <a:lnTo>
                    <a:pt x="435851" y="98069"/>
                  </a:lnTo>
                  <a:lnTo>
                    <a:pt x="460844" y="120269"/>
                  </a:lnTo>
                  <a:lnTo>
                    <a:pt x="471030" y="82296"/>
                  </a:lnTo>
                  <a:lnTo>
                    <a:pt x="482892" y="38125"/>
                  </a:lnTo>
                  <a:lnTo>
                    <a:pt x="482942" y="37973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52" name="object 52"/>
            <p:cNvSpPr/>
            <p:nvPr/>
          </p:nvSpPr>
          <p:spPr>
            <a:xfrm>
              <a:off x="3324351" y="1050036"/>
              <a:ext cx="827405" cy="76200"/>
            </a:xfrm>
            <a:custGeom>
              <a:avLst/>
              <a:gdLst/>
              <a:ahLst/>
              <a:cxnLst/>
              <a:rect l="l" t="t" r="r" b="b"/>
              <a:pathLst>
                <a:path w="82740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2799"/>
                  </a:lnTo>
                  <a:lnTo>
                    <a:pt x="63500" y="42799"/>
                  </a:lnTo>
                  <a:lnTo>
                    <a:pt x="63500" y="33274"/>
                  </a:lnTo>
                  <a:lnTo>
                    <a:pt x="76200" y="33274"/>
                  </a:lnTo>
                  <a:lnTo>
                    <a:pt x="76200" y="0"/>
                  </a:lnTo>
                  <a:close/>
                </a:path>
                <a:path w="827404" h="76200">
                  <a:moveTo>
                    <a:pt x="76200" y="33274"/>
                  </a:moveTo>
                  <a:lnTo>
                    <a:pt x="63500" y="33274"/>
                  </a:lnTo>
                  <a:lnTo>
                    <a:pt x="63500" y="42799"/>
                  </a:lnTo>
                  <a:lnTo>
                    <a:pt x="76200" y="42799"/>
                  </a:lnTo>
                  <a:lnTo>
                    <a:pt x="76200" y="33274"/>
                  </a:lnTo>
                  <a:close/>
                </a:path>
                <a:path w="827404" h="76200">
                  <a:moveTo>
                    <a:pt x="827405" y="33274"/>
                  </a:moveTo>
                  <a:lnTo>
                    <a:pt x="76200" y="33274"/>
                  </a:lnTo>
                  <a:lnTo>
                    <a:pt x="76200" y="42799"/>
                  </a:lnTo>
                  <a:lnTo>
                    <a:pt x="827405" y="42799"/>
                  </a:lnTo>
                  <a:lnTo>
                    <a:pt x="827405" y="33274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25367" y="786765"/>
              <a:ext cx="725487" cy="23177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282697" y="1074674"/>
              <a:ext cx="827405" cy="76200"/>
            </a:xfrm>
            <a:custGeom>
              <a:avLst/>
              <a:gdLst/>
              <a:ahLst/>
              <a:cxnLst/>
              <a:rect l="l" t="t" r="r" b="b"/>
              <a:pathLst>
                <a:path w="82740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2925"/>
                  </a:lnTo>
                  <a:lnTo>
                    <a:pt x="63500" y="42925"/>
                  </a:lnTo>
                  <a:lnTo>
                    <a:pt x="63500" y="33400"/>
                  </a:lnTo>
                  <a:lnTo>
                    <a:pt x="76200" y="33400"/>
                  </a:lnTo>
                  <a:lnTo>
                    <a:pt x="76200" y="0"/>
                  </a:lnTo>
                  <a:close/>
                </a:path>
                <a:path w="827405" h="76200">
                  <a:moveTo>
                    <a:pt x="76200" y="33400"/>
                  </a:moveTo>
                  <a:lnTo>
                    <a:pt x="63500" y="33400"/>
                  </a:lnTo>
                  <a:lnTo>
                    <a:pt x="63500" y="42925"/>
                  </a:lnTo>
                  <a:lnTo>
                    <a:pt x="76200" y="42925"/>
                  </a:lnTo>
                  <a:lnTo>
                    <a:pt x="76200" y="33400"/>
                  </a:lnTo>
                  <a:close/>
                </a:path>
                <a:path w="827405" h="76200">
                  <a:moveTo>
                    <a:pt x="827404" y="33400"/>
                  </a:moveTo>
                  <a:lnTo>
                    <a:pt x="76200" y="33400"/>
                  </a:lnTo>
                  <a:lnTo>
                    <a:pt x="76200" y="42925"/>
                  </a:lnTo>
                  <a:lnTo>
                    <a:pt x="827404" y="42925"/>
                  </a:lnTo>
                  <a:lnTo>
                    <a:pt x="827404" y="33400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43658" y="849122"/>
              <a:ext cx="725487" cy="23177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47341" y="1079246"/>
              <a:ext cx="251332" cy="22529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17243" y="904113"/>
              <a:ext cx="677862" cy="193675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104952" y="4355693"/>
            <a:ext cx="174878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noProof="0" dirty="0">
                <a:latin typeface="Roboto"/>
                <a:cs typeface="Roboto"/>
              </a:rPr>
              <a:t>9</a:t>
            </a:r>
            <a:r>
              <a:rPr lang="es-PE" sz="1400" spc="25" noProof="0" dirty="0">
                <a:latin typeface="Roboto"/>
                <a:cs typeface="Roboto"/>
              </a:rPr>
              <a:t> </a:t>
            </a:r>
            <a:r>
              <a:rPr lang="es-PE" sz="1400" spc="-20" noProof="0" dirty="0">
                <a:latin typeface="Roboto"/>
                <a:cs typeface="Roboto"/>
              </a:rPr>
              <a:t>derivadas </a:t>
            </a:r>
            <a:r>
              <a:rPr lang="es-PE" sz="1400" spc="-10" noProof="0" dirty="0">
                <a:latin typeface="Roboto"/>
                <a:cs typeface="Roboto"/>
              </a:rPr>
              <a:t>parciales!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20230" y="4036745"/>
            <a:ext cx="76200" cy="325120"/>
          </a:xfrm>
          <a:custGeom>
            <a:avLst/>
            <a:gdLst/>
            <a:ahLst/>
            <a:cxnLst/>
            <a:rect l="l" t="t" r="r" b="b"/>
            <a:pathLst>
              <a:path w="76200" h="325120">
                <a:moveTo>
                  <a:pt x="33337" y="248399"/>
                </a:moveTo>
                <a:lnTo>
                  <a:pt x="0" y="248399"/>
                </a:lnTo>
                <a:lnTo>
                  <a:pt x="38100" y="324599"/>
                </a:lnTo>
                <a:lnTo>
                  <a:pt x="69850" y="261099"/>
                </a:lnTo>
                <a:lnTo>
                  <a:pt x="33337" y="261099"/>
                </a:lnTo>
                <a:lnTo>
                  <a:pt x="33337" y="248399"/>
                </a:lnTo>
                <a:close/>
              </a:path>
              <a:path w="76200" h="325120">
                <a:moveTo>
                  <a:pt x="42862" y="0"/>
                </a:moveTo>
                <a:lnTo>
                  <a:pt x="33337" y="0"/>
                </a:lnTo>
                <a:lnTo>
                  <a:pt x="33337" y="261099"/>
                </a:lnTo>
                <a:lnTo>
                  <a:pt x="42862" y="261099"/>
                </a:lnTo>
                <a:lnTo>
                  <a:pt x="42862" y="0"/>
                </a:lnTo>
                <a:close/>
              </a:path>
              <a:path w="76200" h="325120">
                <a:moveTo>
                  <a:pt x="76200" y="248399"/>
                </a:moveTo>
                <a:lnTo>
                  <a:pt x="42862" y="248399"/>
                </a:lnTo>
                <a:lnTo>
                  <a:pt x="42862" y="261099"/>
                </a:lnTo>
                <a:lnTo>
                  <a:pt x="69850" y="261099"/>
                </a:lnTo>
                <a:lnTo>
                  <a:pt x="76200" y="248399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60" name="object 60"/>
          <p:cNvGrpSpPr/>
          <p:nvPr/>
        </p:nvGrpSpPr>
        <p:grpSpPr>
          <a:xfrm>
            <a:off x="4830826" y="990091"/>
            <a:ext cx="827405" cy="263525"/>
            <a:chOff x="4830826" y="990091"/>
            <a:chExt cx="827405" cy="263525"/>
          </a:xfrm>
        </p:grpSpPr>
        <p:sp>
          <p:nvSpPr>
            <p:cNvPr id="61" name="object 61"/>
            <p:cNvSpPr/>
            <p:nvPr/>
          </p:nvSpPr>
          <p:spPr>
            <a:xfrm>
              <a:off x="4830826" y="1177162"/>
              <a:ext cx="827405" cy="76200"/>
            </a:xfrm>
            <a:custGeom>
              <a:avLst/>
              <a:gdLst/>
              <a:ahLst/>
              <a:cxnLst/>
              <a:rect l="l" t="t" r="r" b="b"/>
              <a:pathLst>
                <a:path w="82740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2799"/>
                  </a:lnTo>
                  <a:lnTo>
                    <a:pt x="63500" y="42799"/>
                  </a:lnTo>
                  <a:lnTo>
                    <a:pt x="63500" y="33274"/>
                  </a:lnTo>
                  <a:lnTo>
                    <a:pt x="76200" y="33274"/>
                  </a:lnTo>
                  <a:lnTo>
                    <a:pt x="76200" y="0"/>
                  </a:lnTo>
                  <a:close/>
                </a:path>
                <a:path w="827404" h="76200">
                  <a:moveTo>
                    <a:pt x="76200" y="33274"/>
                  </a:moveTo>
                  <a:lnTo>
                    <a:pt x="63500" y="33274"/>
                  </a:lnTo>
                  <a:lnTo>
                    <a:pt x="63500" y="42799"/>
                  </a:lnTo>
                  <a:lnTo>
                    <a:pt x="76200" y="42799"/>
                  </a:lnTo>
                  <a:lnTo>
                    <a:pt x="76200" y="33274"/>
                  </a:lnTo>
                  <a:close/>
                </a:path>
                <a:path w="827404" h="76200">
                  <a:moveTo>
                    <a:pt x="827404" y="33274"/>
                  </a:moveTo>
                  <a:lnTo>
                    <a:pt x="76200" y="33274"/>
                  </a:lnTo>
                  <a:lnTo>
                    <a:pt x="76200" y="42799"/>
                  </a:lnTo>
                  <a:lnTo>
                    <a:pt x="827404" y="42799"/>
                  </a:lnTo>
                  <a:lnTo>
                    <a:pt x="827404" y="33274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62" name="object 6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41519" y="990091"/>
              <a:ext cx="469900" cy="1555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1079" y="699896"/>
            <a:ext cx="20224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3200" spc="-10" noProof="0" dirty="0">
                <a:solidFill>
                  <a:srgbClr val="DB4437"/>
                </a:solidFill>
              </a:rPr>
              <a:t>EJERCICIO</a:t>
            </a:r>
            <a:endParaRPr lang="es-PE" sz="3200" noProof="0" dirty="0"/>
          </a:p>
        </p:txBody>
      </p:sp>
      <p:sp>
        <p:nvSpPr>
          <p:cNvPr id="4" name="object 4"/>
          <p:cNvSpPr/>
          <p:nvPr/>
        </p:nvSpPr>
        <p:spPr>
          <a:xfrm>
            <a:off x="4295521" y="1398016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2957" y="0"/>
                </a:lnTo>
              </a:path>
            </a:pathLst>
          </a:custGeom>
          <a:ln w="28575">
            <a:solidFill>
              <a:srgbClr val="DB4437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5" name="object 5"/>
          <p:cNvSpPr txBox="1"/>
          <p:nvPr/>
        </p:nvSpPr>
        <p:spPr>
          <a:xfrm>
            <a:off x="948639" y="1680210"/>
            <a:ext cx="6666865" cy="168846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373380" algn="l"/>
              </a:tabLst>
            </a:pPr>
            <a:r>
              <a:rPr lang="es-PE" sz="2100" noProof="0" dirty="0">
                <a:latin typeface="Roboto"/>
                <a:cs typeface="Roboto"/>
              </a:rPr>
              <a:t>Completar</a:t>
            </a:r>
            <a:r>
              <a:rPr lang="es-PE" sz="2100" spc="-75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las</a:t>
            </a:r>
            <a:r>
              <a:rPr lang="es-PE" sz="2100" spc="-60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9</a:t>
            </a:r>
            <a:r>
              <a:rPr lang="es-PE" sz="2100" spc="-65" noProof="0" dirty="0">
                <a:latin typeface="Roboto"/>
                <a:cs typeface="Roboto"/>
              </a:rPr>
              <a:t> </a:t>
            </a:r>
            <a:r>
              <a:rPr lang="es-PE" sz="2100" spc="-10" noProof="0" dirty="0">
                <a:latin typeface="Roboto"/>
                <a:cs typeface="Roboto"/>
              </a:rPr>
              <a:t>derivadas</a:t>
            </a:r>
            <a:r>
              <a:rPr lang="es-PE" sz="2100" spc="-75" noProof="0" dirty="0">
                <a:latin typeface="Roboto"/>
                <a:cs typeface="Roboto"/>
              </a:rPr>
              <a:t> </a:t>
            </a:r>
            <a:r>
              <a:rPr lang="es-PE" sz="2100" spc="-10" noProof="0" dirty="0">
                <a:latin typeface="Roboto"/>
                <a:cs typeface="Roboto"/>
              </a:rPr>
              <a:t>parciales.</a:t>
            </a:r>
            <a:endParaRPr lang="es-PE" sz="2100" noProof="0" dirty="0">
              <a:latin typeface="Roboto"/>
              <a:cs typeface="Roboto"/>
            </a:endParaRPr>
          </a:p>
          <a:p>
            <a:pPr marL="373380" indent="-36068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373380" algn="l"/>
              </a:tabLst>
            </a:pPr>
            <a:r>
              <a:rPr lang="es-PE" sz="2100" noProof="0" dirty="0">
                <a:latin typeface="Roboto"/>
                <a:cs typeface="Roboto"/>
              </a:rPr>
              <a:t>Implementar</a:t>
            </a:r>
            <a:r>
              <a:rPr lang="es-PE" sz="2100" spc="-70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en</a:t>
            </a:r>
            <a:r>
              <a:rPr lang="es-PE" sz="2100" spc="-55" noProof="0" dirty="0">
                <a:latin typeface="Roboto"/>
                <a:cs typeface="Roboto"/>
              </a:rPr>
              <a:t> </a:t>
            </a:r>
            <a:r>
              <a:rPr lang="es-PE" sz="2100" spc="-10" noProof="0" dirty="0">
                <a:latin typeface="Roboto"/>
                <a:cs typeface="Roboto"/>
              </a:rPr>
              <a:t>Python</a:t>
            </a:r>
            <a:r>
              <a:rPr lang="es-PE" sz="2100" spc="-55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la</a:t>
            </a:r>
            <a:r>
              <a:rPr lang="es-PE" sz="2100" spc="-65" noProof="0" dirty="0">
                <a:latin typeface="Roboto"/>
                <a:cs typeface="Roboto"/>
              </a:rPr>
              <a:t> </a:t>
            </a:r>
            <a:r>
              <a:rPr lang="es-PE" sz="2100" spc="-10" noProof="0" dirty="0">
                <a:latin typeface="Roboto"/>
                <a:cs typeface="Roboto"/>
              </a:rPr>
              <a:t>solución</a:t>
            </a:r>
            <a:r>
              <a:rPr lang="es-PE" sz="2100" spc="-40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de</a:t>
            </a:r>
            <a:r>
              <a:rPr lang="es-PE" sz="2100" spc="-60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XOR</a:t>
            </a:r>
            <a:r>
              <a:rPr lang="es-PE" sz="2100" spc="-55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con</a:t>
            </a:r>
            <a:r>
              <a:rPr lang="es-PE" sz="2100" spc="-55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la</a:t>
            </a:r>
            <a:r>
              <a:rPr lang="es-PE" sz="2100" spc="-60" noProof="0" dirty="0">
                <a:latin typeface="Roboto"/>
                <a:cs typeface="Roboto"/>
              </a:rPr>
              <a:t> </a:t>
            </a:r>
            <a:r>
              <a:rPr lang="es-PE" sz="2100" spc="-25" noProof="0" dirty="0">
                <a:latin typeface="Roboto"/>
                <a:cs typeface="Roboto"/>
              </a:rPr>
              <a:t>red</a:t>
            </a:r>
            <a:endParaRPr lang="es-PE" sz="2100" noProof="0" dirty="0">
              <a:latin typeface="Roboto"/>
              <a:cs typeface="Roboto"/>
            </a:endParaRPr>
          </a:p>
          <a:p>
            <a:pPr marL="373380">
              <a:lnSpc>
                <a:spcPct val="100000"/>
              </a:lnSpc>
            </a:pPr>
            <a:r>
              <a:rPr lang="es-PE" sz="2100" spc="-10" noProof="0" dirty="0">
                <a:latin typeface="Roboto"/>
                <a:cs typeface="Roboto"/>
              </a:rPr>
              <a:t>neuronal</a:t>
            </a:r>
            <a:r>
              <a:rPr lang="es-PE" sz="2100" spc="-75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planteada</a:t>
            </a:r>
            <a:r>
              <a:rPr lang="es-PE" sz="2100" spc="-80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en</a:t>
            </a:r>
            <a:r>
              <a:rPr lang="es-PE" sz="2100" spc="-75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clase.</a:t>
            </a:r>
            <a:r>
              <a:rPr lang="es-PE" sz="2100" spc="-85" noProof="0" dirty="0">
                <a:latin typeface="Roboto"/>
                <a:cs typeface="Roboto"/>
              </a:rPr>
              <a:t> </a:t>
            </a:r>
            <a:r>
              <a:rPr lang="es-PE" sz="2100" spc="-20" noProof="0" dirty="0">
                <a:latin typeface="Roboto"/>
                <a:cs typeface="Roboto"/>
              </a:rPr>
              <a:t>Utilizar</a:t>
            </a:r>
            <a:r>
              <a:rPr lang="es-PE" sz="2100" spc="-85" noProof="0" dirty="0">
                <a:latin typeface="Roboto"/>
                <a:cs typeface="Roboto"/>
              </a:rPr>
              <a:t> </a:t>
            </a:r>
            <a:r>
              <a:rPr lang="es-PE" sz="2100" spc="-20" noProof="0" dirty="0">
                <a:latin typeface="Roboto"/>
                <a:cs typeface="Roboto"/>
              </a:rPr>
              <a:t>SGD.</a:t>
            </a:r>
            <a:endParaRPr lang="es-PE" sz="2100" noProof="0" dirty="0">
              <a:latin typeface="Roboto"/>
              <a:cs typeface="Roboto"/>
            </a:endParaRPr>
          </a:p>
          <a:p>
            <a:pPr marL="373380" indent="-360680">
              <a:lnSpc>
                <a:spcPct val="100000"/>
              </a:lnSpc>
              <a:spcBef>
                <a:spcPts val="994"/>
              </a:spcBef>
              <a:buAutoNum type="arabicPeriod" startAt="3"/>
              <a:tabLst>
                <a:tab pos="373380" algn="l"/>
              </a:tabLst>
            </a:pPr>
            <a:r>
              <a:rPr lang="es-PE" sz="2100" noProof="0" dirty="0">
                <a:latin typeface="Roboto"/>
                <a:cs typeface="Roboto"/>
              </a:rPr>
              <a:t>Graficar</a:t>
            </a:r>
            <a:r>
              <a:rPr lang="es-PE" sz="2100" spc="-65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MSE</a:t>
            </a:r>
            <a:r>
              <a:rPr lang="es-PE" sz="2100" spc="-60" noProof="0" dirty="0">
                <a:latin typeface="Roboto"/>
                <a:cs typeface="Roboto"/>
              </a:rPr>
              <a:t> </a:t>
            </a:r>
            <a:r>
              <a:rPr lang="es-PE" sz="2100" noProof="0" dirty="0">
                <a:latin typeface="Roboto"/>
                <a:cs typeface="Roboto"/>
              </a:rPr>
              <a:t>por</a:t>
            </a:r>
            <a:r>
              <a:rPr lang="es-PE" sz="2100" spc="-60" noProof="0" dirty="0">
                <a:latin typeface="Roboto"/>
                <a:cs typeface="Roboto"/>
              </a:rPr>
              <a:t> </a:t>
            </a:r>
            <a:r>
              <a:rPr lang="es-PE" sz="2100" spc="-10" noProof="0" dirty="0" err="1">
                <a:latin typeface="Roboto"/>
                <a:cs typeface="Roboto"/>
              </a:rPr>
              <a:t>epoch</a:t>
            </a:r>
            <a:r>
              <a:rPr lang="es-PE" sz="2100" spc="-10" noProof="0" dirty="0">
                <a:latin typeface="Roboto"/>
                <a:cs typeface="Roboto"/>
              </a:rPr>
              <a:t>.</a:t>
            </a:r>
            <a:endParaRPr lang="es-PE" sz="21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1095</Words>
  <Application>Microsoft Office PowerPoint</Application>
  <PresentationFormat>Presentación en pantalla (16:9)</PresentationFormat>
  <Paragraphs>285</Paragraphs>
  <Slides>25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Aptos</vt:lpstr>
      <vt:lpstr>Arial</vt:lpstr>
      <vt:lpstr>Arial MT</vt:lpstr>
      <vt:lpstr>Calibri</vt:lpstr>
      <vt:lpstr>Cambria Math</vt:lpstr>
      <vt:lpstr>Noto Sans Symbols</vt:lpstr>
      <vt:lpstr>Roboto</vt:lpstr>
      <vt:lpstr>Times New Roman</vt:lpstr>
      <vt:lpstr>Office Theme</vt:lpstr>
      <vt:lpstr>Aprendizaje Profundo Facultad de Ingeniería Universidad de Buenos Aires</vt:lpstr>
      <vt:lpstr>Introducción</vt:lpstr>
      <vt:lpstr>Introducción</vt:lpstr>
      <vt:lpstr>Introducción</vt:lpstr>
      <vt:lpstr>Contenido</vt:lpstr>
      <vt:lpstr>Referencias</vt:lpstr>
      <vt:lpstr>Herramientas de trabajo</vt:lpstr>
      <vt:lpstr>Introducción a Deep Learning</vt:lpstr>
      <vt:lpstr>Introducción a Deep Learning</vt:lpstr>
      <vt:lpstr>Introducción a Deep Learning</vt:lpstr>
      <vt:lpstr>Feed-Forward neural network</vt:lpstr>
      <vt:lpstr>Feed-Forward neural network</vt:lpstr>
      <vt:lpstr>Feed-Forward neural network</vt:lpstr>
      <vt:lpstr>Feed-Forward neural network</vt:lpstr>
      <vt:lpstr>Feed-Forward neural network</vt:lpstr>
      <vt:lpstr>Feed-Forward neural network</vt:lpstr>
      <vt:lpstr>Presentación de PowerPoint</vt:lpstr>
      <vt:lpstr>Neurona</vt:lpstr>
      <vt:lpstr>Layer Lineal con función de activación</vt:lpstr>
      <vt:lpstr>Red neuronal feedforward con p layers</vt:lpstr>
      <vt:lpstr>Solución de XOR con red neuronal simple</vt:lpstr>
      <vt:lpstr>Solución de XOR con red neuronal simple</vt:lpstr>
      <vt:lpstr>Solución de XOR con red neuronal simple</vt:lpstr>
      <vt:lpstr>Solución de XOR con red neuronal simple</vt:lpstr>
      <vt:lpstr>EJERCICIO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MaxiT</dc:creator>
  <cp:lastModifiedBy>Gerardo Vilcamiza Espinoza</cp:lastModifiedBy>
  <cp:revision>13</cp:revision>
  <dcterms:created xsi:type="dcterms:W3CDTF">2025-10-21T18:21:50Z</dcterms:created>
  <dcterms:modified xsi:type="dcterms:W3CDTF">2025-10-26T05:37:02Z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2025-10-21T00:00:00Z</vt:filetime>
  </property>
  <property fmtid="{D5CDD505-2E9C-101B-9397-08002B2CF9AE}" pid="5" name="MSIP_Label_3ef3b8a9-c927-4b0b-af87-81d91b7c3964_ContentBits">
    <vt:lpwstr>2</vt:lpwstr>
  </property>
  <property fmtid="{D5CDD505-2E9C-101B-9397-08002B2CF9AE}" pid="6" name="MSIP_Label_3ef3b8a9-c927-4b0b-af87-81d91b7c3964_Enabled">
    <vt:lpwstr>true</vt:lpwstr>
  </property>
  <property fmtid="{D5CDD505-2E9C-101B-9397-08002B2CF9AE}" pid="7" name="MSIP_Label_3ef3b8a9-c927-4b0b-af87-81d91b7c3964_Method">
    <vt:lpwstr>Privileged</vt:lpwstr>
  </property>
  <property fmtid="{D5CDD505-2E9C-101B-9397-08002B2CF9AE}" pid="8" name="MSIP_Label_3ef3b8a9-c927-4b0b-af87-81d91b7c3964_SiteId">
    <vt:lpwstr>5d93ebcc-f769-4380-8b7e-289fc972da1b</vt:lpwstr>
  </property>
  <property fmtid="{D5CDD505-2E9C-101B-9397-08002B2CF9AE}" pid="9" name="Producer">
    <vt:lpwstr>Microsoft® PowerPoint® for Microsoft 365</vt:lpwstr>
  </property>
</Properties>
</file>